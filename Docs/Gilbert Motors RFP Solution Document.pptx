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7"/>
  </p:notesMasterIdLst>
  <p:sldIdLst>
    <p:sldId id="258" r:id="rId2"/>
    <p:sldId id="261" r:id="rId3"/>
    <p:sldId id="259" r:id="rId4"/>
    <p:sldId id="260" r:id="rId5"/>
    <p:sldId id="273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photoAlbum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0C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1E8A84-DF94-441D-8CC0-57D4FE7EE4DE}" v="3" dt="2026-02-15T12:43:14.4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ol Otari" userId="bf48c6808007ff0e" providerId="LiveId" clId="{DE3CF5BD-B4ED-4C92-81D0-6165B9036AF3}"/>
    <pc:docChg chg="custSel modSld">
      <pc:chgData name="Amol Otari" userId="bf48c6808007ff0e" providerId="LiveId" clId="{DE3CF5BD-B4ED-4C92-81D0-6165B9036AF3}" dt="2026-02-15T12:47:00.358" v="125" actId="20577"/>
      <pc:docMkLst>
        <pc:docMk/>
      </pc:docMkLst>
      <pc:sldChg chg="modSp mod">
        <pc:chgData name="Amol Otari" userId="bf48c6808007ff0e" providerId="LiveId" clId="{DE3CF5BD-B4ED-4C92-81D0-6165B9036AF3}" dt="2026-02-15T12:44:06.043" v="84" actId="20577"/>
        <pc:sldMkLst>
          <pc:docMk/>
          <pc:sldMk cId="4122654645" sldId="259"/>
        </pc:sldMkLst>
        <pc:spChg chg="mod">
          <ac:chgData name="Amol Otari" userId="bf48c6808007ff0e" providerId="LiveId" clId="{DE3CF5BD-B4ED-4C92-81D0-6165B9036AF3}" dt="2026-02-15T12:44:06.043" v="84" actId="20577"/>
          <ac:spMkLst>
            <pc:docMk/>
            <pc:sldMk cId="4122654645" sldId="259"/>
            <ac:spMk id="3" creationId="{B0B7A315-1476-A472-1081-791500E2F278}"/>
          </ac:spMkLst>
        </pc:spChg>
        <pc:spChg chg="mod">
          <ac:chgData name="Amol Otari" userId="bf48c6808007ff0e" providerId="LiveId" clId="{DE3CF5BD-B4ED-4C92-81D0-6165B9036AF3}" dt="2026-02-07T09:00:05.467" v="19" actId="21"/>
          <ac:spMkLst>
            <pc:docMk/>
            <pc:sldMk cId="4122654645" sldId="259"/>
            <ac:spMk id="4" creationId="{9BE86015-20F2-A115-907D-27C0C2E14456}"/>
          </ac:spMkLst>
        </pc:spChg>
      </pc:sldChg>
      <pc:sldChg chg="modSp mod">
        <pc:chgData name="Amol Otari" userId="bf48c6808007ff0e" providerId="LiveId" clId="{DE3CF5BD-B4ED-4C92-81D0-6165B9036AF3}" dt="2026-02-15T12:45:27.809" v="96" actId="20577"/>
        <pc:sldMkLst>
          <pc:docMk/>
          <pc:sldMk cId="2089575359" sldId="266"/>
        </pc:sldMkLst>
        <pc:spChg chg="mod">
          <ac:chgData name="Amol Otari" userId="bf48c6808007ff0e" providerId="LiveId" clId="{DE3CF5BD-B4ED-4C92-81D0-6165B9036AF3}" dt="2026-02-15T12:45:27.809" v="96" actId="20577"/>
          <ac:spMkLst>
            <pc:docMk/>
            <pc:sldMk cId="2089575359" sldId="266"/>
            <ac:spMk id="2" creationId="{788033FA-45FA-A272-3803-9AB60B58A0CF}"/>
          </ac:spMkLst>
        </pc:spChg>
      </pc:sldChg>
      <pc:sldChg chg="modSp mod">
        <pc:chgData name="Amol Otari" userId="bf48c6808007ff0e" providerId="LiveId" clId="{DE3CF5BD-B4ED-4C92-81D0-6165B9036AF3}" dt="2026-02-15T12:47:00.358" v="125" actId="20577"/>
        <pc:sldMkLst>
          <pc:docMk/>
          <pc:sldMk cId="2355126381" sldId="268"/>
        </pc:sldMkLst>
        <pc:spChg chg="mod">
          <ac:chgData name="Amol Otari" userId="bf48c6808007ff0e" providerId="LiveId" clId="{DE3CF5BD-B4ED-4C92-81D0-6165B9036AF3}" dt="2026-02-15T12:47:00.358" v="125" actId="20577"/>
          <ac:spMkLst>
            <pc:docMk/>
            <pc:sldMk cId="2355126381" sldId="268"/>
            <ac:spMk id="6" creationId="{8C664D17-2567-13CF-7E85-51EE6E13681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243403-142C-444A-AFD6-14CF490A12BD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2A6B5F-A727-45CE-9587-3B1F0851A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421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4F9C9-C9CF-43C5-ADD4-83A1F91A4A3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7ABA4-5654-44F2-BE74-F0DDBFCDD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79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4F9C9-C9CF-43C5-ADD4-83A1F91A4A3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7ABA4-5654-44F2-BE74-F0DDBFCDD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331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4F9C9-C9CF-43C5-ADD4-83A1F91A4A3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7ABA4-5654-44F2-BE74-F0DDBFCDD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6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4F9C9-C9CF-43C5-ADD4-83A1F91A4A3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7ABA4-5654-44F2-BE74-F0DDBFCDD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220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4F9C9-C9CF-43C5-ADD4-83A1F91A4A3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7ABA4-5654-44F2-BE74-F0DDBFCDD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077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4F9C9-C9CF-43C5-ADD4-83A1F91A4A3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7ABA4-5654-44F2-BE74-F0DDBFCDD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049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4F9C9-C9CF-43C5-ADD4-83A1F91A4A3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7ABA4-5654-44F2-BE74-F0DDBFCDD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27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4F9C9-C9CF-43C5-ADD4-83A1F91A4A3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7ABA4-5654-44F2-BE74-F0DDBFCDD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174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4F9C9-C9CF-43C5-ADD4-83A1F91A4A3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7ABA4-5654-44F2-BE74-F0DDBFCDD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13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4F9C9-C9CF-43C5-ADD4-83A1F91A4A3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7ABA4-5654-44F2-BE74-F0DDBFCDD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92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4F9C9-C9CF-43C5-ADD4-83A1F91A4A3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7ABA4-5654-44F2-BE74-F0DDBFCDD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795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4F9C9-C9CF-43C5-ADD4-83A1F91A4A3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7ABA4-5654-44F2-BE74-F0DDBFCDDF0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5731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4F9C9-C9CF-43C5-ADD4-83A1F91A4A3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7ABA4-5654-44F2-BE74-F0DDBFCDD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224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4F9C9-C9CF-43C5-ADD4-83A1F91A4A3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7ABA4-5654-44F2-BE74-F0DDBFCDD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996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4F9C9-C9CF-43C5-ADD4-83A1F91A4A3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7ABA4-5654-44F2-BE74-F0DDBFCDD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3424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4F9C9-C9CF-43C5-ADD4-83A1F91A4A3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7ABA4-5654-44F2-BE74-F0DDBFCDD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767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4F9C9-C9CF-43C5-ADD4-83A1F91A4A3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7ABA4-5654-44F2-BE74-F0DDBFCDD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836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984F9C9-C9CF-43C5-ADD4-83A1F91A4A3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7ABA4-5654-44F2-BE74-F0DDBFCDDF0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7805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jf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Relationship Id="rId9" Type="http://schemas.openxmlformats.org/officeDocument/2006/relationships/image" Target="../media/image14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6" Type="http://schemas.openxmlformats.org/officeDocument/2006/relationships/image" Target="../media/image3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8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6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30.sv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AE369-67FC-A235-5CEC-7672917E97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7670" y="1847035"/>
            <a:ext cx="7859545" cy="1189061"/>
          </a:xfrm>
        </p:spPr>
        <p:txBody>
          <a:bodyPr>
            <a:normAutofit/>
          </a:bodyPr>
          <a:lstStyle/>
          <a:p>
            <a:pPr algn="l"/>
            <a:r>
              <a:rPr lang="en-IN" sz="5400" dirty="0"/>
              <a:t>Gilbert Motors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8300C7-0C53-FAFF-98C2-9345D966DA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918" y="3227374"/>
            <a:ext cx="10195640" cy="1189061"/>
          </a:xfrm>
        </p:spPr>
        <p:txBody>
          <a:bodyPr>
            <a:noAutofit/>
          </a:bodyPr>
          <a:lstStyle/>
          <a:p>
            <a:pPr algn="l"/>
            <a:r>
              <a:rPr lang="en-IN" sz="4800" dirty="0"/>
              <a:t>RFP Solution Document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221352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96E47A-FE28-71EC-4D42-BC571E8E0A98}"/>
              </a:ext>
            </a:extLst>
          </p:cNvPr>
          <p:cNvSpPr/>
          <p:nvPr/>
        </p:nvSpPr>
        <p:spPr>
          <a:xfrm>
            <a:off x="4325003" y="3923774"/>
            <a:ext cx="6574219" cy="49845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4203E5-96B1-304D-7517-718BFDADBB1E}"/>
              </a:ext>
            </a:extLst>
          </p:cNvPr>
          <p:cNvSpPr/>
          <p:nvPr/>
        </p:nvSpPr>
        <p:spPr>
          <a:xfrm>
            <a:off x="4403834" y="4794853"/>
            <a:ext cx="6469117" cy="5297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DF13E29-F73E-0018-5DCB-0F9CCEAD958E}"/>
              </a:ext>
            </a:extLst>
          </p:cNvPr>
          <p:cNvSpPr/>
          <p:nvPr/>
        </p:nvSpPr>
        <p:spPr>
          <a:xfrm>
            <a:off x="4451130" y="5590222"/>
            <a:ext cx="6421821" cy="58350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E0AC41-F9EA-9FCD-47FD-9A23F81029E1}"/>
              </a:ext>
            </a:extLst>
          </p:cNvPr>
          <p:cNvSpPr/>
          <p:nvPr/>
        </p:nvSpPr>
        <p:spPr>
          <a:xfrm>
            <a:off x="4298732" y="3082759"/>
            <a:ext cx="6574219" cy="50016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5FE1919-4CEB-DDC0-896F-3DD7DE347129}"/>
              </a:ext>
            </a:extLst>
          </p:cNvPr>
          <p:cNvSpPr/>
          <p:nvPr/>
        </p:nvSpPr>
        <p:spPr>
          <a:xfrm>
            <a:off x="4298730" y="2185687"/>
            <a:ext cx="6574221" cy="52616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50F8AB3-9729-DB3B-5FCF-1B8EED340E48}"/>
              </a:ext>
            </a:extLst>
          </p:cNvPr>
          <p:cNvSpPr/>
          <p:nvPr/>
        </p:nvSpPr>
        <p:spPr>
          <a:xfrm>
            <a:off x="4311866" y="1382154"/>
            <a:ext cx="6574221" cy="560657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CEB7B97-67D5-4032-0CCD-D4035628E706}"/>
              </a:ext>
            </a:extLst>
          </p:cNvPr>
          <p:cNvSpPr/>
          <p:nvPr/>
        </p:nvSpPr>
        <p:spPr>
          <a:xfrm>
            <a:off x="4325004" y="435434"/>
            <a:ext cx="6547947" cy="601982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779988-750F-12ED-686C-8C9194AD853B}"/>
              </a:ext>
            </a:extLst>
          </p:cNvPr>
          <p:cNvSpPr txBox="1"/>
          <p:nvPr/>
        </p:nvSpPr>
        <p:spPr>
          <a:xfrm>
            <a:off x="4608788" y="510108"/>
            <a:ext cx="898634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dirty="0"/>
              <a:t>About us</a:t>
            </a:r>
          </a:p>
          <a:p>
            <a:endParaRPr lang="en-IN" sz="28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dirty="0"/>
              <a:t>Scope of proposal/out of scope</a:t>
            </a:r>
          </a:p>
          <a:p>
            <a:endParaRPr lang="en-IN" sz="28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dirty="0"/>
              <a:t>Proposed logical architecture</a:t>
            </a:r>
          </a:p>
          <a:p>
            <a:endParaRPr lang="en-IN" sz="28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dirty="0"/>
              <a:t>Proposed Technical architecture</a:t>
            </a:r>
          </a:p>
          <a:p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Assumptions</a:t>
            </a:r>
          </a:p>
          <a:p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Risks and commercials</a:t>
            </a:r>
          </a:p>
          <a:p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Project Plan</a:t>
            </a:r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9C2B570-7C27-6FEE-D625-8E20B737876D}"/>
              </a:ext>
            </a:extLst>
          </p:cNvPr>
          <p:cNvSpPr/>
          <p:nvPr/>
        </p:nvSpPr>
        <p:spPr>
          <a:xfrm>
            <a:off x="567559" y="2435772"/>
            <a:ext cx="2522482" cy="1986455"/>
          </a:xfrm>
          <a:prstGeom prst="hexagon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41FAAD-09FE-B41F-C1A4-E4A45DA6D24C}"/>
              </a:ext>
            </a:extLst>
          </p:cNvPr>
          <p:cNvSpPr txBox="1"/>
          <p:nvPr/>
        </p:nvSpPr>
        <p:spPr>
          <a:xfrm>
            <a:off x="1102273" y="2640345"/>
            <a:ext cx="18314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Table </a:t>
            </a:r>
          </a:p>
          <a:p>
            <a:r>
              <a:rPr lang="en-IN" sz="2800" b="1" dirty="0"/>
              <a:t>of </a:t>
            </a:r>
          </a:p>
          <a:p>
            <a:r>
              <a:rPr lang="en-IN" sz="2800" b="1" dirty="0"/>
              <a:t>content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35688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90C383-39CF-15ED-5FA2-67AC174B06EE}"/>
              </a:ext>
            </a:extLst>
          </p:cNvPr>
          <p:cNvSpPr/>
          <p:nvPr/>
        </p:nvSpPr>
        <p:spPr>
          <a:xfrm>
            <a:off x="725215" y="1191399"/>
            <a:ext cx="8145516" cy="31388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reflection blurRad="6350" stA="50000" endA="300" endPos="90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7A315-1476-A472-1081-791500E2F278}"/>
              </a:ext>
            </a:extLst>
          </p:cNvPr>
          <p:cNvSpPr txBox="1"/>
          <p:nvPr/>
        </p:nvSpPr>
        <p:spPr>
          <a:xfrm>
            <a:off x="966953" y="1515973"/>
            <a:ext cx="78302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IN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	                                         Role</a:t>
            </a:r>
          </a:p>
          <a:p>
            <a:r>
              <a:rPr lang="en-I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Sonam 						-Engagement Manager</a:t>
            </a:r>
          </a:p>
          <a:p>
            <a:r>
              <a:rPr lang="en-I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Abhirup Patil                     -Presales</a:t>
            </a:r>
          </a:p>
          <a:p>
            <a:r>
              <a:rPr lang="en-I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Amol Otari	                     -Presales Solution Architect</a:t>
            </a:r>
          </a:p>
          <a:p>
            <a:r>
              <a:rPr lang="en-I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Ankur Sharma	                -Solution Architect</a:t>
            </a:r>
          </a:p>
          <a:p>
            <a:r>
              <a:rPr lang="en-I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Phanindra Kumar  			-Technical Architect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E86015-20F2-A115-907D-27C0C2E14456}"/>
              </a:ext>
            </a:extLst>
          </p:cNvPr>
          <p:cNvSpPr txBox="1"/>
          <p:nvPr/>
        </p:nvSpPr>
        <p:spPr>
          <a:xfrm>
            <a:off x="725215" y="403913"/>
            <a:ext cx="67791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Introduction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 descr="A group of people connecting puzzle pieces&#10;&#10;Description automatically generated">
            <a:extLst>
              <a:ext uri="{FF2B5EF4-FFF2-40B4-BE49-F238E27FC236}">
                <a16:creationId xmlns:a16="http://schemas.microsoft.com/office/drawing/2014/main" id="{027C9CFE-AEE6-5BCE-FF21-4A19868DB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806" y="4065020"/>
            <a:ext cx="4323580" cy="255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654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013212-B949-C731-1C0F-C88D95C64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About us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5" name="Picture 14" descr="A logo of a cloud platform&#10;&#10;Description automatically generated">
            <a:extLst>
              <a:ext uri="{FF2B5EF4-FFF2-40B4-BE49-F238E27FC236}">
                <a16:creationId xmlns:a16="http://schemas.microsoft.com/office/drawing/2014/main" id="{4C592F1F-C558-6C70-338B-05CDBBF9C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8869" y="4164346"/>
            <a:ext cx="1773819" cy="1097207"/>
          </a:xfrm>
          <a:prstGeom prst="rect">
            <a:avLst/>
          </a:prstGeom>
        </p:spPr>
      </p:pic>
      <p:pic>
        <p:nvPicPr>
          <p:cNvPr id="17" name="Picture 16" descr="A white cloud with a logo&#10;&#10;Description automatically generated">
            <a:extLst>
              <a:ext uri="{FF2B5EF4-FFF2-40B4-BE49-F238E27FC236}">
                <a16:creationId xmlns:a16="http://schemas.microsoft.com/office/drawing/2014/main" id="{AB151CFF-3343-BD13-8D90-DB58BAB865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552" y="4171866"/>
            <a:ext cx="1218966" cy="914225"/>
          </a:xfrm>
          <a:prstGeom prst="rect">
            <a:avLst/>
          </a:prstGeom>
        </p:spPr>
      </p:pic>
      <p:pic>
        <p:nvPicPr>
          <p:cNvPr id="21" name="Picture 20" descr="A blue and white logo&#10;&#10;Description automatically generated">
            <a:extLst>
              <a:ext uri="{FF2B5EF4-FFF2-40B4-BE49-F238E27FC236}">
                <a16:creationId xmlns:a16="http://schemas.microsoft.com/office/drawing/2014/main" id="{65AB66BA-4EF7-EBF0-8119-F3D756843E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933" y="6042978"/>
            <a:ext cx="1409845" cy="704923"/>
          </a:xfrm>
          <a:prstGeom prst="rect">
            <a:avLst/>
          </a:prstGeom>
        </p:spPr>
      </p:pic>
      <p:pic>
        <p:nvPicPr>
          <p:cNvPr id="25" name="Picture 24" descr="A red hat with black band&#10;&#10;Description automatically generated">
            <a:extLst>
              <a:ext uri="{FF2B5EF4-FFF2-40B4-BE49-F238E27FC236}">
                <a16:creationId xmlns:a16="http://schemas.microsoft.com/office/drawing/2014/main" id="{1ECC0D24-0387-1A95-E754-D8F6148D8C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271" y="5229116"/>
            <a:ext cx="1218966" cy="785014"/>
          </a:xfrm>
          <a:prstGeom prst="rect">
            <a:avLst/>
          </a:prstGeom>
        </p:spPr>
      </p:pic>
      <p:pic>
        <p:nvPicPr>
          <p:cNvPr id="27" name="Picture 26" descr="A logo of a company&#10;&#10;Description automatically generated">
            <a:extLst>
              <a:ext uri="{FF2B5EF4-FFF2-40B4-BE49-F238E27FC236}">
                <a16:creationId xmlns:a16="http://schemas.microsoft.com/office/drawing/2014/main" id="{7860012A-6601-ECF0-F5D9-8394F636FB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088" y="4392231"/>
            <a:ext cx="1133907" cy="754180"/>
          </a:xfrm>
          <a:prstGeom prst="rect">
            <a:avLst/>
          </a:prstGeom>
        </p:spPr>
      </p:pic>
      <p:pic>
        <p:nvPicPr>
          <p:cNvPr id="29" name="Picture 28" descr="A logo of a cloud&#10;&#10;Description automatically generated">
            <a:extLst>
              <a:ext uri="{FF2B5EF4-FFF2-40B4-BE49-F238E27FC236}">
                <a16:creationId xmlns:a16="http://schemas.microsoft.com/office/drawing/2014/main" id="{E9A6A1B7-AA72-C94A-9943-DB73682017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3879" y="5477270"/>
            <a:ext cx="1444708" cy="1413261"/>
          </a:xfrm>
          <a:prstGeom prst="rect">
            <a:avLst/>
          </a:prstGeom>
        </p:spPr>
      </p:pic>
      <p:pic>
        <p:nvPicPr>
          <p:cNvPr id="19" name="Picture 18" descr="A red and white logo&#10;&#10;Description automatically generated">
            <a:extLst>
              <a:ext uri="{FF2B5EF4-FFF2-40B4-BE49-F238E27FC236}">
                <a16:creationId xmlns:a16="http://schemas.microsoft.com/office/drawing/2014/main" id="{12DD64CB-D263-030C-8AD9-C28BCB04C2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9171" y="6108925"/>
            <a:ext cx="1444708" cy="531043"/>
          </a:xfrm>
          <a:prstGeom prst="rect">
            <a:avLst/>
          </a:prstGeom>
        </p:spPr>
      </p:pic>
      <p:pic>
        <p:nvPicPr>
          <p:cNvPr id="23" name="Picture 22" descr="A blue and white logo&#10;&#10;Description automatically generated">
            <a:extLst>
              <a:ext uri="{FF2B5EF4-FFF2-40B4-BE49-F238E27FC236}">
                <a16:creationId xmlns:a16="http://schemas.microsoft.com/office/drawing/2014/main" id="{237BDB5B-945E-D9B7-554A-EC871D483FF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112" y="5177327"/>
            <a:ext cx="1444709" cy="81264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2897269-0B22-0AFC-C6B3-17839708CE52}"/>
              </a:ext>
            </a:extLst>
          </p:cNvPr>
          <p:cNvSpPr txBox="1"/>
          <p:nvPr/>
        </p:nvSpPr>
        <p:spPr>
          <a:xfrm>
            <a:off x="6711568" y="3891313"/>
            <a:ext cx="4185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GLOBAL</a:t>
            </a:r>
            <a:r>
              <a:rPr lang="en-IN" dirty="0"/>
              <a:t> </a:t>
            </a:r>
            <a:r>
              <a:rPr lang="en-IN" b="1" dirty="0"/>
              <a:t>PARTNER</a:t>
            </a:r>
            <a:r>
              <a:rPr lang="en-IN" dirty="0"/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433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82722D-299E-7D4F-5151-C3D43E394924}"/>
              </a:ext>
            </a:extLst>
          </p:cNvPr>
          <p:cNvSpPr txBox="1"/>
          <p:nvPr/>
        </p:nvSpPr>
        <p:spPr>
          <a:xfrm>
            <a:off x="3048000" y="1158960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Gilbert Motors is actively pursuing a demand-driven digital transformation initiative for all its factories, to be implemented in phases.</a:t>
            </a:r>
          </a:p>
          <a:p>
            <a:r>
              <a:rPr lang="en-IN" sz="1800" b="1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 This transformative effort aims to automate critical business processes and concurrently reduce wastage and error rates through the deployment of robust enterprise planning and advanced analytics solutions.</a:t>
            </a:r>
          </a:p>
          <a:p>
            <a:r>
              <a:rPr lang="en-IN" sz="1800" b="1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With a market ambition to become the industry's leading demand-driven automotive manufacturer, Gilbert Motors is seeking a partner to deliver a demand-driven digital factory. </a:t>
            </a:r>
          </a:p>
          <a:p>
            <a:r>
              <a:rPr lang="en-IN" sz="1800" b="1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The partner is expected to enhance the operational accuracy of both systems and manufactured products, demonstrating capabilities with committed pricing and a constructive approach.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F49E8E-13CA-68BC-3C8B-4B8803F3AEDC}"/>
              </a:ext>
            </a:extLst>
          </p:cNvPr>
          <p:cNvSpPr txBox="1"/>
          <p:nvPr/>
        </p:nvSpPr>
        <p:spPr>
          <a:xfrm>
            <a:off x="2522482" y="557046"/>
            <a:ext cx="7535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Our understanding of Gilbert motors problem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20210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D5CC4-CE71-A2CF-ACB6-C0BDCD5F6915}"/>
              </a:ext>
            </a:extLst>
          </p:cNvPr>
          <p:cNvSpPr txBox="1">
            <a:spLocks/>
          </p:cNvSpPr>
          <p:nvPr/>
        </p:nvSpPr>
        <p:spPr>
          <a:xfrm>
            <a:off x="614680" y="199696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4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In-Scope  and Out of Scope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CBC7D643-EEF9-4F73-513B-A9DA46DBAE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1142708"/>
              </p:ext>
            </p:extLst>
          </p:nvPr>
        </p:nvGraphicFramePr>
        <p:xfrm>
          <a:off x="614680" y="1180445"/>
          <a:ext cx="10515600" cy="5201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1692">
                  <a:extLst>
                    <a:ext uri="{9D8B030D-6E8A-4147-A177-3AD203B41FA5}">
                      <a16:colId xmlns:a16="http://schemas.microsoft.com/office/drawing/2014/main" val="3705593383"/>
                    </a:ext>
                  </a:extLst>
                </a:gridCol>
                <a:gridCol w="4803908">
                  <a:extLst>
                    <a:ext uri="{9D8B030D-6E8A-4147-A177-3AD203B41FA5}">
                      <a16:colId xmlns:a16="http://schemas.microsoft.com/office/drawing/2014/main" val="1027370833"/>
                    </a:ext>
                  </a:extLst>
                </a:gridCol>
              </a:tblGrid>
              <a:tr h="510132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In Scope</a:t>
                      </a:r>
                      <a:endParaRPr lang="en-IN" sz="28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Out of Scope</a:t>
                      </a:r>
                      <a:endParaRPr lang="en-IN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3687036"/>
                  </a:ext>
                </a:extLst>
              </a:tr>
              <a:tr h="43593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Existing system study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0800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18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Sunset\Decommissioning of existing warehouse</a:t>
                      </a:r>
                      <a:endParaRPr lang="en-IN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6350" marT="6350" marB="0" anchor="ctr"/>
                </a:tc>
                <a:extLst>
                  <a:ext uri="{0D108BD9-81ED-4DB2-BD59-A6C34878D82A}">
                    <a16:rowId xmlns:a16="http://schemas.microsoft.com/office/drawing/2014/main" val="1928282182"/>
                  </a:ext>
                </a:extLst>
              </a:tr>
              <a:tr h="635890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Design and implement Automation of key Operational Processes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0800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18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Data Cleansing </a:t>
                      </a:r>
                      <a:endParaRPr lang="en-IN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6350" marT="6350" marB="0" anchor="ctr"/>
                </a:tc>
                <a:extLst>
                  <a:ext uri="{0D108BD9-81ED-4DB2-BD59-A6C34878D82A}">
                    <a16:rowId xmlns:a16="http://schemas.microsoft.com/office/drawing/2014/main" val="1838090009"/>
                  </a:ext>
                </a:extLst>
              </a:tr>
              <a:tr h="363570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Identification of  improvement areas to eliminate wastage at Plant level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0800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18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Buy </a:t>
                      </a:r>
                      <a:r>
                        <a:rPr lang="en-IN" sz="18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new licence </a:t>
                      </a:r>
                      <a:r>
                        <a:rPr lang="en-IN" sz="18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for software and Hardware</a:t>
                      </a:r>
                      <a:endParaRPr lang="en-IN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6350" marT="6350" marB="0" anchor="ctr"/>
                </a:tc>
                <a:extLst>
                  <a:ext uri="{0D108BD9-81ED-4DB2-BD59-A6C34878D82A}">
                    <a16:rowId xmlns:a16="http://schemas.microsoft.com/office/drawing/2014/main" val="415959915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Warranty Analytics for Paint, Engine and Interior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0800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18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Any quality issues in source data</a:t>
                      </a:r>
                      <a:endParaRPr lang="en-IN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6350" marT="6350" marB="0" anchor="ctr"/>
                </a:tc>
                <a:extLst>
                  <a:ext uri="{0D108BD9-81ED-4DB2-BD59-A6C34878D82A}">
                    <a16:rowId xmlns:a16="http://schemas.microsoft.com/office/drawing/2014/main" val="3949446857"/>
                  </a:ext>
                </a:extLst>
              </a:tr>
              <a:tr h="393371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AI integration from source systems, machines and analytics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08000" marR="6350" marT="6350" marB="0"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End User Training</a:t>
                      </a:r>
                      <a:endParaRPr lang="en-IN" sz="18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1616500"/>
                  </a:ext>
                </a:extLst>
              </a:tr>
              <a:tr h="352938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Use of agreed Modelling , Reporting and Planning Tools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08000" marR="6350" marT="6350" marB="0" anchor="ctr"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3652430"/>
                  </a:ext>
                </a:extLst>
              </a:tr>
              <a:tr h="635890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Digital Transformation-                                 </a:t>
                      </a:r>
                    </a:p>
                    <a:p>
                      <a:pPr algn="l" fontAlgn="b"/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Forecasting of demand                                     </a:t>
                      </a:r>
                    </a:p>
                    <a:p>
                      <a:pPr algn="l" fontAlgn="b"/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Order to Ship                                          </a:t>
                      </a:r>
                    </a:p>
                    <a:p>
                      <a:pPr algn="l" fontAlgn="b"/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Order to Cash                                           </a:t>
                      </a:r>
                    </a:p>
                    <a:p>
                      <a:pPr algn="l" fontAlgn="b"/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Financial reporting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08000" marR="6350" marT="6350" marB="0" anchor="ctr"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48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9517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99CBB27-B510-7465-1916-D34704668213}"/>
              </a:ext>
            </a:extLst>
          </p:cNvPr>
          <p:cNvSpPr txBox="1">
            <a:spLocks/>
          </p:cNvSpPr>
          <p:nvPr/>
        </p:nvSpPr>
        <p:spPr>
          <a:xfrm>
            <a:off x="486561" y="98252"/>
            <a:ext cx="10595296" cy="137195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6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High Level LOGICAL  Solution of Gilbert Automotive Digital Transformation</a:t>
            </a:r>
            <a:endParaRPr lang="en-US" sz="36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 descr="A diagram of a diagram">
            <a:extLst>
              <a:ext uri="{FF2B5EF4-FFF2-40B4-BE49-F238E27FC236}">
                <a16:creationId xmlns:a16="http://schemas.microsoft.com/office/drawing/2014/main" id="{DBFFEF43-7935-5A21-FCFA-0C911484B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76" y="1251742"/>
            <a:ext cx="11354186" cy="532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77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A7789-1A74-EB7E-8C2E-C11634EF4ADB}"/>
              </a:ext>
            </a:extLst>
          </p:cNvPr>
          <p:cNvSpPr/>
          <p:nvPr/>
        </p:nvSpPr>
        <p:spPr>
          <a:xfrm>
            <a:off x="10729092" y="2282411"/>
            <a:ext cx="1158584" cy="53108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5BE41CB-8EAF-1E57-6E2D-8408CE47E653}"/>
              </a:ext>
            </a:extLst>
          </p:cNvPr>
          <p:cNvSpPr/>
          <p:nvPr/>
        </p:nvSpPr>
        <p:spPr>
          <a:xfrm>
            <a:off x="3933390" y="2273722"/>
            <a:ext cx="1840728" cy="234253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FBB78EA-C787-53E1-B5B1-C9F6ADC966CB}"/>
              </a:ext>
            </a:extLst>
          </p:cNvPr>
          <p:cNvSpPr/>
          <p:nvPr/>
        </p:nvSpPr>
        <p:spPr>
          <a:xfrm>
            <a:off x="9389851" y="2041814"/>
            <a:ext cx="1276715" cy="305628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BC601C-AB1D-B484-16D8-EEBB5B046B94}"/>
              </a:ext>
            </a:extLst>
          </p:cNvPr>
          <p:cNvSpPr/>
          <p:nvPr/>
        </p:nvSpPr>
        <p:spPr>
          <a:xfrm>
            <a:off x="6297392" y="3930825"/>
            <a:ext cx="2767053" cy="16232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AE8E63-7353-F3AF-79BE-4CE207F4865D}"/>
              </a:ext>
            </a:extLst>
          </p:cNvPr>
          <p:cNvSpPr/>
          <p:nvPr/>
        </p:nvSpPr>
        <p:spPr>
          <a:xfrm>
            <a:off x="6193427" y="1979494"/>
            <a:ext cx="2767053" cy="16232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2E5C67A-AFA4-C8FD-B812-7D0647ABB55A}"/>
              </a:ext>
            </a:extLst>
          </p:cNvPr>
          <p:cNvSpPr/>
          <p:nvPr/>
        </p:nvSpPr>
        <p:spPr>
          <a:xfrm>
            <a:off x="1774013" y="2157892"/>
            <a:ext cx="1890710" cy="237453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DDFAA2-1D97-047E-BB80-AC289DCF0B26}"/>
              </a:ext>
            </a:extLst>
          </p:cNvPr>
          <p:cNvSpPr/>
          <p:nvPr/>
        </p:nvSpPr>
        <p:spPr>
          <a:xfrm>
            <a:off x="31167" y="1574541"/>
            <a:ext cx="1486894" cy="34190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Data Sources</a:t>
            </a:r>
            <a:endParaRPr lang="en-US" sz="12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474E7BB-B5AC-A6E3-6995-D9C7C4926171}"/>
              </a:ext>
            </a:extLst>
          </p:cNvPr>
          <p:cNvSpPr/>
          <p:nvPr/>
        </p:nvSpPr>
        <p:spPr>
          <a:xfrm>
            <a:off x="1932852" y="1574541"/>
            <a:ext cx="1573033" cy="34190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Data Ingestion</a:t>
            </a:r>
            <a:endParaRPr lang="en-US" sz="12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C5B29E9-896A-7AD7-DF21-1C4D0B824DC7}"/>
              </a:ext>
            </a:extLst>
          </p:cNvPr>
          <p:cNvSpPr/>
          <p:nvPr/>
        </p:nvSpPr>
        <p:spPr>
          <a:xfrm>
            <a:off x="6161618" y="1574541"/>
            <a:ext cx="2830667" cy="34190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Data Processing &amp; Transformation</a:t>
            </a:r>
            <a:endParaRPr lang="en-US" sz="12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F182C07-7A9F-66D7-D777-F4B0ECFBE972}"/>
              </a:ext>
            </a:extLst>
          </p:cNvPr>
          <p:cNvSpPr/>
          <p:nvPr/>
        </p:nvSpPr>
        <p:spPr>
          <a:xfrm>
            <a:off x="9389851" y="1566590"/>
            <a:ext cx="2308527" cy="34190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Analytics &amp; Report</a:t>
            </a:r>
            <a:endParaRPr lang="en-US" sz="1200" dirty="0"/>
          </a:p>
        </p:txBody>
      </p:sp>
      <p:sp>
        <p:nvSpPr>
          <p:cNvPr id="12" name="Rectangle: Single Corner Snipped 11">
            <a:extLst>
              <a:ext uri="{FF2B5EF4-FFF2-40B4-BE49-F238E27FC236}">
                <a16:creationId xmlns:a16="http://schemas.microsoft.com/office/drawing/2014/main" id="{D408B4CE-FED5-DD0B-B835-9A6022D125AB}"/>
              </a:ext>
            </a:extLst>
          </p:cNvPr>
          <p:cNvSpPr/>
          <p:nvPr/>
        </p:nvSpPr>
        <p:spPr>
          <a:xfrm>
            <a:off x="166338" y="2417379"/>
            <a:ext cx="1168842" cy="246490"/>
          </a:xfrm>
          <a:prstGeom prst="snip1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SAP</a:t>
            </a:r>
            <a:endParaRPr lang="en-US" sz="1200" dirty="0"/>
          </a:p>
        </p:txBody>
      </p:sp>
      <p:sp>
        <p:nvSpPr>
          <p:cNvPr id="13" name="Rectangle: Single Corner Snipped 12">
            <a:extLst>
              <a:ext uri="{FF2B5EF4-FFF2-40B4-BE49-F238E27FC236}">
                <a16:creationId xmlns:a16="http://schemas.microsoft.com/office/drawing/2014/main" id="{875C01F1-019A-F1E0-3117-64466C58FFBC}"/>
              </a:ext>
            </a:extLst>
          </p:cNvPr>
          <p:cNvSpPr/>
          <p:nvPr/>
        </p:nvSpPr>
        <p:spPr>
          <a:xfrm>
            <a:off x="182241" y="2918311"/>
            <a:ext cx="1168842" cy="246490"/>
          </a:xfrm>
          <a:prstGeom prst="snip1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Oracle</a:t>
            </a:r>
            <a:endParaRPr lang="en-US" sz="1200" dirty="0"/>
          </a:p>
        </p:txBody>
      </p:sp>
      <p:sp>
        <p:nvSpPr>
          <p:cNvPr id="14" name="Rectangle: Single Corner Snipped 13">
            <a:extLst>
              <a:ext uri="{FF2B5EF4-FFF2-40B4-BE49-F238E27FC236}">
                <a16:creationId xmlns:a16="http://schemas.microsoft.com/office/drawing/2014/main" id="{5470FED0-5349-D93B-C9AE-585C883C3E45}"/>
              </a:ext>
            </a:extLst>
          </p:cNvPr>
          <p:cNvSpPr/>
          <p:nvPr/>
        </p:nvSpPr>
        <p:spPr>
          <a:xfrm>
            <a:off x="166338" y="3419243"/>
            <a:ext cx="1168842" cy="373712"/>
          </a:xfrm>
          <a:prstGeom prst="snip1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External Application</a:t>
            </a:r>
            <a:endParaRPr lang="en-US" sz="1200" dirty="0"/>
          </a:p>
        </p:txBody>
      </p:sp>
      <p:sp>
        <p:nvSpPr>
          <p:cNvPr id="15" name="Rectangle: Single Corner Snipped 14">
            <a:extLst>
              <a:ext uri="{FF2B5EF4-FFF2-40B4-BE49-F238E27FC236}">
                <a16:creationId xmlns:a16="http://schemas.microsoft.com/office/drawing/2014/main" id="{86650E84-5EDC-A519-591A-83F59623CE3A}"/>
              </a:ext>
            </a:extLst>
          </p:cNvPr>
          <p:cNvSpPr/>
          <p:nvPr/>
        </p:nvSpPr>
        <p:spPr>
          <a:xfrm>
            <a:off x="182241" y="4047397"/>
            <a:ext cx="1168842" cy="373712"/>
          </a:xfrm>
          <a:prstGeom prst="snip1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Kafka Stream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C342E77-F210-02FC-54AD-F44976520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941" y="3544433"/>
            <a:ext cx="495343" cy="50296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A1F7FC-FA91-514A-D25B-050F6A1A1A04}"/>
              </a:ext>
            </a:extLst>
          </p:cNvPr>
          <p:cNvSpPr txBox="1"/>
          <p:nvPr/>
        </p:nvSpPr>
        <p:spPr>
          <a:xfrm>
            <a:off x="2567632" y="2595861"/>
            <a:ext cx="7871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ADF-Batch Ingestion</a:t>
            </a:r>
            <a:endParaRPr lang="en-US" sz="10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B9FE26-901C-5BDC-06CB-CCABA7181EF2}"/>
              </a:ext>
            </a:extLst>
          </p:cNvPr>
          <p:cNvSpPr txBox="1"/>
          <p:nvPr/>
        </p:nvSpPr>
        <p:spPr>
          <a:xfrm>
            <a:off x="2576059" y="3617469"/>
            <a:ext cx="929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ADB-Spark Streaming</a:t>
            </a:r>
            <a:endParaRPr lang="en-US" sz="10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2E78BD5-2C18-6D4D-0A4E-6776A1E3D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649" y="2540624"/>
            <a:ext cx="510584" cy="510584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F564270-20DE-8001-ED21-6727CEF55AE6}"/>
              </a:ext>
            </a:extLst>
          </p:cNvPr>
          <p:cNvSpPr/>
          <p:nvPr/>
        </p:nvSpPr>
        <p:spPr>
          <a:xfrm>
            <a:off x="3923328" y="1574541"/>
            <a:ext cx="1789044" cy="34190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Data Storage-Landing Area</a:t>
            </a:r>
            <a:endParaRPr lang="en-US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054E0F9-089A-C2EE-0874-709DAB3DE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7554" y="2646596"/>
            <a:ext cx="533446" cy="518205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B05CB7F-F7F2-8103-2CFE-7378935F6C02}"/>
              </a:ext>
            </a:extLst>
          </p:cNvPr>
          <p:cNvCxnSpPr>
            <a:cxnSpLocks/>
            <a:stCxn id="12" idx="0"/>
          </p:cNvCxnSpPr>
          <p:nvPr/>
        </p:nvCxnSpPr>
        <p:spPr>
          <a:xfrm>
            <a:off x="1335180" y="2540624"/>
            <a:ext cx="4388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C7B365-4C68-887E-33AD-13A6EBE32937}"/>
              </a:ext>
            </a:extLst>
          </p:cNvPr>
          <p:cNvCxnSpPr>
            <a:cxnSpLocks/>
          </p:cNvCxnSpPr>
          <p:nvPr/>
        </p:nvCxnSpPr>
        <p:spPr>
          <a:xfrm>
            <a:off x="1351083" y="3048557"/>
            <a:ext cx="4388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80C5ED4-BB5A-A748-DD85-3B6FAA3547FF}"/>
              </a:ext>
            </a:extLst>
          </p:cNvPr>
          <p:cNvCxnSpPr>
            <a:cxnSpLocks/>
          </p:cNvCxnSpPr>
          <p:nvPr/>
        </p:nvCxnSpPr>
        <p:spPr>
          <a:xfrm>
            <a:off x="1336506" y="3617469"/>
            <a:ext cx="4388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0F62FB7-418D-3F99-EEA4-05DAE8BB28B3}"/>
              </a:ext>
            </a:extLst>
          </p:cNvPr>
          <p:cNvCxnSpPr>
            <a:cxnSpLocks/>
          </p:cNvCxnSpPr>
          <p:nvPr/>
        </p:nvCxnSpPr>
        <p:spPr>
          <a:xfrm>
            <a:off x="1351083" y="4275334"/>
            <a:ext cx="4388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15C288B-FA99-4109-995A-A0208FD1D86F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3625971" y="2905698"/>
            <a:ext cx="92158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DAC9603-8F6C-5C28-8B1D-E00D88358194}"/>
              </a:ext>
            </a:extLst>
          </p:cNvPr>
          <p:cNvSpPr txBox="1"/>
          <p:nvPr/>
        </p:nvSpPr>
        <p:spPr>
          <a:xfrm>
            <a:off x="4430757" y="3207113"/>
            <a:ext cx="785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ADLS Gen2</a:t>
            </a:r>
            <a:endParaRPr lang="en-US" sz="1000" b="1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B637C0C-213F-ED7B-4141-E2338D3B4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248" y="2041814"/>
            <a:ext cx="495343" cy="50296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7043C13-DE0D-F488-DBC7-54D7DE1412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8768" y="4067566"/>
            <a:ext cx="2324301" cy="46486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8596DFF-4772-ADAB-94F6-A881A15A77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7625" y="2915734"/>
            <a:ext cx="624894" cy="32006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075F243-98F2-D943-3CE1-4538D60A04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4825" y="2973137"/>
            <a:ext cx="845893" cy="57155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3F50C34-4FE6-73DA-6ADC-F3E4D18A091F}"/>
              </a:ext>
            </a:extLst>
          </p:cNvPr>
          <p:cNvSpPr txBox="1"/>
          <p:nvPr/>
        </p:nvSpPr>
        <p:spPr>
          <a:xfrm>
            <a:off x="7254547" y="2490779"/>
            <a:ext cx="11210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Azure DataBricks</a:t>
            </a:r>
            <a:endParaRPr lang="en-US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24C6574-4DE0-699F-4C95-DD39FF3E3B67}"/>
              </a:ext>
            </a:extLst>
          </p:cNvPr>
          <p:cNvCxnSpPr>
            <a:cxnSpLocks/>
          </p:cNvCxnSpPr>
          <p:nvPr/>
        </p:nvCxnSpPr>
        <p:spPr>
          <a:xfrm>
            <a:off x="6885190" y="3617469"/>
            <a:ext cx="0" cy="4500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52BD227-B9F5-3EA2-FAA3-3A5CD8F99F26}"/>
              </a:ext>
            </a:extLst>
          </p:cNvPr>
          <p:cNvCxnSpPr>
            <a:cxnSpLocks/>
          </p:cNvCxnSpPr>
          <p:nvPr/>
        </p:nvCxnSpPr>
        <p:spPr>
          <a:xfrm>
            <a:off x="7681646" y="3617469"/>
            <a:ext cx="0" cy="4500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6282EBE-AC1A-0A8C-E455-03A053C06143}"/>
              </a:ext>
            </a:extLst>
          </p:cNvPr>
          <p:cNvCxnSpPr>
            <a:cxnSpLocks/>
          </p:cNvCxnSpPr>
          <p:nvPr/>
        </p:nvCxnSpPr>
        <p:spPr>
          <a:xfrm>
            <a:off x="8476776" y="3617469"/>
            <a:ext cx="0" cy="4516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8DB9F32E-3509-3279-0C3F-FB3F2DE216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0367" y="4697264"/>
            <a:ext cx="701101" cy="510584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07240CF-9D86-5411-A5AE-CF85B9639C60}"/>
              </a:ext>
            </a:extLst>
          </p:cNvPr>
          <p:cNvCxnSpPr>
            <a:stCxn id="21" idx="3"/>
          </p:cNvCxnSpPr>
          <p:nvPr/>
        </p:nvCxnSpPr>
        <p:spPr>
          <a:xfrm flipV="1">
            <a:off x="5081000" y="2905698"/>
            <a:ext cx="107704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082A24A-2DA7-3477-3429-8158E87B63F4}"/>
              </a:ext>
            </a:extLst>
          </p:cNvPr>
          <p:cNvSpPr txBox="1"/>
          <p:nvPr/>
        </p:nvSpPr>
        <p:spPr>
          <a:xfrm>
            <a:off x="6272940" y="2282411"/>
            <a:ext cx="7474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</a:t>
            </a:r>
            <a:endParaRPr lang="en-US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CAA4D6-2F7F-F691-95B0-653FD9E87CFB}"/>
              </a:ext>
            </a:extLst>
          </p:cNvPr>
          <p:cNvSpPr txBox="1"/>
          <p:nvPr/>
        </p:nvSpPr>
        <p:spPr>
          <a:xfrm>
            <a:off x="6272940" y="4851878"/>
            <a:ext cx="7474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Store</a:t>
            </a:r>
            <a:endParaRPr lang="en-US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0D980E7-282E-9463-0F01-294514D9D3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71267" y="2422968"/>
            <a:ext cx="502964" cy="49534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286E2FB-62B1-A0BC-5749-F12201F080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39208" y="4123868"/>
            <a:ext cx="495343" cy="472481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DAE1FB8-04F8-2062-0911-D3C472504D9B}"/>
              </a:ext>
            </a:extLst>
          </p:cNvPr>
          <p:cNvSpPr txBox="1"/>
          <p:nvPr/>
        </p:nvSpPr>
        <p:spPr>
          <a:xfrm>
            <a:off x="9434168" y="2041814"/>
            <a:ext cx="11767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Data Visualization</a:t>
            </a:r>
            <a:endParaRPr lang="en-US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114F29-B08B-310B-73A4-8FF78800D2F5}"/>
              </a:ext>
            </a:extLst>
          </p:cNvPr>
          <p:cNvSpPr txBox="1"/>
          <p:nvPr/>
        </p:nvSpPr>
        <p:spPr>
          <a:xfrm>
            <a:off x="9434168" y="3012691"/>
            <a:ext cx="1294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PowerBI Dashboard</a:t>
            </a:r>
            <a:endParaRPr lang="en-US" sz="10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765B25-4BA4-1EC8-3D07-1EB625B7A1F6}"/>
              </a:ext>
            </a:extLst>
          </p:cNvPr>
          <p:cNvSpPr txBox="1"/>
          <p:nvPr/>
        </p:nvSpPr>
        <p:spPr>
          <a:xfrm>
            <a:off x="9581890" y="4776247"/>
            <a:ext cx="10846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API Management</a:t>
            </a:r>
            <a:endParaRPr lang="en-US" sz="10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3B6EF0A3-A91E-ADD6-9E54-50AE39A99B3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73391" y="3300588"/>
            <a:ext cx="583498" cy="536187"/>
          </a:xfrm>
          <a:prstGeom prst="rect">
            <a:avLst/>
          </a:prstGeom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4D1EADF-5384-6309-731A-1A75C1C37B55}"/>
              </a:ext>
            </a:extLst>
          </p:cNvPr>
          <p:cNvCxnSpPr>
            <a:cxnSpLocks/>
            <a:stCxn id="4" idx="3"/>
            <a:endCxn id="45" idx="1"/>
          </p:cNvCxnSpPr>
          <p:nvPr/>
        </p:nvCxnSpPr>
        <p:spPr>
          <a:xfrm flipV="1">
            <a:off x="10666566" y="3568682"/>
            <a:ext cx="506825" cy="1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85920F3-9BC3-2DDC-9F03-FB830EAF1CA1}"/>
              </a:ext>
            </a:extLst>
          </p:cNvPr>
          <p:cNvSpPr txBox="1"/>
          <p:nvPr/>
        </p:nvSpPr>
        <p:spPr>
          <a:xfrm>
            <a:off x="10801078" y="4067566"/>
            <a:ext cx="10072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Business User</a:t>
            </a:r>
            <a:endParaRPr lang="en-US" sz="10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6DDEF5F-0481-6E91-4EAA-BFE37597E8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3726" y="3617469"/>
            <a:ext cx="701101" cy="510584"/>
          </a:xfrm>
          <a:prstGeom prst="rect">
            <a:avLst/>
          </a:prstGeom>
        </p:spPr>
      </p:pic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D00DF94-DD93-C6CC-DAA2-10A3E2C87D88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3641987" y="3872761"/>
            <a:ext cx="8217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B88D4E7-ED54-DDE2-E0BF-AA24265FDE4E}"/>
              </a:ext>
            </a:extLst>
          </p:cNvPr>
          <p:cNvCxnSpPr>
            <a:cxnSpLocks/>
          </p:cNvCxnSpPr>
          <p:nvPr/>
        </p:nvCxnSpPr>
        <p:spPr>
          <a:xfrm>
            <a:off x="5164827" y="3894950"/>
            <a:ext cx="10045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28CB9D97-0ADD-1B49-DC46-4AAE935C6205}"/>
              </a:ext>
            </a:extLst>
          </p:cNvPr>
          <p:cNvSpPr txBox="1"/>
          <p:nvPr/>
        </p:nvSpPr>
        <p:spPr>
          <a:xfrm>
            <a:off x="4079438" y="4150243"/>
            <a:ext cx="1632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Azure DataBricks Delta Lake</a:t>
            </a:r>
            <a:endParaRPr lang="en-US" sz="1000" b="1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83209B6A-45E2-F25C-54AE-B175EDE6872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54925" y="2858761"/>
            <a:ext cx="480102" cy="480102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4F6DEA20-406C-458C-169E-F36FDADD05C0}"/>
              </a:ext>
            </a:extLst>
          </p:cNvPr>
          <p:cNvSpPr txBox="1"/>
          <p:nvPr/>
        </p:nvSpPr>
        <p:spPr>
          <a:xfrm>
            <a:off x="7119842" y="3258871"/>
            <a:ext cx="540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ML Flow</a:t>
            </a:r>
            <a:endParaRPr 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81A1E0F5-BAF8-1CD4-91C9-AFBE2AF09782}"/>
              </a:ext>
            </a:extLst>
          </p:cNvPr>
          <p:cNvCxnSpPr>
            <a:cxnSpLocks/>
            <a:stCxn id="29" idx="3"/>
            <a:endCxn id="4" idx="1"/>
          </p:cNvCxnSpPr>
          <p:nvPr/>
        </p:nvCxnSpPr>
        <p:spPr>
          <a:xfrm flipV="1">
            <a:off x="8843069" y="3569957"/>
            <a:ext cx="546782" cy="7300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E9D9BF51-AC5D-90E2-9333-0EDD79BB16A4}"/>
              </a:ext>
            </a:extLst>
          </p:cNvPr>
          <p:cNvSpPr/>
          <p:nvPr/>
        </p:nvSpPr>
        <p:spPr>
          <a:xfrm>
            <a:off x="130870" y="5591324"/>
            <a:ext cx="11501040" cy="200654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Monitor and Govern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11F11AC8-1031-FBD2-3F79-234F679FF17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0870" y="5902467"/>
            <a:ext cx="11501039" cy="480102"/>
          </a:xfrm>
          <a:prstGeom prst="rect">
            <a:avLst/>
          </a:prstGeom>
        </p:spPr>
      </p:pic>
      <p:sp>
        <p:nvSpPr>
          <p:cNvPr id="57" name="Title 1">
            <a:extLst>
              <a:ext uri="{FF2B5EF4-FFF2-40B4-BE49-F238E27FC236}">
                <a16:creationId xmlns:a16="http://schemas.microsoft.com/office/drawing/2014/main" id="{CF37C33E-1347-CA69-7F9E-170D06F2447F}"/>
              </a:ext>
            </a:extLst>
          </p:cNvPr>
          <p:cNvSpPr txBox="1">
            <a:spLocks/>
          </p:cNvSpPr>
          <p:nvPr/>
        </p:nvSpPr>
        <p:spPr>
          <a:xfrm>
            <a:off x="31167" y="693528"/>
            <a:ext cx="11667211" cy="52515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/>
              <a:t>High Level Technical Solution of GM Digital Factories Data Platform</a:t>
            </a:r>
            <a:endParaRPr lang="en-US" sz="2800" b="1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22BFD105-31DD-4F7D-0789-A0E06FE3A05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301134" y="2292952"/>
            <a:ext cx="502964" cy="495343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40884859-7CCC-7A78-B7E6-A2600A0D15AF}"/>
              </a:ext>
            </a:extLst>
          </p:cNvPr>
          <p:cNvSpPr txBox="1"/>
          <p:nvPr/>
        </p:nvSpPr>
        <p:spPr>
          <a:xfrm>
            <a:off x="10666566" y="1951351"/>
            <a:ext cx="11974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AI for Analytics and Chat Engine</a:t>
            </a:r>
            <a:endParaRPr lang="en-US" sz="800" dirty="0"/>
          </a:p>
        </p:txBody>
      </p:sp>
      <p:pic>
        <p:nvPicPr>
          <p:cNvPr id="61" name="Graphic 60" descr="Artificial Intelligence outline">
            <a:extLst>
              <a:ext uri="{FF2B5EF4-FFF2-40B4-BE49-F238E27FC236}">
                <a16:creationId xmlns:a16="http://schemas.microsoft.com/office/drawing/2014/main" id="{D84CD636-0D88-A58A-BC8E-505FAC162E6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878337" y="2330146"/>
            <a:ext cx="462508" cy="357923"/>
          </a:xfrm>
          <a:prstGeom prst="rect">
            <a:avLst/>
          </a:prstGeom>
        </p:spPr>
      </p:pic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7218145-AD1D-D5B1-451B-95A6C7F0E26A}"/>
              </a:ext>
            </a:extLst>
          </p:cNvPr>
          <p:cNvCxnSpPr/>
          <p:nvPr/>
        </p:nvCxnSpPr>
        <p:spPr>
          <a:xfrm>
            <a:off x="11312590" y="2858761"/>
            <a:ext cx="0" cy="4001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371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8033FA-45FA-A272-3803-9AB60B58A0CF}"/>
              </a:ext>
            </a:extLst>
          </p:cNvPr>
          <p:cNvSpPr/>
          <p:nvPr/>
        </p:nvSpPr>
        <p:spPr>
          <a:xfrm>
            <a:off x="373133" y="1692938"/>
            <a:ext cx="1120972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600" dirty="0"/>
              <a:t>Gilbert will assign a project manager to work collaboratively with Vendor throughout the engagement</a:t>
            </a:r>
            <a:endParaRPr lang="en-IN" sz="1600" dirty="0"/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600" dirty="0"/>
              <a:t>Key stakeholders from Gilbert will be available to participate in required meetings/workshops on a timely basis to understand the </a:t>
            </a:r>
            <a:r>
              <a:rPr lang="en-IN" sz="1600" dirty="0"/>
              <a:t>the current system.</a:t>
            </a:r>
            <a:endParaRPr lang="en-US" sz="1600" dirty="0"/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600" dirty="0"/>
              <a:t>Gilbert will make SMEs available for Q&amp;A at discovery sessions as needed. (e.g. current ERP solutions, data warehousing solution , BI tools etc.)</a:t>
            </a:r>
            <a:endParaRPr lang="en-IN" sz="1600" dirty="0"/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1600" dirty="0"/>
              <a:t>Gilbert Motors will ensure the availability of Legacy system &amp; teams for source data and mapping right from the project's commencement.</a:t>
            </a: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600" dirty="0"/>
              <a:t>Gilbert will provide necessary access to relevant, complete and correct information, on existing applications, interfaces, infrastructure, capacity, performance, maintenance, and other relevant information required by Vendor to provide the Services</a:t>
            </a: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1600" dirty="0"/>
              <a:t>Gilbert Motors should make necessary preparations well in advance for data collection during the tight schedule of the digital transformation assessment.</a:t>
            </a:r>
            <a:endParaRPr lang="en-US" sz="1600" dirty="0"/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600" dirty="0"/>
              <a:t>Gilbert will provide customer/PII specific data which has any geo regulatory compliance.</a:t>
            </a: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1600" dirty="0"/>
              <a:t>Gilbert Motors will conduct User Acceptance Testing (UAT) and provide the necessary sign-off.</a:t>
            </a: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1600" dirty="0"/>
              <a:t>Assuming there will be 5-6 data sources and 100+ tables in scope, and based on that, 10+ Business Intelligence (BI) reports can be developed. </a:t>
            </a: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1600" dirty="0"/>
              <a:t>Planning and forecasting tools can be used separately.</a:t>
            </a:r>
            <a:endParaRPr lang="en-US" sz="1600" dirty="0"/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600" dirty="0"/>
              <a:t>Technical architecture and business requirements to be reviewed and signed off by Gilbert</a:t>
            </a: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C13570-7E55-01B8-15AC-C9ED52E85FD3}"/>
              </a:ext>
            </a:extLst>
          </p:cNvPr>
          <p:cNvSpPr/>
          <p:nvPr/>
        </p:nvSpPr>
        <p:spPr>
          <a:xfrm>
            <a:off x="0" y="0"/>
            <a:ext cx="12192000" cy="143145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B10E68E-B4F1-8175-BE6A-F1695560D679}"/>
              </a:ext>
            </a:extLst>
          </p:cNvPr>
          <p:cNvSpPr txBox="1">
            <a:spLocks/>
          </p:cNvSpPr>
          <p:nvPr/>
        </p:nvSpPr>
        <p:spPr>
          <a:xfrm>
            <a:off x="300311" y="341572"/>
            <a:ext cx="9869897" cy="71671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ASSUMPTIONS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732EF44B-2AC2-20A9-E1A7-BFACC80C1BC7}"/>
              </a:ext>
            </a:extLst>
          </p:cNvPr>
          <p:cNvSpPr/>
          <p:nvPr/>
        </p:nvSpPr>
        <p:spPr>
          <a:xfrm>
            <a:off x="435429" y="1144065"/>
            <a:ext cx="304800" cy="262759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Rectangle: Top Corners Rounded 10">
            <a:extLst>
              <a:ext uri="{FF2B5EF4-FFF2-40B4-BE49-F238E27FC236}">
                <a16:creationId xmlns:a16="http://schemas.microsoft.com/office/drawing/2014/main" id="{3E4EA448-8C29-90CA-A6BB-5DD364134F5E}"/>
              </a:ext>
            </a:extLst>
          </p:cNvPr>
          <p:cNvSpPr/>
          <p:nvPr/>
        </p:nvSpPr>
        <p:spPr>
          <a:xfrm rot="10800000">
            <a:off x="592199" y="1131433"/>
            <a:ext cx="3532746" cy="399775"/>
          </a:xfrm>
          <a:prstGeom prst="round2Same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9A6403-9B11-1B26-BDA9-13ABE8C0C26B}"/>
              </a:ext>
            </a:extLst>
          </p:cNvPr>
          <p:cNvSpPr txBox="1"/>
          <p:nvPr/>
        </p:nvSpPr>
        <p:spPr>
          <a:xfrm>
            <a:off x="896999" y="1136040"/>
            <a:ext cx="301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General Assumptions</a:t>
            </a:r>
          </a:p>
        </p:txBody>
      </p:sp>
    </p:spTree>
    <p:extLst>
      <p:ext uri="{BB962C8B-B14F-4D97-AF65-F5344CB8AC3E}">
        <p14:creationId xmlns:p14="http://schemas.microsoft.com/office/powerpoint/2010/main" val="2089575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805E1F98-43CC-87DB-D30E-211DF0203889}"/>
              </a:ext>
            </a:extLst>
          </p:cNvPr>
          <p:cNvSpPr txBox="1">
            <a:spLocks/>
          </p:cNvSpPr>
          <p:nvPr/>
        </p:nvSpPr>
        <p:spPr>
          <a:xfrm>
            <a:off x="728096" y="322901"/>
            <a:ext cx="10515600" cy="1325563"/>
          </a:xfrm>
          <a:prstGeom prst="rect">
            <a:avLst/>
          </a:prstGeom>
        </p:spPr>
        <p:txBody>
          <a:bodyPr anchor="t"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/>
              <a:t>Risks &amp; Mitigation</a:t>
            </a:r>
            <a:endParaRPr lang="en-IN" b="1" dirty="0"/>
          </a:p>
        </p:txBody>
      </p:sp>
      <p:sp>
        <p:nvSpPr>
          <p:cNvPr id="3" name="Freeform 289">
            <a:extLst>
              <a:ext uri="{FF2B5EF4-FFF2-40B4-BE49-F238E27FC236}">
                <a16:creationId xmlns:a16="http://schemas.microsoft.com/office/drawing/2014/main" id="{DA1878D5-C09C-FB77-C226-4D0D84564D14}"/>
              </a:ext>
            </a:extLst>
          </p:cNvPr>
          <p:cNvSpPr>
            <a:spLocks/>
          </p:cNvSpPr>
          <p:nvPr/>
        </p:nvSpPr>
        <p:spPr bwMode="auto">
          <a:xfrm>
            <a:off x="728096" y="1033812"/>
            <a:ext cx="3067319" cy="317423"/>
          </a:xfrm>
          <a:custGeom>
            <a:avLst/>
            <a:gdLst>
              <a:gd name="T0" fmla="*/ 142 w 8544"/>
              <a:gd name="T1" fmla="*/ 0 h 848"/>
              <a:gd name="T2" fmla="*/ 8403 w 8544"/>
              <a:gd name="T3" fmla="*/ 0 h 848"/>
              <a:gd name="T4" fmla="*/ 8544 w 8544"/>
              <a:gd name="T5" fmla="*/ 142 h 848"/>
              <a:gd name="T6" fmla="*/ 8544 w 8544"/>
              <a:gd name="T7" fmla="*/ 848 h 848"/>
              <a:gd name="T8" fmla="*/ 0 w 8544"/>
              <a:gd name="T9" fmla="*/ 848 h 848"/>
              <a:gd name="T10" fmla="*/ 0 w 8544"/>
              <a:gd name="T11" fmla="*/ 142 h 848"/>
              <a:gd name="T12" fmla="*/ 142 w 8544"/>
              <a:gd name="T13" fmla="*/ 0 h 8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544" h="848">
                <a:moveTo>
                  <a:pt x="142" y="0"/>
                </a:moveTo>
                <a:lnTo>
                  <a:pt x="8403" y="0"/>
                </a:lnTo>
                <a:cubicBezTo>
                  <a:pt x="8481" y="0"/>
                  <a:pt x="8544" y="64"/>
                  <a:pt x="8544" y="142"/>
                </a:cubicBezTo>
                <a:lnTo>
                  <a:pt x="8544" y="848"/>
                </a:lnTo>
                <a:lnTo>
                  <a:pt x="0" y="848"/>
                </a:lnTo>
                <a:lnTo>
                  <a:pt x="0" y="142"/>
                </a:lnTo>
                <a:cubicBezTo>
                  <a:pt x="0" y="64"/>
                  <a:pt x="64" y="0"/>
                  <a:pt x="142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" name="Rectangle 290">
            <a:extLst>
              <a:ext uri="{FF2B5EF4-FFF2-40B4-BE49-F238E27FC236}">
                <a16:creationId xmlns:a16="http://schemas.microsoft.com/office/drawing/2014/main" id="{9BE8A29F-D5AF-167D-F42C-8B4CF95B5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3308" y="1122625"/>
            <a:ext cx="374434" cy="178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 dirty="0">
                <a:solidFill>
                  <a:srgbClr val="FFFFFF"/>
                </a:solidFill>
                <a:latin typeface="+mn-lt"/>
                <a:cs typeface="Arial" panose="020B0604020202020204" pitchFamily="34" charset="0"/>
              </a:rPr>
              <a:t>Risks</a:t>
            </a:r>
            <a:endParaRPr lang="en-US" altLang="en-US" sz="2000" dirty="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" name="Rectangle 291">
            <a:extLst>
              <a:ext uri="{FF2B5EF4-FFF2-40B4-BE49-F238E27FC236}">
                <a16:creationId xmlns:a16="http://schemas.microsoft.com/office/drawing/2014/main" id="{DA5A29F6-8DCB-0BFB-421E-989A1BE16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096" y="1401610"/>
            <a:ext cx="3067319" cy="521363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Scope/Implementation changes during analysis phase.</a:t>
            </a:r>
          </a:p>
          <a:p>
            <a:endParaRPr lang="en-US" sz="10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" name="Rectangle 292">
            <a:extLst>
              <a:ext uri="{FF2B5EF4-FFF2-40B4-BE49-F238E27FC236}">
                <a16:creationId xmlns:a16="http://schemas.microsoft.com/office/drawing/2014/main" id="{E289DBF8-234D-9CE2-6CC3-2A6E2D7FA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071" y="1428688"/>
            <a:ext cx="2439054" cy="326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9144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00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Rectangle 293">
            <a:extLst>
              <a:ext uri="{FF2B5EF4-FFF2-40B4-BE49-F238E27FC236}">
                <a16:creationId xmlns:a16="http://schemas.microsoft.com/office/drawing/2014/main" id="{4523A5B1-3C1D-C4A8-95A0-61CFE6668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264" y="1674626"/>
            <a:ext cx="267427" cy="47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182880" tIns="91440" rIns="91440" bIns="9144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00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Rectangle 294">
            <a:extLst>
              <a:ext uri="{FF2B5EF4-FFF2-40B4-BE49-F238E27FC236}">
                <a16:creationId xmlns:a16="http://schemas.microsoft.com/office/drawing/2014/main" id="{62369817-F86E-7CFC-CF39-03271DEDB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442" y="2020008"/>
            <a:ext cx="3067319" cy="521363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Sign off on all deliverables by Gilbert Motors</a:t>
            </a:r>
          </a:p>
        </p:txBody>
      </p:sp>
      <p:sp>
        <p:nvSpPr>
          <p:cNvPr id="9" name="Rectangle 295">
            <a:extLst>
              <a:ext uri="{FF2B5EF4-FFF2-40B4-BE49-F238E27FC236}">
                <a16:creationId xmlns:a16="http://schemas.microsoft.com/office/drawing/2014/main" id="{180B81FE-3DAF-D458-AA44-9EBE420F2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030" y="2058018"/>
            <a:ext cx="2345307" cy="47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9144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00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0" name="Rectangle 298">
            <a:extLst>
              <a:ext uri="{FF2B5EF4-FFF2-40B4-BE49-F238E27FC236}">
                <a16:creationId xmlns:a16="http://schemas.microsoft.com/office/drawing/2014/main" id="{B7B6AA01-8811-91F6-6172-89EFB6606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030" y="2636761"/>
            <a:ext cx="3062386" cy="521363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Delay in sorting issues at infra for required software's</a:t>
            </a:r>
          </a:p>
        </p:txBody>
      </p:sp>
      <p:sp>
        <p:nvSpPr>
          <p:cNvPr id="11" name="Rectangle 299">
            <a:extLst>
              <a:ext uri="{FF2B5EF4-FFF2-40B4-BE49-F238E27FC236}">
                <a16:creationId xmlns:a16="http://schemas.microsoft.com/office/drawing/2014/main" id="{E9D3E7BD-44D3-2B60-27F6-F8FD1383D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958" y="2654333"/>
            <a:ext cx="249990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9144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00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2" name="Rectangle 300">
            <a:extLst>
              <a:ext uri="{FF2B5EF4-FFF2-40B4-BE49-F238E27FC236}">
                <a16:creationId xmlns:a16="http://schemas.microsoft.com/office/drawing/2014/main" id="{2E887369-7348-6395-C2D6-CF357A347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553" y="2903198"/>
            <a:ext cx="267427" cy="47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182880" tIns="91440" rIns="91440" bIns="9144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00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3" name="Rectangle 303">
            <a:extLst>
              <a:ext uri="{FF2B5EF4-FFF2-40B4-BE49-F238E27FC236}">
                <a16:creationId xmlns:a16="http://schemas.microsoft.com/office/drawing/2014/main" id="{ECFF680F-24F2-C4B2-D77B-6896F4B2C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553" y="3560336"/>
            <a:ext cx="267427" cy="47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182880" tIns="91440" rIns="91440" bIns="9144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00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4" name="Rectangle 306">
            <a:extLst>
              <a:ext uri="{FF2B5EF4-FFF2-40B4-BE49-F238E27FC236}">
                <a16:creationId xmlns:a16="http://schemas.microsoft.com/office/drawing/2014/main" id="{F1FDA65B-5087-88BB-DAFE-69049EC02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330" y="3472656"/>
            <a:ext cx="267427" cy="47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182880" tIns="91440" rIns="91440" bIns="9144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00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5" name="Rectangle 307">
            <a:extLst>
              <a:ext uri="{FF2B5EF4-FFF2-40B4-BE49-F238E27FC236}">
                <a16:creationId xmlns:a16="http://schemas.microsoft.com/office/drawing/2014/main" id="{3B70B292-60E1-F969-08B8-C97BC30EE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330" y="2944931"/>
            <a:ext cx="267427" cy="47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182880" tIns="91440" rIns="91440" bIns="9144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00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6" name="Rectangle 308">
            <a:extLst>
              <a:ext uri="{FF2B5EF4-FFF2-40B4-BE49-F238E27FC236}">
                <a16:creationId xmlns:a16="http://schemas.microsoft.com/office/drawing/2014/main" id="{B5A536D8-2124-5D97-C45A-41495F795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517" y="3258332"/>
            <a:ext cx="3068964" cy="52794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Unavailability of key stakeholders for approval and review</a:t>
            </a:r>
          </a:p>
        </p:txBody>
      </p:sp>
      <p:sp>
        <p:nvSpPr>
          <p:cNvPr id="17" name="Rectangle 309">
            <a:extLst>
              <a:ext uri="{FF2B5EF4-FFF2-40B4-BE49-F238E27FC236}">
                <a16:creationId xmlns:a16="http://schemas.microsoft.com/office/drawing/2014/main" id="{B6A8E47D-F186-94CD-AEF0-BF00D7C09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115" y="3236010"/>
            <a:ext cx="2489745" cy="326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9144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00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8" name="Rectangle 310">
            <a:extLst>
              <a:ext uri="{FF2B5EF4-FFF2-40B4-BE49-F238E27FC236}">
                <a16:creationId xmlns:a16="http://schemas.microsoft.com/office/drawing/2014/main" id="{83C1580D-56DD-A6A4-6FE4-00D8A15B6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330" y="3460627"/>
            <a:ext cx="267427" cy="47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182880" tIns="91440" rIns="91440" bIns="9144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00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9" name="Rectangle 311">
            <a:extLst>
              <a:ext uri="{FF2B5EF4-FFF2-40B4-BE49-F238E27FC236}">
                <a16:creationId xmlns:a16="http://schemas.microsoft.com/office/drawing/2014/main" id="{5A43546F-3099-AE29-F0BD-D5470CFE4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330" y="3602069"/>
            <a:ext cx="267427" cy="47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182880" tIns="91440" rIns="91440" bIns="9144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00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0" name="Freeform 472">
            <a:extLst>
              <a:ext uri="{FF2B5EF4-FFF2-40B4-BE49-F238E27FC236}">
                <a16:creationId xmlns:a16="http://schemas.microsoft.com/office/drawing/2014/main" id="{75401454-7E87-35FE-6547-C31E4039475E}"/>
              </a:ext>
            </a:extLst>
          </p:cNvPr>
          <p:cNvSpPr>
            <a:spLocks/>
          </p:cNvSpPr>
          <p:nvPr/>
        </p:nvSpPr>
        <p:spPr bwMode="auto">
          <a:xfrm>
            <a:off x="7300188" y="1002772"/>
            <a:ext cx="4491816" cy="343820"/>
          </a:xfrm>
          <a:custGeom>
            <a:avLst/>
            <a:gdLst>
              <a:gd name="T0" fmla="*/ 142 w 7808"/>
              <a:gd name="T1" fmla="*/ 0 h 848"/>
              <a:gd name="T2" fmla="*/ 7667 w 7808"/>
              <a:gd name="T3" fmla="*/ 0 h 848"/>
              <a:gd name="T4" fmla="*/ 7808 w 7808"/>
              <a:gd name="T5" fmla="*/ 142 h 848"/>
              <a:gd name="T6" fmla="*/ 7808 w 7808"/>
              <a:gd name="T7" fmla="*/ 848 h 848"/>
              <a:gd name="T8" fmla="*/ 0 w 7808"/>
              <a:gd name="T9" fmla="*/ 848 h 848"/>
              <a:gd name="T10" fmla="*/ 0 w 7808"/>
              <a:gd name="T11" fmla="*/ 142 h 848"/>
              <a:gd name="T12" fmla="*/ 142 w 7808"/>
              <a:gd name="T13" fmla="*/ 0 h 8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808" h="848">
                <a:moveTo>
                  <a:pt x="142" y="0"/>
                </a:moveTo>
                <a:lnTo>
                  <a:pt x="7667" y="0"/>
                </a:lnTo>
                <a:cubicBezTo>
                  <a:pt x="7745" y="0"/>
                  <a:pt x="7808" y="64"/>
                  <a:pt x="7808" y="142"/>
                </a:cubicBezTo>
                <a:lnTo>
                  <a:pt x="7808" y="848"/>
                </a:lnTo>
                <a:lnTo>
                  <a:pt x="0" y="848"/>
                </a:lnTo>
                <a:lnTo>
                  <a:pt x="0" y="142"/>
                </a:lnTo>
                <a:cubicBezTo>
                  <a:pt x="0" y="64"/>
                  <a:pt x="64" y="0"/>
                  <a:pt x="142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21" name="Rectangle 473">
            <a:extLst>
              <a:ext uri="{FF2B5EF4-FFF2-40B4-BE49-F238E27FC236}">
                <a16:creationId xmlns:a16="http://schemas.microsoft.com/office/drawing/2014/main" id="{DD0D665B-D455-5799-E169-A9F54CCBC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7818" y="1105255"/>
            <a:ext cx="2247504" cy="178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 b="1">
                <a:solidFill>
                  <a:srgbClr val="FFFFFF"/>
                </a:solidFill>
                <a:latin typeface="+mn-lt"/>
                <a:cs typeface="Arial" panose="020B0604020202020204" pitchFamily="34" charset="0"/>
              </a:rPr>
              <a:t>Mitigation</a:t>
            </a:r>
            <a:endParaRPr lang="en-US" altLang="en-US" sz="200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Rectangle 474">
            <a:extLst>
              <a:ext uri="{FF2B5EF4-FFF2-40B4-BE49-F238E27FC236}">
                <a16:creationId xmlns:a16="http://schemas.microsoft.com/office/drawing/2014/main" id="{574C1AC0-F707-A358-0B75-2EAEA62FE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7931" y="1390064"/>
            <a:ext cx="4504786" cy="532907"/>
          </a:xfrm>
          <a:prstGeom prst="rect">
            <a:avLst/>
          </a:prstGeom>
          <a:solidFill>
            <a:srgbClr val="ECEAE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 sz="1000">
                <a:solidFill>
                  <a:schemeClr val="bg1"/>
                </a:solidFill>
                <a:cs typeface="Arial" panose="020B0604020202020204" pitchFamily="34" charset="0"/>
              </a:rPr>
              <a:t>We will follow change management mechanism to accommodate scope changes</a:t>
            </a:r>
          </a:p>
        </p:txBody>
      </p:sp>
      <p:sp>
        <p:nvSpPr>
          <p:cNvPr id="23" name="Rectangle 477">
            <a:extLst>
              <a:ext uri="{FF2B5EF4-FFF2-40B4-BE49-F238E27FC236}">
                <a16:creationId xmlns:a16="http://schemas.microsoft.com/office/drawing/2014/main" id="{B73B8FBC-A81C-FA0C-E434-9C64462DC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5328" y="1978538"/>
            <a:ext cx="4504786" cy="572347"/>
          </a:xfrm>
          <a:prstGeom prst="rect">
            <a:avLst/>
          </a:prstGeom>
          <a:solidFill>
            <a:srgbClr val="ECEAE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Gilbert Motors will appoint SPOC and governance mechanism  to review / approve and accept  the deliverables on time</a:t>
            </a:r>
          </a:p>
        </p:txBody>
      </p:sp>
      <p:sp>
        <p:nvSpPr>
          <p:cNvPr id="24" name="Rectangle 481">
            <a:extLst>
              <a:ext uri="{FF2B5EF4-FFF2-40B4-BE49-F238E27FC236}">
                <a16:creationId xmlns:a16="http://schemas.microsoft.com/office/drawing/2014/main" id="{B7242497-C842-87D9-C92D-F936A00DA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7931" y="2585776"/>
            <a:ext cx="4504786" cy="572347"/>
          </a:xfrm>
          <a:prstGeom prst="rect">
            <a:avLst/>
          </a:prstGeom>
          <a:solidFill>
            <a:srgbClr val="ECEAE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Gilbert Motors will help to resolve issues with the infra</a:t>
            </a:r>
          </a:p>
        </p:txBody>
      </p:sp>
      <p:sp>
        <p:nvSpPr>
          <p:cNvPr id="25" name="Rectangle 493">
            <a:extLst>
              <a:ext uri="{FF2B5EF4-FFF2-40B4-BE49-F238E27FC236}">
                <a16:creationId xmlns:a16="http://schemas.microsoft.com/office/drawing/2014/main" id="{8DF3C206-F733-BDDB-BCAD-4AEA86878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7931" y="3206704"/>
            <a:ext cx="4504786" cy="579568"/>
          </a:xfrm>
          <a:prstGeom prst="rect">
            <a:avLst/>
          </a:prstGeom>
          <a:solidFill>
            <a:srgbClr val="ECEAE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Gilbert Motors  will ensure they will provide another stakeholder in absence of primary</a:t>
            </a:r>
          </a:p>
        </p:txBody>
      </p:sp>
      <p:sp>
        <p:nvSpPr>
          <p:cNvPr id="26" name="Rectangle 496">
            <a:extLst>
              <a:ext uri="{FF2B5EF4-FFF2-40B4-BE49-F238E27FC236}">
                <a16:creationId xmlns:a16="http://schemas.microsoft.com/office/drawing/2014/main" id="{2E3DB026-EC02-E927-1B53-47A6EB5AE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542" y="3899755"/>
            <a:ext cx="3062386" cy="521363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Delay in Initial setup of application due to unavailability of required software and license</a:t>
            </a:r>
          </a:p>
        </p:txBody>
      </p:sp>
      <p:sp>
        <p:nvSpPr>
          <p:cNvPr id="27" name="Rectangle 497">
            <a:extLst>
              <a:ext uri="{FF2B5EF4-FFF2-40B4-BE49-F238E27FC236}">
                <a16:creationId xmlns:a16="http://schemas.microsoft.com/office/drawing/2014/main" id="{F46A1153-12A4-25D8-321C-7C0FA515B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462" y="3852705"/>
            <a:ext cx="2409449" cy="47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9144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00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8" name="Rectangle 498">
            <a:extLst>
              <a:ext uri="{FF2B5EF4-FFF2-40B4-BE49-F238E27FC236}">
                <a16:creationId xmlns:a16="http://schemas.microsoft.com/office/drawing/2014/main" id="{36C0A22F-1DF2-A0FC-FC51-1983806ED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066" y="4092182"/>
            <a:ext cx="301404" cy="326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182880" tIns="91440" rIns="91440" bIns="9144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0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endParaRPr lang="en-US" altLang="en-US" sz="200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9" name="Rectangle 499">
            <a:extLst>
              <a:ext uri="{FF2B5EF4-FFF2-40B4-BE49-F238E27FC236}">
                <a16:creationId xmlns:a16="http://schemas.microsoft.com/office/drawing/2014/main" id="{44AE6AD2-FC70-A3B9-EA94-C3E180607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066" y="4238558"/>
            <a:ext cx="267427" cy="47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182880" tIns="91440" rIns="91440" bIns="9144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00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0" name="Rectangle 500">
            <a:extLst>
              <a:ext uri="{FF2B5EF4-FFF2-40B4-BE49-F238E27FC236}">
                <a16:creationId xmlns:a16="http://schemas.microsoft.com/office/drawing/2014/main" id="{3C474AD7-20D5-EA53-0970-34D76A8F6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055" y="4541178"/>
            <a:ext cx="3062386" cy="521363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Code logic change suggested as part of CR for the existing code after development phase is  completed </a:t>
            </a:r>
          </a:p>
          <a:p>
            <a:endParaRPr lang="en-US" sz="10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1" name="Rectangle 517">
            <a:extLst>
              <a:ext uri="{FF2B5EF4-FFF2-40B4-BE49-F238E27FC236}">
                <a16:creationId xmlns:a16="http://schemas.microsoft.com/office/drawing/2014/main" id="{C49277FE-77E5-2A16-CD10-988D4E923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5484" y="3875963"/>
            <a:ext cx="4521140" cy="599429"/>
          </a:xfrm>
          <a:prstGeom prst="rect">
            <a:avLst/>
          </a:prstGeom>
          <a:solidFill>
            <a:srgbClr val="ECEAE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Gilbert Motors would provide the required support to mitigate the risk by obtaining the required software and license</a:t>
            </a:r>
            <a:endParaRPr lang="en-US" sz="10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2" name="Rectangle 521">
            <a:extLst>
              <a:ext uri="{FF2B5EF4-FFF2-40B4-BE49-F238E27FC236}">
                <a16:creationId xmlns:a16="http://schemas.microsoft.com/office/drawing/2014/main" id="{B55BC716-6EB2-4EA5-C394-D4A87D396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916" y="4110766"/>
            <a:ext cx="62692" cy="386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00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3" name="Rectangle 523">
            <a:extLst>
              <a:ext uri="{FF2B5EF4-FFF2-40B4-BE49-F238E27FC236}">
                <a16:creationId xmlns:a16="http://schemas.microsoft.com/office/drawing/2014/main" id="{85DCBE28-C322-C5CD-428C-743AECC98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6208" y="4495757"/>
            <a:ext cx="4508518" cy="599429"/>
          </a:xfrm>
          <a:prstGeom prst="rect">
            <a:avLst/>
          </a:prstGeom>
          <a:solidFill>
            <a:srgbClr val="ECEAE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Will be considered as part Change Management process and added to schedule and cost Evaluate option of freeze period for applications </a:t>
            </a:r>
            <a:r>
              <a:rPr lang="en-US" altLang="en-US" sz="1000" dirty="0">
                <a:solidFill>
                  <a:schemeClr val="tx2"/>
                </a:solidFill>
                <a:cs typeface="Arial" panose="020B0604020202020204" pitchFamily="34" charset="0"/>
              </a:rPr>
              <a:t>in the phase</a:t>
            </a:r>
          </a:p>
        </p:txBody>
      </p:sp>
      <p:sp>
        <p:nvSpPr>
          <p:cNvPr id="34" name="Freeform 336">
            <a:extLst>
              <a:ext uri="{FF2B5EF4-FFF2-40B4-BE49-F238E27FC236}">
                <a16:creationId xmlns:a16="http://schemas.microsoft.com/office/drawing/2014/main" id="{3F0C980D-C430-180F-B21A-507A4BA8023C}"/>
              </a:ext>
            </a:extLst>
          </p:cNvPr>
          <p:cNvSpPr>
            <a:spLocks/>
          </p:cNvSpPr>
          <p:nvPr/>
        </p:nvSpPr>
        <p:spPr bwMode="auto">
          <a:xfrm>
            <a:off x="3870917" y="1033812"/>
            <a:ext cx="1634128" cy="317423"/>
          </a:xfrm>
          <a:custGeom>
            <a:avLst/>
            <a:gdLst>
              <a:gd name="T0" fmla="*/ 142 w 5232"/>
              <a:gd name="T1" fmla="*/ 0 h 848"/>
              <a:gd name="T2" fmla="*/ 5091 w 5232"/>
              <a:gd name="T3" fmla="*/ 0 h 848"/>
              <a:gd name="T4" fmla="*/ 5232 w 5232"/>
              <a:gd name="T5" fmla="*/ 142 h 848"/>
              <a:gd name="T6" fmla="*/ 5232 w 5232"/>
              <a:gd name="T7" fmla="*/ 848 h 848"/>
              <a:gd name="T8" fmla="*/ 0 w 5232"/>
              <a:gd name="T9" fmla="*/ 848 h 848"/>
              <a:gd name="T10" fmla="*/ 0 w 5232"/>
              <a:gd name="T11" fmla="*/ 142 h 848"/>
              <a:gd name="T12" fmla="*/ 142 w 5232"/>
              <a:gd name="T13" fmla="*/ 0 h 8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232" h="848">
                <a:moveTo>
                  <a:pt x="142" y="0"/>
                </a:moveTo>
                <a:lnTo>
                  <a:pt x="5091" y="0"/>
                </a:lnTo>
                <a:cubicBezTo>
                  <a:pt x="5169" y="0"/>
                  <a:pt x="5232" y="64"/>
                  <a:pt x="5232" y="142"/>
                </a:cubicBezTo>
                <a:lnTo>
                  <a:pt x="5232" y="848"/>
                </a:lnTo>
                <a:lnTo>
                  <a:pt x="0" y="848"/>
                </a:lnTo>
                <a:lnTo>
                  <a:pt x="0" y="142"/>
                </a:lnTo>
                <a:cubicBezTo>
                  <a:pt x="0" y="64"/>
                  <a:pt x="64" y="0"/>
                  <a:pt x="142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35" name="Rectangle 337">
            <a:extLst>
              <a:ext uri="{FF2B5EF4-FFF2-40B4-BE49-F238E27FC236}">
                <a16:creationId xmlns:a16="http://schemas.microsoft.com/office/drawing/2014/main" id="{0E2ACCDE-F09C-09B9-0170-61AF21AC7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2789" y="1112976"/>
            <a:ext cx="760109" cy="178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>
                <a:solidFill>
                  <a:srgbClr val="FFFFFF"/>
                </a:solidFill>
                <a:latin typeface="+mn-lt"/>
                <a:cs typeface="Arial" panose="020B0604020202020204" pitchFamily="34" charset="0"/>
              </a:rPr>
              <a:t>Severity</a:t>
            </a:r>
            <a:endParaRPr lang="en-US" altLang="en-US" sz="200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6" name="Rectangle 338">
            <a:extLst>
              <a:ext uri="{FF2B5EF4-FFF2-40B4-BE49-F238E27FC236}">
                <a16:creationId xmlns:a16="http://schemas.microsoft.com/office/drawing/2014/main" id="{F4497739-AA69-D5DC-0B86-AE98BC097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0917" y="1351235"/>
            <a:ext cx="1628411" cy="521363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37" name="Rectangle 339">
            <a:extLst>
              <a:ext uri="{FF2B5EF4-FFF2-40B4-BE49-F238E27FC236}">
                <a16:creationId xmlns:a16="http://schemas.microsoft.com/office/drawing/2014/main" id="{1919A5B3-7424-FCC8-5532-914C80CC0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0917" y="1969633"/>
            <a:ext cx="1628411" cy="521363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38" name="Rectangle 340">
            <a:extLst>
              <a:ext uri="{FF2B5EF4-FFF2-40B4-BE49-F238E27FC236}">
                <a16:creationId xmlns:a16="http://schemas.microsoft.com/office/drawing/2014/main" id="{F86396B4-8EE6-9CCB-6466-993249AD6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36" y="2586386"/>
            <a:ext cx="1628411" cy="521363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39" name="Rectangle 343">
            <a:extLst>
              <a:ext uri="{FF2B5EF4-FFF2-40B4-BE49-F238E27FC236}">
                <a16:creationId xmlns:a16="http://schemas.microsoft.com/office/drawing/2014/main" id="{28EC266E-C897-9497-903E-BE9C1549B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0917" y="3207957"/>
            <a:ext cx="1628411" cy="527940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0" name="Freeform 344">
            <a:extLst>
              <a:ext uri="{FF2B5EF4-FFF2-40B4-BE49-F238E27FC236}">
                <a16:creationId xmlns:a16="http://schemas.microsoft.com/office/drawing/2014/main" id="{AFB7F68C-0F9B-DFC1-81D6-2A3AA2C216C5}"/>
              </a:ext>
            </a:extLst>
          </p:cNvPr>
          <p:cNvSpPr>
            <a:spLocks/>
          </p:cNvSpPr>
          <p:nvPr/>
        </p:nvSpPr>
        <p:spPr bwMode="auto">
          <a:xfrm>
            <a:off x="3970995" y="1525571"/>
            <a:ext cx="274499" cy="179270"/>
          </a:xfrm>
          <a:custGeom>
            <a:avLst/>
            <a:gdLst>
              <a:gd name="T0" fmla="*/ 0 w 192"/>
              <a:gd name="T1" fmla="*/ 42 h 109"/>
              <a:gd name="T2" fmla="*/ 74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8 h 109"/>
              <a:gd name="T12" fmla="*/ 156 w 192"/>
              <a:gd name="T13" fmla="*/ 109 h 109"/>
              <a:gd name="T14" fmla="*/ 96 w 192"/>
              <a:gd name="T15" fmla="*/ 84 h 109"/>
              <a:gd name="T16" fmla="*/ 37 w 192"/>
              <a:gd name="T17" fmla="*/ 109 h 109"/>
              <a:gd name="T18" fmla="*/ 60 w 192"/>
              <a:gd name="T19" fmla="*/ 68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4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8"/>
                </a:lnTo>
                <a:lnTo>
                  <a:pt x="156" y="109"/>
                </a:lnTo>
                <a:lnTo>
                  <a:pt x="96" y="84"/>
                </a:lnTo>
                <a:lnTo>
                  <a:pt x="37" y="109"/>
                </a:lnTo>
                <a:lnTo>
                  <a:pt x="60" y="68"/>
                </a:lnTo>
                <a:lnTo>
                  <a:pt x="0" y="4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1" name="Freeform 345">
            <a:extLst>
              <a:ext uri="{FF2B5EF4-FFF2-40B4-BE49-F238E27FC236}">
                <a16:creationId xmlns:a16="http://schemas.microsoft.com/office/drawing/2014/main" id="{94519B98-0042-33BC-05A5-0526E5B3D1B4}"/>
              </a:ext>
            </a:extLst>
          </p:cNvPr>
          <p:cNvSpPr>
            <a:spLocks/>
          </p:cNvSpPr>
          <p:nvPr/>
        </p:nvSpPr>
        <p:spPr bwMode="auto">
          <a:xfrm>
            <a:off x="3970995" y="1525571"/>
            <a:ext cx="274499" cy="179270"/>
          </a:xfrm>
          <a:custGeom>
            <a:avLst/>
            <a:gdLst>
              <a:gd name="T0" fmla="*/ 0 w 192"/>
              <a:gd name="T1" fmla="*/ 42 h 109"/>
              <a:gd name="T2" fmla="*/ 74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8 h 109"/>
              <a:gd name="T12" fmla="*/ 156 w 192"/>
              <a:gd name="T13" fmla="*/ 109 h 109"/>
              <a:gd name="T14" fmla="*/ 96 w 192"/>
              <a:gd name="T15" fmla="*/ 84 h 109"/>
              <a:gd name="T16" fmla="*/ 37 w 192"/>
              <a:gd name="T17" fmla="*/ 109 h 109"/>
              <a:gd name="T18" fmla="*/ 60 w 192"/>
              <a:gd name="T19" fmla="*/ 68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4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8"/>
                </a:lnTo>
                <a:lnTo>
                  <a:pt x="156" y="109"/>
                </a:lnTo>
                <a:lnTo>
                  <a:pt x="96" y="84"/>
                </a:lnTo>
                <a:lnTo>
                  <a:pt x="37" y="109"/>
                </a:lnTo>
                <a:lnTo>
                  <a:pt x="60" y="68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2" name="Freeform 346">
            <a:extLst>
              <a:ext uri="{FF2B5EF4-FFF2-40B4-BE49-F238E27FC236}">
                <a16:creationId xmlns:a16="http://schemas.microsoft.com/office/drawing/2014/main" id="{510654F0-63C1-1D53-579F-9EF945B3701E}"/>
              </a:ext>
            </a:extLst>
          </p:cNvPr>
          <p:cNvSpPr>
            <a:spLocks/>
          </p:cNvSpPr>
          <p:nvPr/>
        </p:nvSpPr>
        <p:spPr bwMode="auto">
          <a:xfrm>
            <a:off x="4261220" y="1525571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8 h 109"/>
              <a:gd name="T12" fmla="*/ 155 w 192"/>
              <a:gd name="T13" fmla="*/ 109 h 109"/>
              <a:gd name="T14" fmla="*/ 96 w 192"/>
              <a:gd name="T15" fmla="*/ 84 h 109"/>
              <a:gd name="T16" fmla="*/ 37 w 192"/>
              <a:gd name="T17" fmla="*/ 109 h 109"/>
              <a:gd name="T18" fmla="*/ 59 w 192"/>
              <a:gd name="T19" fmla="*/ 68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8"/>
                </a:lnTo>
                <a:lnTo>
                  <a:pt x="155" y="109"/>
                </a:lnTo>
                <a:lnTo>
                  <a:pt x="96" y="84"/>
                </a:lnTo>
                <a:lnTo>
                  <a:pt x="37" y="109"/>
                </a:lnTo>
                <a:lnTo>
                  <a:pt x="59" y="68"/>
                </a:lnTo>
                <a:lnTo>
                  <a:pt x="0" y="4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3" name="Freeform 347">
            <a:extLst>
              <a:ext uri="{FF2B5EF4-FFF2-40B4-BE49-F238E27FC236}">
                <a16:creationId xmlns:a16="http://schemas.microsoft.com/office/drawing/2014/main" id="{88A06D3E-3D4C-32D1-DF61-3356891FD11C}"/>
              </a:ext>
            </a:extLst>
          </p:cNvPr>
          <p:cNvSpPr>
            <a:spLocks/>
          </p:cNvSpPr>
          <p:nvPr/>
        </p:nvSpPr>
        <p:spPr bwMode="auto">
          <a:xfrm>
            <a:off x="4261220" y="1525571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8 h 109"/>
              <a:gd name="T12" fmla="*/ 155 w 192"/>
              <a:gd name="T13" fmla="*/ 109 h 109"/>
              <a:gd name="T14" fmla="*/ 96 w 192"/>
              <a:gd name="T15" fmla="*/ 84 h 109"/>
              <a:gd name="T16" fmla="*/ 37 w 192"/>
              <a:gd name="T17" fmla="*/ 109 h 109"/>
              <a:gd name="T18" fmla="*/ 59 w 192"/>
              <a:gd name="T19" fmla="*/ 68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8"/>
                </a:lnTo>
                <a:lnTo>
                  <a:pt x="155" y="109"/>
                </a:lnTo>
                <a:lnTo>
                  <a:pt x="96" y="84"/>
                </a:lnTo>
                <a:lnTo>
                  <a:pt x="37" y="109"/>
                </a:lnTo>
                <a:lnTo>
                  <a:pt x="59" y="68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4" name="Freeform 348">
            <a:extLst>
              <a:ext uri="{FF2B5EF4-FFF2-40B4-BE49-F238E27FC236}">
                <a16:creationId xmlns:a16="http://schemas.microsoft.com/office/drawing/2014/main" id="{E284192C-99F5-77E9-D50B-03BF7CFA1FC1}"/>
              </a:ext>
            </a:extLst>
          </p:cNvPr>
          <p:cNvSpPr>
            <a:spLocks/>
          </p:cNvSpPr>
          <p:nvPr/>
        </p:nvSpPr>
        <p:spPr bwMode="auto">
          <a:xfrm>
            <a:off x="4551447" y="1525571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8 w 192"/>
              <a:gd name="T7" fmla="*/ 42 h 109"/>
              <a:gd name="T8" fmla="*/ 192 w 192"/>
              <a:gd name="T9" fmla="*/ 42 h 109"/>
              <a:gd name="T10" fmla="*/ 132 w 192"/>
              <a:gd name="T11" fmla="*/ 68 h 109"/>
              <a:gd name="T12" fmla="*/ 155 w 192"/>
              <a:gd name="T13" fmla="*/ 109 h 109"/>
              <a:gd name="T14" fmla="*/ 96 w 192"/>
              <a:gd name="T15" fmla="*/ 84 h 109"/>
              <a:gd name="T16" fmla="*/ 36 w 192"/>
              <a:gd name="T17" fmla="*/ 109 h 109"/>
              <a:gd name="T18" fmla="*/ 59 w 192"/>
              <a:gd name="T19" fmla="*/ 68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8" y="42"/>
                </a:lnTo>
                <a:lnTo>
                  <a:pt x="192" y="42"/>
                </a:lnTo>
                <a:lnTo>
                  <a:pt x="132" y="68"/>
                </a:lnTo>
                <a:lnTo>
                  <a:pt x="155" y="109"/>
                </a:lnTo>
                <a:lnTo>
                  <a:pt x="96" y="84"/>
                </a:lnTo>
                <a:lnTo>
                  <a:pt x="36" y="109"/>
                </a:lnTo>
                <a:lnTo>
                  <a:pt x="59" y="68"/>
                </a:lnTo>
                <a:lnTo>
                  <a:pt x="0" y="4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5" name="Freeform 349">
            <a:extLst>
              <a:ext uri="{FF2B5EF4-FFF2-40B4-BE49-F238E27FC236}">
                <a16:creationId xmlns:a16="http://schemas.microsoft.com/office/drawing/2014/main" id="{D1FA5279-6A7C-4E3F-F0B5-A98428EA5B84}"/>
              </a:ext>
            </a:extLst>
          </p:cNvPr>
          <p:cNvSpPr>
            <a:spLocks/>
          </p:cNvSpPr>
          <p:nvPr/>
        </p:nvSpPr>
        <p:spPr bwMode="auto">
          <a:xfrm>
            <a:off x="4551447" y="1525571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8 w 192"/>
              <a:gd name="T7" fmla="*/ 42 h 109"/>
              <a:gd name="T8" fmla="*/ 192 w 192"/>
              <a:gd name="T9" fmla="*/ 42 h 109"/>
              <a:gd name="T10" fmla="*/ 132 w 192"/>
              <a:gd name="T11" fmla="*/ 68 h 109"/>
              <a:gd name="T12" fmla="*/ 155 w 192"/>
              <a:gd name="T13" fmla="*/ 109 h 109"/>
              <a:gd name="T14" fmla="*/ 96 w 192"/>
              <a:gd name="T15" fmla="*/ 84 h 109"/>
              <a:gd name="T16" fmla="*/ 36 w 192"/>
              <a:gd name="T17" fmla="*/ 109 h 109"/>
              <a:gd name="T18" fmla="*/ 59 w 192"/>
              <a:gd name="T19" fmla="*/ 68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8" y="42"/>
                </a:lnTo>
                <a:lnTo>
                  <a:pt x="192" y="42"/>
                </a:lnTo>
                <a:lnTo>
                  <a:pt x="132" y="68"/>
                </a:lnTo>
                <a:lnTo>
                  <a:pt x="155" y="109"/>
                </a:lnTo>
                <a:lnTo>
                  <a:pt x="96" y="84"/>
                </a:lnTo>
                <a:lnTo>
                  <a:pt x="36" y="109"/>
                </a:lnTo>
                <a:lnTo>
                  <a:pt x="59" y="68"/>
                </a:lnTo>
                <a:lnTo>
                  <a:pt x="0" y="42"/>
                </a:lnTo>
                <a:close/>
              </a:path>
            </a:pathLst>
          </a:custGeom>
          <a:solidFill>
            <a:schemeClr val="accent4"/>
          </a:solidFill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6" name="Freeform 350">
            <a:extLst>
              <a:ext uri="{FF2B5EF4-FFF2-40B4-BE49-F238E27FC236}">
                <a16:creationId xmlns:a16="http://schemas.microsoft.com/office/drawing/2014/main" id="{722C8487-6B9E-08D9-20AD-E641AD8729D2}"/>
              </a:ext>
            </a:extLst>
          </p:cNvPr>
          <p:cNvSpPr>
            <a:spLocks/>
          </p:cNvSpPr>
          <p:nvPr/>
        </p:nvSpPr>
        <p:spPr bwMode="auto">
          <a:xfrm>
            <a:off x="4840243" y="1525571"/>
            <a:ext cx="270210" cy="179270"/>
          </a:xfrm>
          <a:custGeom>
            <a:avLst/>
            <a:gdLst>
              <a:gd name="T0" fmla="*/ 0 w 189"/>
              <a:gd name="T1" fmla="*/ 42 h 109"/>
              <a:gd name="T2" fmla="*/ 72 w 189"/>
              <a:gd name="T3" fmla="*/ 42 h 109"/>
              <a:gd name="T4" fmla="*/ 94 w 189"/>
              <a:gd name="T5" fmla="*/ 0 h 109"/>
              <a:gd name="T6" fmla="*/ 117 w 189"/>
              <a:gd name="T7" fmla="*/ 42 h 109"/>
              <a:gd name="T8" fmla="*/ 189 w 189"/>
              <a:gd name="T9" fmla="*/ 42 h 109"/>
              <a:gd name="T10" fmla="*/ 130 w 189"/>
              <a:gd name="T11" fmla="*/ 68 h 109"/>
              <a:gd name="T12" fmla="*/ 153 w 189"/>
              <a:gd name="T13" fmla="*/ 109 h 109"/>
              <a:gd name="T14" fmla="*/ 94 w 189"/>
              <a:gd name="T15" fmla="*/ 84 h 109"/>
              <a:gd name="T16" fmla="*/ 36 w 189"/>
              <a:gd name="T17" fmla="*/ 109 h 109"/>
              <a:gd name="T18" fmla="*/ 58 w 189"/>
              <a:gd name="T19" fmla="*/ 68 h 109"/>
              <a:gd name="T20" fmla="*/ 0 w 189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9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7" y="42"/>
                </a:lnTo>
                <a:lnTo>
                  <a:pt x="189" y="42"/>
                </a:lnTo>
                <a:lnTo>
                  <a:pt x="130" y="68"/>
                </a:lnTo>
                <a:lnTo>
                  <a:pt x="153" y="109"/>
                </a:lnTo>
                <a:lnTo>
                  <a:pt x="94" y="84"/>
                </a:lnTo>
                <a:lnTo>
                  <a:pt x="36" y="109"/>
                </a:lnTo>
                <a:lnTo>
                  <a:pt x="58" y="68"/>
                </a:lnTo>
                <a:lnTo>
                  <a:pt x="0" y="4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7" name="Freeform 351">
            <a:extLst>
              <a:ext uri="{FF2B5EF4-FFF2-40B4-BE49-F238E27FC236}">
                <a16:creationId xmlns:a16="http://schemas.microsoft.com/office/drawing/2014/main" id="{A4C3C9BC-F928-CFEF-EEB8-393ECEA474EB}"/>
              </a:ext>
            </a:extLst>
          </p:cNvPr>
          <p:cNvSpPr>
            <a:spLocks/>
          </p:cNvSpPr>
          <p:nvPr/>
        </p:nvSpPr>
        <p:spPr bwMode="auto">
          <a:xfrm>
            <a:off x="4840243" y="1525571"/>
            <a:ext cx="270210" cy="179270"/>
          </a:xfrm>
          <a:custGeom>
            <a:avLst/>
            <a:gdLst>
              <a:gd name="T0" fmla="*/ 0 w 189"/>
              <a:gd name="T1" fmla="*/ 42 h 109"/>
              <a:gd name="T2" fmla="*/ 72 w 189"/>
              <a:gd name="T3" fmla="*/ 42 h 109"/>
              <a:gd name="T4" fmla="*/ 94 w 189"/>
              <a:gd name="T5" fmla="*/ 0 h 109"/>
              <a:gd name="T6" fmla="*/ 117 w 189"/>
              <a:gd name="T7" fmla="*/ 42 h 109"/>
              <a:gd name="T8" fmla="*/ 189 w 189"/>
              <a:gd name="T9" fmla="*/ 42 h 109"/>
              <a:gd name="T10" fmla="*/ 130 w 189"/>
              <a:gd name="T11" fmla="*/ 68 h 109"/>
              <a:gd name="T12" fmla="*/ 153 w 189"/>
              <a:gd name="T13" fmla="*/ 109 h 109"/>
              <a:gd name="T14" fmla="*/ 94 w 189"/>
              <a:gd name="T15" fmla="*/ 84 h 109"/>
              <a:gd name="T16" fmla="*/ 36 w 189"/>
              <a:gd name="T17" fmla="*/ 109 h 109"/>
              <a:gd name="T18" fmla="*/ 58 w 189"/>
              <a:gd name="T19" fmla="*/ 68 h 109"/>
              <a:gd name="T20" fmla="*/ 0 w 189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9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7" y="42"/>
                </a:lnTo>
                <a:lnTo>
                  <a:pt x="189" y="42"/>
                </a:lnTo>
                <a:lnTo>
                  <a:pt x="130" y="68"/>
                </a:lnTo>
                <a:lnTo>
                  <a:pt x="153" y="109"/>
                </a:lnTo>
                <a:lnTo>
                  <a:pt x="94" y="84"/>
                </a:lnTo>
                <a:lnTo>
                  <a:pt x="36" y="109"/>
                </a:lnTo>
                <a:lnTo>
                  <a:pt x="58" y="68"/>
                </a:lnTo>
                <a:lnTo>
                  <a:pt x="0" y="42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8" name="Freeform 352">
            <a:extLst>
              <a:ext uri="{FF2B5EF4-FFF2-40B4-BE49-F238E27FC236}">
                <a16:creationId xmlns:a16="http://schemas.microsoft.com/office/drawing/2014/main" id="{28F2272A-3F7A-3D3F-F00E-D4112ECE1088}"/>
              </a:ext>
            </a:extLst>
          </p:cNvPr>
          <p:cNvSpPr>
            <a:spLocks/>
          </p:cNvSpPr>
          <p:nvPr/>
        </p:nvSpPr>
        <p:spPr bwMode="auto">
          <a:xfrm>
            <a:off x="5130469" y="1525571"/>
            <a:ext cx="268780" cy="179270"/>
          </a:xfrm>
          <a:custGeom>
            <a:avLst/>
            <a:gdLst>
              <a:gd name="T0" fmla="*/ 0 w 188"/>
              <a:gd name="T1" fmla="*/ 42 h 109"/>
              <a:gd name="T2" fmla="*/ 72 w 188"/>
              <a:gd name="T3" fmla="*/ 42 h 109"/>
              <a:gd name="T4" fmla="*/ 94 w 188"/>
              <a:gd name="T5" fmla="*/ 0 h 109"/>
              <a:gd name="T6" fmla="*/ 116 w 188"/>
              <a:gd name="T7" fmla="*/ 42 h 109"/>
              <a:gd name="T8" fmla="*/ 188 w 188"/>
              <a:gd name="T9" fmla="*/ 42 h 109"/>
              <a:gd name="T10" fmla="*/ 130 w 188"/>
              <a:gd name="T11" fmla="*/ 68 h 109"/>
              <a:gd name="T12" fmla="*/ 152 w 188"/>
              <a:gd name="T13" fmla="*/ 109 h 109"/>
              <a:gd name="T14" fmla="*/ 94 w 188"/>
              <a:gd name="T15" fmla="*/ 84 h 109"/>
              <a:gd name="T16" fmla="*/ 36 w 188"/>
              <a:gd name="T17" fmla="*/ 109 h 109"/>
              <a:gd name="T18" fmla="*/ 58 w 188"/>
              <a:gd name="T19" fmla="*/ 68 h 109"/>
              <a:gd name="T20" fmla="*/ 0 w 188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8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6" y="42"/>
                </a:lnTo>
                <a:lnTo>
                  <a:pt x="188" y="42"/>
                </a:lnTo>
                <a:lnTo>
                  <a:pt x="130" y="68"/>
                </a:lnTo>
                <a:lnTo>
                  <a:pt x="152" y="109"/>
                </a:lnTo>
                <a:lnTo>
                  <a:pt x="94" y="84"/>
                </a:lnTo>
                <a:lnTo>
                  <a:pt x="36" y="109"/>
                </a:lnTo>
                <a:lnTo>
                  <a:pt x="58" y="68"/>
                </a:lnTo>
                <a:lnTo>
                  <a:pt x="0" y="4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49" name="Freeform 353">
            <a:extLst>
              <a:ext uri="{FF2B5EF4-FFF2-40B4-BE49-F238E27FC236}">
                <a16:creationId xmlns:a16="http://schemas.microsoft.com/office/drawing/2014/main" id="{6D989148-22AF-ADB1-5F85-00EAC2189049}"/>
              </a:ext>
            </a:extLst>
          </p:cNvPr>
          <p:cNvSpPr>
            <a:spLocks/>
          </p:cNvSpPr>
          <p:nvPr/>
        </p:nvSpPr>
        <p:spPr bwMode="auto">
          <a:xfrm>
            <a:off x="5130469" y="1525571"/>
            <a:ext cx="268780" cy="179270"/>
          </a:xfrm>
          <a:custGeom>
            <a:avLst/>
            <a:gdLst>
              <a:gd name="T0" fmla="*/ 0 w 188"/>
              <a:gd name="T1" fmla="*/ 42 h 109"/>
              <a:gd name="T2" fmla="*/ 72 w 188"/>
              <a:gd name="T3" fmla="*/ 42 h 109"/>
              <a:gd name="T4" fmla="*/ 94 w 188"/>
              <a:gd name="T5" fmla="*/ 0 h 109"/>
              <a:gd name="T6" fmla="*/ 116 w 188"/>
              <a:gd name="T7" fmla="*/ 42 h 109"/>
              <a:gd name="T8" fmla="*/ 188 w 188"/>
              <a:gd name="T9" fmla="*/ 42 h 109"/>
              <a:gd name="T10" fmla="*/ 130 w 188"/>
              <a:gd name="T11" fmla="*/ 68 h 109"/>
              <a:gd name="T12" fmla="*/ 152 w 188"/>
              <a:gd name="T13" fmla="*/ 109 h 109"/>
              <a:gd name="T14" fmla="*/ 94 w 188"/>
              <a:gd name="T15" fmla="*/ 84 h 109"/>
              <a:gd name="T16" fmla="*/ 36 w 188"/>
              <a:gd name="T17" fmla="*/ 109 h 109"/>
              <a:gd name="T18" fmla="*/ 58 w 188"/>
              <a:gd name="T19" fmla="*/ 68 h 109"/>
              <a:gd name="T20" fmla="*/ 0 w 188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8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6" y="42"/>
                </a:lnTo>
                <a:lnTo>
                  <a:pt x="188" y="42"/>
                </a:lnTo>
                <a:lnTo>
                  <a:pt x="130" y="68"/>
                </a:lnTo>
                <a:lnTo>
                  <a:pt x="152" y="109"/>
                </a:lnTo>
                <a:lnTo>
                  <a:pt x="94" y="84"/>
                </a:lnTo>
                <a:lnTo>
                  <a:pt x="36" y="109"/>
                </a:lnTo>
                <a:lnTo>
                  <a:pt x="58" y="68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50" name="Freeform 354">
            <a:extLst>
              <a:ext uri="{FF2B5EF4-FFF2-40B4-BE49-F238E27FC236}">
                <a16:creationId xmlns:a16="http://schemas.microsoft.com/office/drawing/2014/main" id="{679E4D6B-80CA-466B-8474-46E702D42230}"/>
              </a:ext>
            </a:extLst>
          </p:cNvPr>
          <p:cNvSpPr>
            <a:spLocks/>
          </p:cNvSpPr>
          <p:nvPr/>
        </p:nvSpPr>
        <p:spPr bwMode="auto">
          <a:xfrm>
            <a:off x="3970995" y="2137390"/>
            <a:ext cx="274499" cy="179270"/>
          </a:xfrm>
          <a:custGeom>
            <a:avLst/>
            <a:gdLst>
              <a:gd name="T0" fmla="*/ 0 w 192"/>
              <a:gd name="T1" fmla="*/ 42 h 109"/>
              <a:gd name="T2" fmla="*/ 74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7 h 109"/>
              <a:gd name="T12" fmla="*/ 156 w 192"/>
              <a:gd name="T13" fmla="*/ 109 h 109"/>
              <a:gd name="T14" fmla="*/ 96 w 192"/>
              <a:gd name="T15" fmla="*/ 83 h 109"/>
              <a:gd name="T16" fmla="*/ 37 w 192"/>
              <a:gd name="T17" fmla="*/ 109 h 109"/>
              <a:gd name="T18" fmla="*/ 60 w 192"/>
              <a:gd name="T19" fmla="*/ 67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4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7"/>
                </a:lnTo>
                <a:lnTo>
                  <a:pt x="156" y="109"/>
                </a:lnTo>
                <a:lnTo>
                  <a:pt x="96" y="83"/>
                </a:lnTo>
                <a:lnTo>
                  <a:pt x="37" y="109"/>
                </a:lnTo>
                <a:lnTo>
                  <a:pt x="60" y="67"/>
                </a:lnTo>
                <a:lnTo>
                  <a:pt x="0" y="4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51" name="Freeform 355">
            <a:extLst>
              <a:ext uri="{FF2B5EF4-FFF2-40B4-BE49-F238E27FC236}">
                <a16:creationId xmlns:a16="http://schemas.microsoft.com/office/drawing/2014/main" id="{F5756EE0-DCAC-93C9-9E9B-EE5DC6CA2625}"/>
              </a:ext>
            </a:extLst>
          </p:cNvPr>
          <p:cNvSpPr>
            <a:spLocks/>
          </p:cNvSpPr>
          <p:nvPr/>
        </p:nvSpPr>
        <p:spPr bwMode="auto">
          <a:xfrm>
            <a:off x="3970995" y="2137390"/>
            <a:ext cx="274499" cy="179270"/>
          </a:xfrm>
          <a:custGeom>
            <a:avLst/>
            <a:gdLst>
              <a:gd name="T0" fmla="*/ 0 w 192"/>
              <a:gd name="T1" fmla="*/ 42 h 109"/>
              <a:gd name="T2" fmla="*/ 74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7 h 109"/>
              <a:gd name="T12" fmla="*/ 156 w 192"/>
              <a:gd name="T13" fmla="*/ 109 h 109"/>
              <a:gd name="T14" fmla="*/ 96 w 192"/>
              <a:gd name="T15" fmla="*/ 83 h 109"/>
              <a:gd name="T16" fmla="*/ 37 w 192"/>
              <a:gd name="T17" fmla="*/ 109 h 109"/>
              <a:gd name="T18" fmla="*/ 60 w 192"/>
              <a:gd name="T19" fmla="*/ 67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4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7"/>
                </a:lnTo>
                <a:lnTo>
                  <a:pt x="156" y="109"/>
                </a:lnTo>
                <a:lnTo>
                  <a:pt x="96" y="83"/>
                </a:lnTo>
                <a:lnTo>
                  <a:pt x="37" y="109"/>
                </a:lnTo>
                <a:lnTo>
                  <a:pt x="60" y="67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52" name="Freeform 356">
            <a:extLst>
              <a:ext uri="{FF2B5EF4-FFF2-40B4-BE49-F238E27FC236}">
                <a16:creationId xmlns:a16="http://schemas.microsoft.com/office/drawing/2014/main" id="{CA7F3546-D76B-E7A8-1063-B35C7C98E35A}"/>
              </a:ext>
            </a:extLst>
          </p:cNvPr>
          <p:cNvSpPr>
            <a:spLocks/>
          </p:cNvSpPr>
          <p:nvPr/>
        </p:nvSpPr>
        <p:spPr bwMode="auto">
          <a:xfrm>
            <a:off x="4261220" y="2137390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7 h 109"/>
              <a:gd name="T12" fmla="*/ 155 w 192"/>
              <a:gd name="T13" fmla="*/ 109 h 109"/>
              <a:gd name="T14" fmla="*/ 96 w 192"/>
              <a:gd name="T15" fmla="*/ 83 h 109"/>
              <a:gd name="T16" fmla="*/ 37 w 192"/>
              <a:gd name="T17" fmla="*/ 109 h 109"/>
              <a:gd name="T18" fmla="*/ 59 w 192"/>
              <a:gd name="T19" fmla="*/ 67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7"/>
                </a:lnTo>
                <a:lnTo>
                  <a:pt x="155" y="109"/>
                </a:lnTo>
                <a:lnTo>
                  <a:pt x="96" y="83"/>
                </a:lnTo>
                <a:lnTo>
                  <a:pt x="37" y="109"/>
                </a:lnTo>
                <a:lnTo>
                  <a:pt x="59" y="67"/>
                </a:lnTo>
                <a:lnTo>
                  <a:pt x="0" y="4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53" name="Freeform 357">
            <a:extLst>
              <a:ext uri="{FF2B5EF4-FFF2-40B4-BE49-F238E27FC236}">
                <a16:creationId xmlns:a16="http://schemas.microsoft.com/office/drawing/2014/main" id="{229D7C9D-88A2-1E20-DD67-7C0D32186FA9}"/>
              </a:ext>
            </a:extLst>
          </p:cNvPr>
          <p:cNvSpPr>
            <a:spLocks/>
          </p:cNvSpPr>
          <p:nvPr/>
        </p:nvSpPr>
        <p:spPr bwMode="auto">
          <a:xfrm>
            <a:off x="4261220" y="2137390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7 h 109"/>
              <a:gd name="T12" fmla="*/ 155 w 192"/>
              <a:gd name="T13" fmla="*/ 109 h 109"/>
              <a:gd name="T14" fmla="*/ 96 w 192"/>
              <a:gd name="T15" fmla="*/ 83 h 109"/>
              <a:gd name="T16" fmla="*/ 37 w 192"/>
              <a:gd name="T17" fmla="*/ 109 h 109"/>
              <a:gd name="T18" fmla="*/ 59 w 192"/>
              <a:gd name="T19" fmla="*/ 67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7"/>
                </a:lnTo>
                <a:lnTo>
                  <a:pt x="155" y="109"/>
                </a:lnTo>
                <a:lnTo>
                  <a:pt x="96" y="83"/>
                </a:lnTo>
                <a:lnTo>
                  <a:pt x="37" y="109"/>
                </a:lnTo>
                <a:lnTo>
                  <a:pt x="59" y="67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54" name="Freeform 358">
            <a:extLst>
              <a:ext uri="{FF2B5EF4-FFF2-40B4-BE49-F238E27FC236}">
                <a16:creationId xmlns:a16="http://schemas.microsoft.com/office/drawing/2014/main" id="{46C879B4-0E62-5705-E7CA-4199778A9F2C}"/>
              </a:ext>
            </a:extLst>
          </p:cNvPr>
          <p:cNvSpPr>
            <a:spLocks/>
          </p:cNvSpPr>
          <p:nvPr/>
        </p:nvSpPr>
        <p:spPr bwMode="auto">
          <a:xfrm>
            <a:off x="4551447" y="2137390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8 w 192"/>
              <a:gd name="T7" fmla="*/ 42 h 109"/>
              <a:gd name="T8" fmla="*/ 192 w 192"/>
              <a:gd name="T9" fmla="*/ 42 h 109"/>
              <a:gd name="T10" fmla="*/ 132 w 192"/>
              <a:gd name="T11" fmla="*/ 67 h 109"/>
              <a:gd name="T12" fmla="*/ 155 w 192"/>
              <a:gd name="T13" fmla="*/ 109 h 109"/>
              <a:gd name="T14" fmla="*/ 96 w 192"/>
              <a:gd name="T15" fmla="*/ 83 h 109"/>
              <a:gd name="T16" fmla="*/ 36 w 192"/>
              <a:gd name="T17" fmla="*/ 109 h 109"/>
              <a:gd name="T18" fmla="*/ 59 w 192"/>
              <a:gd name="T19" fmla="*/ 67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8" y="42"/>
                </a:lnTo>
                <a:lnTo>
                  <a:pt x="192" y="42"/>
                </a:lnTo>
                <a:lnTo>
                  <a:pt x="132" y="67"/>
                </a:lnTo>
                <a:lnTo>
                  <a:pt x="155" y="109"/>
                </a:lnTo>
                <a:lnTo>
                  <a:pt x="96" y="83"/>
                </a:lnTo>
                <a:lnTo>
                  <a:pt x="36" y="109"/>
                </a:lnTo>
                <a:lnTo>
                  <a:pt x="59" y="67"/>
                </a:lnTo>
                <a:lnTo>
                  <a:pt x="0" y="4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55" name="Freeform 359">
            <a:extLst>
              <a:ext uri="{FF2B5EF4-FFF2-40B4-BE49-F238E27FC236}">
                <a16:creationId xmlns:a16="http://schemas.microsoft.com/office/drawing/2014/main" id="{778BCF1B-8E7A-10D0-A8AB-7E54BCE33582}"/>
              </a:ext>
            </a:extLst>
          </p:cNvPr>
          <p:cNvSpPr>
            <a:spLocks/>
          </p:cNvSpPr>
          <p:nvPr/>
        </p:nvSpPr>
        <p:spPr bwMode="auto">
          <a:xfrm>
            <a:off x="4551447" y="2137390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8 w 192"/>
              <a:gd name="T7" fmla="*/ 42 h 109"/>
              <a:gd name="T8" fmla="*/ 192 w 192"/>
              <a:gd name="T9" fmla="*/ 42 h 109"/>
              <a:gd name="T10" fmla="*/ 132 w 192"/>
              <a:gd name="T11" fmla="*/ 67 h 109"/>
              <a:gd name="T12" fmla="*/ 155 w 192"/>
              <a:gd name="T13" fmla="*/ 109 h 109"/>
              <a:gd name="T14" fmla="*/ 96 w 192"/>
              <a:gd name="T15" fmla="*/ 83 h 109"/>
              <a:gd name="T16" fmla="*/ 36 w 192"/>
              <a:gd name="T17" fmla="*/ 109 h 109"/>
              <a:gd name="T18" fmla="*/ 59 w 192"/>
              <a:gd name="T19" fmla="*/ 67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8" y="42"/>
                </a:lnTo>
                <a:lnTo>
                  <a:pt x="192" y="42"/>
                </a:lnTo>
                <a:lnTo>
                  <a:pt x="132" y="67"/>
                </a:lnTo>
                <a:lnTo>
                  <a:pt x="155" y="109"/>
                </a:lnTo>
                <a:lnTo>
                  <a:pt x="96" y="83"/>
                </a:lnTo>
                <a:lnTo>
                  <a:pt x="36" y="109"/>
                </a:lnTo>
                <a:lnTo>
                  <a:pt x="59" y="67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56" name="Freeform 360">
            <a:extLst>
              <a:ext uri="{FF2B5EF4-FFF2-40B4-BE49-F238E27FC236}">
                <a16:creationId xmlns:a16="http://schemas.microsoft.com/office/drawing/2014/main" id="{BA1EFE79-144B-5F85-FE69-A0C597C2D795}"/>
              </a:ext>
            </a:extLst>
          </p:cNvPr>
          <p:cNvSpPr>
            <a:spLocks/>
          </p:cNvSpPr>
          <p:nvPr/>
        </p:nvSpPr>
        <p:spPr bwMode="auto">
          <a:xfrm>
            <a:off x="4840243" y="2137390"/>
            <a:ext cx="270210" cy="179270"/>
          </a:xfrm>
          <a:custGeom>
            <a:avLst/>
            <a:gdLst>
              <a:gd name="T0" fmla="*/ 0 w 189"/>
              <a:gd name="T1" fmla="*/ 42 h 109"/>
              <a:gd name="T2" fmla="*/ 72 w 189"/>
              <a:gd name="T3" fmla="*/ 42 h 109"/>
              <a:gd name="T4" fmla="*/ 94 w 189"/>
              <a:gd name="T5" fmla="*/ 0 h 109"/>
              <a:gd name="T6" fmla="*/ 117 w 189"/>
              <a:gd name="T7" fmla="*/ 42 h 109"/>
              <a:gd name="T8" fmla="*/ 189 w 189"/>
              <a:gd name="T9" fmla="*/ 42 h 109"/>
              <a:gd name="T10" fmla="*/ 130 w 189"/>
              <a:gd name="T11" fmla="*/ 67 h 109"/>
              <a:gd name="T12" fmla="*/ 153 w 189"/>
              <a:gd name="T13" fmla="*/ 109 h 109"/>
              <a:gd name="T14" fmla="*/ 94 w 189"/>
              <a:gd name="T15" fmla="*/ 83 h 109"/>
              <a:gd name="T16" fmla="*/ 36 w 189"/>
              <a:gd name="T17" fmla="*/ 109 h 109"/>
              <a:gd name="T18" fmla="*/ 58 w 189"/>
              <a:gd name="T19" fmla="*/ 67 h 109"/>
              <a:gd name="T20" fmla="*/ 0 w 189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9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7" y="42"/>
                </a:lnTo>
                <a:lnTo>
                  <a:pt x="189" y="42"/>
                </a:lnTo>
                <a:lnTo>
                  <a:pt x="130" y="67"/>
                </a:lnTo>
                <a:lnTo>
                  <a:pt x="153" y="109"/>
                </a:lnTo>
                <a:lnTo>
                  <a:pt x="94" y="83"/>
                </a:lnTo>
                <a:lnTo>
                  <a:pt x="36" y="109"/>
                </a:lnTo>
                <a:lnTo>
                  <a:pt x="58" y="67"/>
                </a:lnTo>
                <a:lnTo>
                  <a:pt x="0" y="4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57" name="Freeform 361">
            <a:extLst>
              <a:ext uri="{FF2B5EF4-FFF2-40B4-BE49-F238E27FC236}">
                <a16:creationId xmlns:a16="http://schemas.microsoft.com/office/drawing/2014/main" id="{506FF638-2F3B-77B6-4B50-527FDBAED4F0}"/>
              </a:ext>
            </a:extLst>
          </p:cNvPr>
          <p:cNvSpPr>
            <a:spLocks/>
          </p:cNvSpPr>
          <p:nvPr/>
        </p:nvSpPr>
        <p:spPr bwMode="auto">
          <a:xfrm>
            <a:off x="4840243" y="2137390"/>
            <a:ext cx="270210" cy="179270"/>
          </a:xfrm>
          <a:custGeom>
            <a:avLst/>
            <a:gdLst>
              <a:gd name="T0" fmla="*/ 0 w 189"/>
              <a:gd name="T1" fmla="*/ 42 h 109"/>
              <a:gd name="T2" fmla="*/ 72 w 189"/>
              <a:gd name="T3" fmla="*/ 42 h 109"/>
              <a:gd name="T4" fmla="*/ 94 w 189"/>
              <a:gd name="T5" fmla="*/ 0 h 109"/>
              <a:gd name="T6" fmla="*/ 117 w 189"/>
              <a:gd name="T7" fmla="*/ 42 h 109"/>
              <a:gd name="T8" fmla="*/ 189 w 189"/>
              <a:gd name="T9" fmla="*/ 42 h 109"/>
              <a:gd name="T10" fmla="*/ 130 w 189"/>
              <a:gd name="T11" fmla="*/ 67 h 109"/>
              <a:gd name="T12" fmla="*/ 153 w 189"/>
              <a:gd name="T13" fmla="*/ 109 h 109"/>
              <a:gd name="T14" fmla="*/ 94 w 189"/>
              <a:gd name="T15" fmla="*/ 83 h 109"/>
              <a:gd name="T16" fmla="*/ 36 w 189"/>
              <a:gd name="T17" fmla="*/ 109 h 109"/>
              <a:gd name="T18" fmla="*/ 58 w 189"/>
              <a:gd name="T19" fmla="*/ 67 h 109"/>
              <a:gd name="T20" fmla="*/ 0 w 189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9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7" y="42"/>
                </a:lnTo>
                <a:lnTo>
                  <a:pt x="189" y="42"/>
                </a:lnTo>
                <a:lnTo>
                  <a:pt x="130" y="67"/>
                </a:lnTo>
                <a:lnTo>
                  <a:pt x="153" y="109"/>
                </a:lnTo>
                <a:lnTo>
                  <a:pt x="94" y="83"/>
                </a:lnTo>
                <a:lnTo>
                  <a:pt x="36" y="109"/>
                </a:lnTo>
                <a:lnTo>
                  <a:pt x="58" y="67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58" name="Freeform 362">
            <a:extLst>
              <a:ext uri="{FF2B5EF4-FFF2-40B4-BE49-F238E27FC236}">
                <a16:creationId xmlns:a16="http://schemas.microsoft.com/office/drawing/2014/main" id="{7FEF225B-62BB-9100-FA0D-9BC397A3C45E}"/>
              </a:ext>
            </a:extLst>
          </p:cNvPr>
          <p:cNvSpPr>
            <a:spLocks/>
          </p:cNvSpPr>
          <p:nvPr/>
        </p:nvSpPr>
        <p:spPr bwMode="auto">
          <a:xfrm>
            <a:off x="5130469" y="2137390"/>
            <a:ext cx="268780" cy="179270"/>
          </a:xfrm>
          <a:custGeom>
            <a:avLst/>
            <a:gdLst>
              <a:gd name="T0" fmla="*/ 0 w 188"/>
              <a:gd name="T1" fmla="*/ 42 h 109"/>
              <a:gd name="T2" fmla="*/ 72 w 188"/>
              <a:gd name="T3" fmla="*/ 42 h 109"/>
              <a:gd name="T4" fmla="*/ 94 w 188"/>
              <a:gd name="T5" fmla="*/ 0 h 109"/>
              <a:gd name="T6" fmla="*/ 116 w 188"/>
              <a:gd name="T7" fmla="*/ 42 h 109"/>
              <a:gd name="T8" fmla="*/ 188 w 188"/>
              <a:gd name="T9" fmla="*/ 42 h 109"/>
              <a:gd name="T10" fmla="*/ 130 w 188"/>
              <a:gd name="T11" fmla="*/ 67 h 109"/>
              <a:gd name="T12" fmla="*/ 152 w 188"/>
              <a:gd name="T13" fmla="*/ 109 h 109"/>
              <a:gd name="T14" fmla="*/ 94 w 188"/>
              <a:gd name="T15" fmla="*/ 83 h 109"/>
              <a:gd name="T16" fmla="*/ 36 w 188"/>
              <a:gd name="T17" fmla="*/ 109 h 109"/>
              <a:gd name="T18" fmla="*/ 58 w 188"/>
              <a:gd name="T19" fmla="*/ 67 h 109"/>
              <a:gd name="T20" fmla="*/ 0 w 188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8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6" y="42"/>
                </a:lnTo>
                <a:lnTo>
                  <a:pt x="188" y="42"/>
                </a:lnTo>
                <a:lnTo>
                  <a:pt x="130" y="67"/>
                </a:lnTo>
                <a:lnTo>
                  <a:pt x="152" y="109"/>
                </a:lnTo>
                <a:lnTo>
                  <a:pt x="94" y="83"/>
                </a:lnTo>
                <a:lnTo>
                  <a:pt x="36" y="109"/>
                </a:lnTo>
                <a:lnTo>
                  <a:pt x="58" y="67"/>
                </a:lnTo>
                <a:lnTo>
                  <a:pt x="0" y="4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59" name="Freeform 363">
            <a:extLst>
              <a:ext uri="{FF2B5EF4-FFF2-40B4-BE49-F238E27FC236}">
                <a16:creationId xmlns:a16="http://schemas.microsoft.com/office/drawing/2014/main" id="{B8E5A736-2840-1E10-FE66-625D842051FB}"/>
              </a:ext>
            </a:extLst>
          </p:cNvPr>
          <p:cNvSpPr>
            <a:spLocks/>
          </p:cNvSpPr>
          <p:nvPr/>
        </p:nvSpPr>
        <p:spPr bwMode="auto">
          <a:xfrm>
            <a:off x="5130469" y="2137390"/>
            <a:ext cx="268780" cy="179270"/>
          </a:xfrm>
          <a:custGeom>
            <a:avLst/>
            <a:gdLst>
              <a:gd name="T0" fmla="*/ 0 w 188"/>
              <a:gd name="T1" fmla="*/ 42 h 109"/>
              <a:gd name="T2" fmla="*/ 72 w 188"/>
              <a:gd name="T3" fmla="*/ 42 h 109"/>
              <a:gd name="T4" fmla="*/ 94 w 188"/>
              <a:gd name="T5" fmla="*/ 0 h 109"/>
              <a:gd name="T6" fmla="*/ 116 w 188"/>
              <a:gd name="T7" fmla="*/ 42 h 109"/>
              <a:gd name="T8" fmla="*/ 188 w 188"/>
              <a:gd name="T9" fmla="*/ 42 h 109"/>
              <a:gd name="T10" fmla="*/ 130 w 188"/>
              <a:gd name="T11" fmla="*/ 67 h 109"/>
              <a:gd name="T12" fmla="*/ 152 w 188"/>
              <a:gd name="T13" fmla="*/ 109 h 109"/>
              <a:gd name="T14" fmla="*/ 94 w 188"/>
              <a:gd name="T15" fmla="*/ 83 h 109"/>
              <a:gd name="T16" fmla="*/ 36 w 188"/>
              <a:gd name="T17" fmla="*/ 109 h 109"/>
              <a:gd name="T18" fmla="*/ 58 w 188"/>
              <a:gd name="T19" fmla="*/ 67 h 109"/>
              <a:gd name="T20" fmla="*/ 0 w 188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8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6" y="42"/>
                </a:lnTo>
                <a:lnTo>
                  <a:pt x="188" y="42"/>
                </a:lnTo>
                <a:lnTo>
                  <a:pt x="130" y="67"/>
                </a:lnTo>
                <a:lnTo>
                  <a:pt x="152" y="109"/>
                </a:lnTo>
                <a:lnTo>
                  <a:pt x="94" y="83"/>
                </a:lnTo>
                <a:lnTo>
                  <a:pt x="36" y="109"/>
                </a:lnTo>
                <a:lnTo>
                  <a:pt x="58" y="67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60" name="Freeform 364">
            <a:extLst>
              <a:ext uri="{FF2B5EF4-FFF2-40B4-BE49-F238E27FC236}">
                <a16:creationId xmlns:a16="http://schemas.microsoft.com/office/drawing/2014/main" id="{7A1A433E-62B3-B3DF-3335-716AE659BE2E}"/>
              </a:ext>
            </a:extLst>
          </p:cNvPr>
          <p:cNvSpPr>
            <a:spLocks/>
          </p:cNvSpPr>
          <p:nvPr/>
        </p:nvSpPr>
        <p:spPr bwMode="auto">
          <a:xfrm>
            <a:off x="3970995" y="2754143"/>
            <a:ext cx="274499" cy="179270"/>
          </a:xfrm>
          <a:custGeom>
            <a:avLst/>
            <a:gdLst>
              <a:gd name="T0" fmla="*/ 0 w 192"/>
              <a:gd name="T1" fmla="*/ 42 h 109"/>
              <a:gd name="T2" fmla="*/ 74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8 h 109"/>
              <a:gd name="T12" fmla="*/ 156 w 192"/>
              <a:gd name="T13" fmla="*/ 109 h 109"/>
              <a:gd name="T14" fmla="*/ 96 w 192"/>
              <a:gd name="T15" fmla="*/ 84 h 109"/>
              <a:gd name="T16" fmla="*/ 37 w 192"/>
              <a:gd name="T17" fmla="*/ 109 h 109"/>
              <a:gd name="T18" fmla="*/ 60 w 192"/>
              <a:gd name="T19" fmla="*/ 68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4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8"/>
                </a:lnTo>
                <a:lnTo>
                  <a:pt x="156" y="109"/>
                </a:lnTo>
                <a:lnTo>
                  <a:pt x="96" y="84"/>
                </a:lnTo>
                <a:lnTo>
                  <a:pt x="37" y="109"/>
                </a:lnTo>
                <a:lnTo>
                  <a:pt x="60" y="68"/>
                </a:lnTo>
                <a:lnTo>
                  <a:pt x="0" y="4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61" name="Freeform 365">
            <a:extLst>
              <a:ext uri="{FF2B5EF4-FFF2-40B4-BE49-F238E27FC236}">
                <a16:creationId xmlns:a16="http://schemas.microsoft.com/office/drawing/2014/main" id="{DB0D1383-546F-FAF0-B5EF-DDC1199B048E}"/>
              </a:ext>
            </a:extLst>
          </p:cNvPr>
          <p:cNvSpPr>
            <a:spLocks/>
          </p:cNvSpPr>
          <p:nvPr/>
        </p:nvSpPr>
        <p:spPr bwMode="auto">
          <a:xfrm>
            <a:off x="3970995" y="2754143"/>
            <a:ext cx="274499" cy="179270"/>
          </a:xfrm>
          <a:custGeom>
            <a:avLst/>
            <a:gdLst>
              <a:gd name="T0" fmla="*/ 0 w 192"/>
              <a:gd name="T1" fmla="*/ 42 h 109"/>
              <a:gd name="T2" fmla="*/ 74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8 h 109"/>
              <a:gd name="T12" fmla="*/ 156 w 192"/>
              <a:gd name="T13" fmla="*/ 109 h 109"/>
              <a:gd name="T14" fmla="*/ 96 w 192"/>
              <a:gd name="T15" fmla="*/ 84 h 109"/>
              <a:gd name="T16" fmla="*/ 37 w 192"/>
              <a:gd name="T17" fmla="*/ 109 h 109"/>
              <a:gd name="T18" fmla="*/ 60 w 192"/>
              <a:gd name="T19" fmla="*/ 68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4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8"/>
                </a:lnTo>
                <a:lnTo>
                  <a:pt x="156" y="109"/>
                </a:lnTo>
                <a:lnTo>
                  <a:pt x="96" y="84"/>
                </a:lnTo>
                <a:lnTo>
                  <a:pt x="37" y="109"/>
                </a:lnTo>
                <a:lnTo>
                  <a:pt x="60" y="68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62" name="Freeform 366">
            <a:extLst>
              <a:ext uri="{FF2B5EF4-FFF2-40B4-BE49-F238E27FC236}">
                <a16:creationId xmlns:a16="http://schemas.microsoft.com/office/drawing/2014/main" id="{B337F6CC-D402-72EA-7D36-D0B331139C31}"/>
              </a:ext>
            </a:extLst>
          </p:cNvPr>
          <p:cNvSpPr>
            <a:spLocks/>
          </p:cNvSpPr>
          <p:nvPr/>
        </p:nvSpPr>
        <p:spPr bwMode="auto">
          <a:xfrm>
            <a:off x="4261220" y="2754143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8 h 109"/>
              <a:gd name="T12" fmla="*/ 155 w 192"/>
              <a:gd name="T13" fmla="*/ 109 h 109"/>
              <a:gd name="T14" fmla="*/ 96 w 192"/>
              <a:gd name="T15" fmla="*/ 84 h 109"/>
              <a:gd name="T16" fmla="*/ 37 w 192"/>
              <a:gd name="T17" fmla="*/ 109 h 109"/>
              <a:gd name="T18" fmla="*/ 59 w 192"/>
              <a:gd name="T19" fmla="*/ 68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8"/>
                </a:lnTo>
                <a:lnTo>
                  <a:pt x="155" y="109"/>
                </a:lnTo>
                <a:lnTo>
                  <a:pt x="96" y="84"/>
                </a:lnTo>
                <a:lnTo>
                  <a:pt x="37" y="109"/>
                </a:lnTo>
                <a:lnTo>
                  <a:pt x="59" y="68"/>
                </a:lnTo>
                <a:lnTo>
                  <a:pt x="0" y="4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63" name="Freeform 367">
            <a:extLst>
              <a:ext uri="{FF2B5EF4-FFF2-40B4-BE49-F238E27FC236}">
                <a16:creationId xmlns:a16="http://schemas.microsoft.com/office/drawing/2014/main" id="{DE4F9CF5-D7FC-B1FF-6F64-D054724F5BF4}"/>
              </a:ext>
            </a:extLst>
          </p:cNvPr>
          <p:cNvSpPr>
            <a:spLocks/>
          </p:cNvSpPr>
          <p:nvPr/>
        </p:nvSpPr>
        <p:spPr bwMode="auto">
          <a:xfrm>
            <a:off x="4261220" y="2754143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8 h 109"/>
              <a:gd name="T12" fmla="*/ 155 w 192"/>
              <a:gd name="T13" fmla="*/ 109 h 109"/>
              <a:gd name="T14" fmla="*/ 96 w 192"/>
              <a:gd name="T15" fmla="*/ 84 h 109"/>
              <a:gd name="T16" fmla="*/ 37 w 192"/>
              <a:gd name="T17" fmla="*/ 109 h 109"/>
              <a:gd name="T18" fmla="*/ 59 w 192"/>
              <a:gd name="T19" fmla="*/ 68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8"/>
                </a:lnTo>
                <a:lnTo>
                  <a:pt x="155" y="109"/>
                </a:lnTo>
                <a:lnTo>
                  <a:pt x="96" y="84"/>
                </a:lnTo>
                <a:lnTo>
                  <a:pt x="37" y="109"/>
                </a:lnTo>
                <a:lnTo>
                  <a:pt x="59" y="68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64" name="Freeform 368">
            <a:extLst>
              <a:ext uri="{FF2B5EF4-FFF2-40B4-BE49-F238E27FC236}">
                <a16:creationId xmlns:a16="http://schemas.microsoft.com/office/drawing/2014/main" id="{7C4DD731-B8FE-A443-D0AE-7563FF4D8F8A}"/>
              </a:ext>
            </a:extLst>
          </p:cNvPr>
          <p:cNvSpPr>
            <a:spLocks/>
          </p:cNvSpPr>
          <p:nvPr/>
        </p:nvSpPr>
        <p:spPr bwMode="auto">
          <a:xfrm>
            <a:off x="4551447" y="2754143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8 w 192"/>
              <a:gd name="T7" fmla="*/ 42 h 109"/>
              <a:gd name="T8" fmla="*/ 192 w 192"/>
              <a:gd name="T9" fmla="*/ 42 h 109"/>
              <a:gd name="T10" fmla="*/ 132 w 192"/>
              <a:gd name="T11" fmla="*/ 68 h 109"/>
              <a:gd name="T12" fmla="*/ 155 w 192"/>
              <a:gd name="T13" fmla="*/ 109 h 109"/>
              <a:gd name="T14" fmla="*/ 96 w 192"/>
              <a:gd name="T15" fmla="*/ 84 h 109"/>
              <a:gd name="T16" fmla="*/ 36 w 192"/>
              <a:gd name="T17" fmla="*/ 109 h 109"/>
              <a:gd name="T18" fmla="*/ 59 w 192"/>
              <a:gd name="T19" fmla="*/ 68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8" y="42"/>
                </a:lnTo>
                <a:lnTo>
                  <a:pt x="192" y="42"/>
                </a:lnTo>
                <a:lnTo>
                  <a:pt x="132" y="68"/>
                </a:lnTo>
                <a:lnTo>
                  <a:pt x="155" y="109"/>
                </a:lnTo>
                <a:lnTo>
                  <a:pt x="96" y="84"/>
                </a:lnTo>
                <a:lnTo>
                  <a:pt x="36" y="109"/>
                </a:lnTo>
                <a:lnTo>
                  <a:pt x="59" y="68"/>
                </a:lnTo>
                <a:lnTo>
                  <a:pt x="0" y="4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65" name="Freeform 369">
            <a:extLst>
              <a:ext uri="{FF2B5EF4-FFF2-40B4-BE49-F238E27FC236}">
                <a16:creationId xmlns:a16="http://schemas.microsoft.com/office/drawing/2014/main" id="{D71CF40F-F498-4D1C-E41A-4928DDB7BE29}"/>
              </a:ext>
            </a:extLst>
          </p:cNvPr>
          <p:cNvSpPr>
            <a:spLocks/>
          </p:cNvSpPr>
          <p:nvPr/>
        </p:nvSpPr>
        <p:spPr bwMode="auto">
          <a:xfrm>
            <a:off x="4551447" y="2754143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8 w 192"/>
              <a:gd name="T7" fmla="*/ 42 h 109"/>
              <a:gd name="T8" fmla="*/ 192 w 192"/>
              <a:gd name="T9" fmla="*/ 42 h 109"/>
              <a:gd name="T10" fmla="*/ 132 w 192"/>
              <a:gd name="T11" fmla="*/ 68 h 109"/>
              <a:gd name="T12" fmla="*/ 155 w 192"/>
              <a:gd name="T13" fmla="*/ 109 h 109"/>
              <a:gd name="T14" fmla="*/ 96 w 192"/>
              <a:gd name="T15" fmla="*/ 84 h 109"/>
              <a:gd name="T16" fmla="*/ 36 w 192"/>
              <a:gd name="T17" fmla="*/ 109 h 109"/>
              <a:gd name="T18" fmla="*/ 59 w 192"/>
              <a:gd name="T19" fmla="*/ 68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8" y="42"/>
                </a:lnTo>
                <a:lnTo>
                  <a:pt x="192" y="42"/>
                </a:lnTo>
                <a:lnTo>
                  <a:pt x="132" y="68"/>
                </a:lnTo>
                <a:lnTo>
                  <a:pt x="155" y="109"/>
                </a:lnTo>
                <a:lnTo>
                  <a:pt x="96" y="84"/>
                </a:lnTo>
                <a:lnTo>
                  <a:pt x="36" y="109"/>
                </a:lnTo>
                <a:lnTo>
                  <a:pt x="59" y="68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66" name="Freeform 370">
            <a:extLst>
              <a:ext uri="{FF2B5EF4-FFF2-40B4-BE49-F238E27FC236}">
                <a16:creationId xmlns:a16="http://schemas.microsoft.com/office/drawing/2014/main" id="{7E738D8A-3210-51CF-DD84-776D26E5F8F3}"/>
              </a:ext>
            </a:extLst>
          </p:cNvPr>
          <p:cNvSpPr>
            <a:spLocks/>
          </p:cNvSpPr>
          <p:nvPr/>
        </p:nvSpPr>
        <p:spPr bwMode="auto">
          <a:xfrm>
            <a:off x="4840243" y="2754143"/>
            <a:ext cx="270210" cy="179270"/>
          </a:xfrm>
          <a:custGeom>
            <a:avLst/>
            <a:gdLst>
              <a:gd name="T0" fmla="*/ 0 w 189"/>
              <a:gd name="T1" fmla="*/ 42 h 109"/>
              <a:gd name="T2" fmla="*/ 72 w 189"/>
              <a:gd name="T3" fmla="*/ 42 h 109"/>
              <a:gd name="T4" fmla="*/ 94 w 189"/>
              <a:gd name="T5" fmla="*/ 0 h 109"/>
              <a:gd name="T6" fmla="*/ 117 w 189"/>
              <a:gd name="T7" fmla="*/ 42 h 109"/>
              <a:gd name="T8" fmla="*/ 189 w 189"/>
              <a:gd name="T9" fmla="*/ 42 h 109"/>
              <a:gd name="T10" fmla="*/ 130 w 189"/>
              <a:gd name="T11" fmla="*/ 68 h 109"/>
              <a:gd name="T12" fmla="*/ 153 w 189"/>
              <a:gd name="T13" fmla="*/ 109 h 109"/>
              <a:gd name="T14" fmla="*/ 94 w 189"/>
              <a:gd name="T15" fmla="*/ 84 h 109"/>
              <a:gd name="T16" fmla="*/ 36 w 189"/>
              <a:gd name="T17" fmla="*/ 109 h 109"/>
              <a:gd name="T18" fmla="*/ 58 w 189"/>
              <a:gd name="T19" fmla="*/ 68 h 109"/>
              <a:gd name="T20" fmla="*/ 0 w 189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9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7" y="42"/>
                </a:lnTo>
                <a:lnTo>
                  <a:pt x="189" y="42"/>
                </a:lnTo>
                <a:lnTo>
                  <a:pt x="130" y="68"/>
                </a:lnTo>
                <a:lnTo>
                  <a:pt x="153" y="109"/>
                </a:lnTo>
                <a:lnTo>
                  <a:pt x="94" y="84"/>
                </a:lnTo>
                <a:lnTo>
                  <a:pt x="36" y="109"/>
                </a:lnTo>
                <a:lnTo>
                  <a:pt x="58" y="68"/>
                </a:lnTo>
                <a:lnTo>
                  <a:pt x="0" y="4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67" name="Freeform 371">
            <a:extLst>
              <a:ext uri="{FF2B5EF4-FFF2-40B4-BE49-F238E27FC236}">
                <a16:creationId xmlns:a16="http://schemas.microsoft.com/office/drawing/2014/main" id="{E9C426A1-0BA1-ECDA-C1AA-F44FB6B42A03}"/>
              </a:ext>
            </a:extLst>
          </p:cNvPr>
          <p:cNvSpPr>
            <a:spLocks/>
          </p:cNvSpPr>
          <p:nvPr/>
        </p:nvSpPr>
        <p:spPr bwMode="auto">
          <a:xfrm>
            <a:off x="4840243" y="2754143"/>
            <a:ext cx="270210" cy="179270"/>
          </a:xfrm>
          <a:custGeom>
            <a:avLst/>
            <a:gdLst>
              <a:gd name="T0" fmla="*/ 0 w 189"/>
              <a:gd name="T1" fmla="*/ 42 h 109"/>
              <a:gd name="T2" fmla="*/ 72 w 189"/>
              <a:gd name="T3" fmla="*/ 42 h 109"/>
              <a:gd name="T4" fmla="*/ 94 w 189"/>
              <a:gd name="T5" fmla="*/ 0 h 109"/>
              <a:gd name="T6" fmla="*/ 117 w 189"/>
              <a:gd name="T7" fmla="*/ 42 h 109"/>
              <a:gd name="T8" fmla="*/ 189 w 189"/>
              <a:gd name="T9" fmla="*/ 42 h 109"/>
              <a:gd name="T10" fmla="*/ 130 w 189"/>
              <a:gd name="T11" fmla="*/ 68 h 109"/>
              <a:gd name="T12" fmla="*/ 153 w 189"/>
              <a:gd name="T13" fmla="*/ 109 h 109"/>
              <a:gd name="T14" fmla="*/ 94 w 189"/>
              <a:gd name="T15" fmla="*/ 84 h 109"/>
              <a:gd name="T16" fmla="*/ 36 w 189"/>
              <a:gd name="T17" fmla="*/ 109 h 109"/>
              <a:gd name="T18" fmla="*/ 58 w 189"/>
              <a:gd name="T19" fmla="*/ 68 h 109"/>
              <a:gd name="T20" fmla="*/ 0 w 189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9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7" y="42"/>
                </a:lnTo>
                <a:lnTo>
                  <a:pt x="189" y="42"/>
                </a:lnTo>
                <a:lnTo>
                  <a:pt x="130" y="68"/>
                </a:lnTo>
                <a:lnTo>
                  <a:pt x="153" y="109"/>
                </a:lnTo>
                <a:lnTo>
                  <a:pt x="94" y="84"/>
                </a:lnTo>
                <a:lnTo>
                  <a:pt x="36" y="109"/>
                </a:lnTo>
                <a:lnTo>
                  <a:pt x="58" y="68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68" name="Freeform 372">
            <a:extLst>
              <a:ext uri="{FF2B5EF4-FFF2-40B4-BE49-F238E27FC236}">
                <a16:creationId xmlns:a16="http://schemas.microsoft.com/office/drawing/2014/main" id="{579D2470-AAA4-342B-1618-005414D9F0D1}"/>
              </a:ext>
            </a:extLst>
          </p:cNvPr>
          <p:cNvSpPr>
            <a:spLocks/>
          </p:cNvSpPr>
          <p:nvPr/>
        </p:nvSpPr>
        <p:spPr bwMode="auto">
          <a:xfrm>
            <a:off x="5130469" y="2754143"/>
            <a:ext cx="268780" cy="179270"/>
          </a:xfrm>
          <a:custGeom>
            <a:avLst/>
            <a:gdLst>
              <a:gd name="T0" fmla="*/ 0 w 188"/>
              <a:gd name="T1" fmla="*/ 42 h 109"/>
              <a:gd name="T2" fmla="*/ 72 w 188"/>
              <a:gd name="T3" fmla="*/ 42 h 109"/>
              <a:gd name="T4" fmla="*/ 94 w 188"/>
              <a:gd name="T5" fmla="*/ 0 h 109"/>
              <a:gd name="T6" fmla="*/ 116 w 188"/>
              <a:gd name="T7" fmla="*/ 42 h 109"/>
              <a:gd name="T8" fmla="*/ 188 w 188"/>
              <a:gd name="T9" fmla="*/ 42 h 109"/>
              <a:gd name="T10" fmla="*/ 130 w 188"/>
              <a:gd name="T11" fmla="*/ 68 h 109"/>
              <a:gd name="T12" fmla="*/ 152 w 188"/>
              <a:gd name="T13" fmla="*/ 109 h 109"/>
              <a:gd name="T14" fmla="*/ 94 w 188"/>
              <a:gd name="T15" fmla="*/ 84 h 109"/>
              <a:gd name="T16" fmla="*/ 36 w 188"/>
              <a:gd name="T17" fmla="*/ 109 h 109"/>
              <a:gd name="T18" fmla="*/ 58 w 188"/>
              <a:gd name="T19" fmla="*/ 68 h 109"/>
              <a:gd name="T20" fmla="*/ 0 w 188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8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6" y="42"/>
                </a:lnTo>
                <a:lnTo>
                  <a:pt x="188" y="42"/>
                </a:lnTo>
                <a:lnTo>
                  <a:pt x="130" y="68"/>
                </a:lnTo>
                <a:lnTo>
                  <a:pt x="152" y="109"/>
                </a:lnTo>
                <a:lnTo>
                  <a:pt x="94" y="84"/>
                </a:lnTo>
                <a:lnTo>
                  <a:pt x="36" y="109"/>
                </a:lnTo>
                <a:lnTo>
                  <a:pt x="58" y="68"/>
                </a:lnTo>
                <a:lnTo>
                  <a:pt x="0" y="4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69" name="Freeform 373">
            <a:extLst>
              <a:ext uri="{FF2B5EF4-FFF2-40B4-BE49-F238E27FC236}">
                <a16:creationId xmlns:a16="http://schemas.microsoft.com/office/drawing/2014/main" id="{D77A9FA5-FF76-7E72-457C-98DCC192F63E}"/>
              </a:ext>
            </a:extLst>
          </p:cNvPr>
          <p:cNvSpPr>
            <a:spLocks/>
          </p:cNvSpPr>
          <p:nvPr/>
        </p:nvSpPr>
        <p:spPr bwMode="auto">
          <a:xfrm>
            <a:off x="5130469" y="2754143"/>
            <a:ext cx="268780" cy="179270"/>
          </a:xfrm>
          <a:custGeom>
            <a:avLst/>
            <a:gdLst>
              <a:gd name="T0" fmla="*/ 0 w 188"/>
              <a:gd name="T1" fmla="*/ 42 h 109"/>
              <a:gd name="T2" fmla="*/ 72 w 188"/>
              <a:gd name="T3" fmla="*/ 42 h 109"/>
              <a:gd name="T4" fmla="*/ 94 w 188"/>
              <a:gd name="T5" fmla="*/ 0 h 109"/>
              <a:gd name="T6" fmla="*/ 116 w 188"/>
              <a:gd name="T7" fmla="*/ 42 h 109"/>
              <a:gd name="T8" fmla="*/ 188 w 188"/>
              <a:gd name="T9" fmla="*/ 42 h 109"/>
              <a:gd name="T10" fmla="*/ 130 w 188"/>
              <a:gd name="T11" fmla="*/ 68 h 109"/>
              <a:gd name="T12" fmla="*/ 152 w 188"/>
              <a:gd name="T13" fmla="*/ 109 h 109"/>
              <a:gd name="T14" fmla="*/ 94 w 188"/>
              <a:gd name="T15" fmla="*/ 84 h 109"/>
              <a:gd name="T16" fmla="*/ 36 w 188"/>
              <a:gd name="T17" fmla="*/ 109 h 109"/>
              <a:gd name="T18" fmla="*/ 58 w 188"/>
              <a:gd name="T19" fmla="*/ 68 h 109"/>
              <a:gd name="T20" fmla="*/ 0 w 188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8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6" y="42"/>
                </a:lnTo>
                <a:lnTo>
                  <a:pt x="188" y="42"/>
                </a:lnTo>
                <a:lnTo>
                  <a:pt x="130" y="68"/>
                </a:lnTo>
                <a:lnTo>
                  <a:pt x="152" y="109"/>
                </a:lnTo>
                <a:lnTo>
                  <a:pt x="94" y="84"/>
                </a:lnTo>
                <a:lnTo>
                  <a:pt x="36" y="109"/>
                </a:lnTo>
                <a:lnTo>
                  <a:pt x="58" y="68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70" name="Freeform 394">
            <a:extLst>
              <a:ext uri="{FF2B5EF4-FFF2-40B4-BE49-F238E27FC236}">
                <a16:creationId xmlns:a16="http://schemas.microsoft.com/office/drawing/2014/main" id="{6F8283B3-2CBB-DE20-D070-D2F15AC32D53}"/>
              </a:ext>
            </a:extLst>
          </p:cNvPr>
          <p:cNvSpPr>
            <a:spLocks/>
          </p:cNvSpPr>
          <p:nvPr/>
        </p:nvSpPr>
        <p:spPr bwMode="auto">
          <a:xfrm>
            <a:off x="3970995" y="3382293"/>
            <a:ext cx="274499" cy="179270"/>
          </a:xfrm>
          <a:custGeom>
            <a:avLst/>
            <a:gdLst>
              <a:gd name="T0" fmla="*/ 0 w 192"/>
              <a:gd name="T1" fmla="*/ 42 h 109"/>
              <a:gd name="T2" fmla="*/ 74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7 h 109"/>
              <a:gd name="T12" fmla="*/ 156 w 192"/>
              <a:gd name="T13" fmla="*/ 109 h 109"/>
              <a:gd name="T14" fmla="*/ 96 w 192"/>
              <a:gd name="T15" fmla="*/ 83 h 109"/>
              <a:gd name="T16" fmla="*/ 37 w 192"/>
              <a:gd name="T17" fmla="*/ 109 h 109"/>
              <a:gd name="T18" fmla="*/ 60 w 192"/>
              <a:gd name="T19" fmla="*/ 67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4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7"/>
                </a:lnTo>
                <a:lnTo>
                  <a:pt x="156" y="109"/>
                </a:lnTo>
                <a:lnTo>
                  <a:pt x="96" y="83"/>
                </a:lnTo>
                <a:lnTo>
                  <a:pt x="37" y="109"/>
                </a:lnTo>
                <a:lnTo>
                  <a:pt x="60" y="67"/>
                </a:lnTo>
                <a:lnTo>
                  <a:pt x="0" y="4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71" name="Freeform 395">
            <a:extLst>
              <a:ext uri="{FF2B5EF4-FFF2-40B4-BE49-F238E27FC236}">
                <a16:creationId xmlns:a16="http://schemas.microsoft.com/office/drawing/2014/main" id="{6DF8AFE9-EC81-AC0A-37AF-ECEB99CCBAEE}"/>
              </a:ext>
            </a:extLst>
          </p:cNvPr>
          <p:cNvSpPr>
            <a:spLocks/>
          </p:cNvSpPr>
          <p:nvPr/>
        </p:nvSpPr>
        <p:spPr bwMode="auto">
          <a:xfrm>
            <a:off x="3970995" y="3382293"/>
            <a:ext cx="274499" cy="179270"/>
          </a:xfrm>
          <a:custGeom>
            <a:avLst/>
            <a:gdLst>
              <a:gd name="T0" fmla="*/ 0 w 192"/>
              <a:gd name="T1" fmla="*/ 42 h 109"/>
              <a:gd name="T2" fmla="*/ 74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7 h 109"/>
              <a:gd name="T12" fmla="*/ 156 w 192"/>
              <a:gd name="T13" fmla="*/ 109 h 109"/>
              <a:gd name="T14" fmla="*/ 96 w 192"/>
              <a:gd name="T15" fmla="*/ 83 h 109"/>
              <a:gd name="T16" fmla="*/ 37 w 192"/>
              <a:gd name="T17" fmla="*/ 109 h 109"/>
              <a:gd name="T18" fmla="*/ 60 w 192"/>
              <a:gd name="T19" fmla="*/ 67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4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7"/>
                </a:lnTo>
                <a:lnTo>
                  <a:pt x="156" y="109"/>
                </a:lnTo>
                <a:lnTo>
                  <a:pt x="96" y="83"/>
                </a:lnTo>
                <a:lnTo>
                  <a:pt x="37" y="109"/>
                </a:lnTo>
                <a:lnTo>
                  <a:pt x="60" y="67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72" name="Freeform 396">
            <a:extLst>
              <a:ext uri="{FF2B5EF4-FFF2-40B4-BE49-F238E27FC236}">
                <a16:creationId xmlns:a16="http://schemas.microsoft.com/office/drawing/2014/main" id="{576A9E2C-7EFD-A6F3-EB55-4BA755DC0B66}"/>
              </a:ext>
            </a:extLst>
          </p:cNvPr>
          <p:cNvSpPr>
            <a:spLocks/>
          </p:cNvSpPr>
          <p:nvPr/>
        </p:nvSpPr>
        <p:spPr bwMode="auto">
          <a:xfrm>
            <a:off x="4261220" y="3382293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7 h 109"/>
              <a:gd name="T12" fmla="*/ 155 w 192"/>
              <a:gd name="T13" fmla="*/ 109 h 109"/>
              <a:gd name="T14" fmla="*/ 96 w 192"/>
              <a:gd name="T15" fmla="*/ 83 h 109"/>
              <a:gd name="T16" fmla="*/ 37 w 192"/>
              <a:gd name="T17" fmla="*/ 109 h 109"/>
              <a:gd name="T18" fmla="*/ 59 w 192"/>
              <a:gd name="T19" fmla="*/ 67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7"/>
                </a:lnTo>
                <a:lnTo>
                  <a:pt x="155" y="109"/>
                </a:lnTo>
                <a:lnTo>
                  <a:pt x="96" y="83"/>
                </a:lnTo>
                <a:lnTo>
                  <a:pt x="37" y="109"/>
                </a:lnTo>
                <a:lnTo>
                  <a:pt x="59" y="67"/>
                </a:lnTo>
                <a:lnTo>
                  <a:pt x="0" y="4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73" name="Freeform 397">
            <a:extLst>
              <a:ext uri="{FF2B5EF4-FFF2-40B4-BE49-F238E27FC236}">
                <a16:creationId xmlns:a16="http://schemas.microsoft.com/office/drawing/2014/main" id="{98674F0F-B529-EEC8-2D47-1C546D24665E}"/>
              </a:ext>
            </a:extLst>
          </p:cNvPr>
          <p:cNvSpPr>
            <a:spLocks/>
          </p:cNvSpPr>
          <p:nvPr/>
        </p:nvSpPr>
        <p:spPr bwMode="auto">
          <a:xfrm>
            <a:off x="4261220" y="3382293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7 h 109"/>
              <a:gd name="T12" fmla="*/ 155 w 192"/>
              <a:gd name="T13" fmla="*/ 109 h 109"/>
              <a:gd name="T14" fmla="*/ 96 w 192"/>
              <a:gd name="T15" fmla="*/ 83 h 109"/>
              <a:gd name="T16" fmla="*/ 37 w 192"/>
              <a:gd name="T17" fmla="*/ 109 h 109"/>
              <a:gd name="T18" fmla="*/ 59 w 192"/>
              <a:gd name="T19" fmla="*/ 67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7"/>
                </a:lnTo>
                <a:lnTo>
                  <a:pt x="155" y="109"/>
                </a:lnTo>
                <a:lnTo>
                  <a:pt x="96" y="83"/>
                </a:lnTo>
                <a:lnTo>
                  <a:pt x="37" y="109"/>
                </a:lnTo>
                <a:lnTo>
                  <a:pt x="59" y="67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74" name="Freeform 398">
            <a:extLst>
              <a:ext uri="{FF2B5EF4-FFF2-40B4-BE49-F238E27FC236}">
                <a16:creationId xmlns:a16="http://schemas.microsoft.com/office/drawing/2014/main" id="{D37F8CBC-8024-5B4E-4559-F6A540F30694}"/>
              </a:ext>
            </a:extLst>
          </p:cNvPr>
          <p:cNvSpPr>
            <a:spLocks/>
          </p:cNvSpPr>
          <p:nvPr/>
        </p:nvSpPr>
        <p:spPr bwMode="auto">
          <a:xfrm>
            <a:off x="4551447" y="3382293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8 w 192"/>
              <a:gd name="T7" fmla="*/ 42 h 109"/>
              <a:gd name="T8" fmla="*/ 192 w 192"/>
              <a:gd name="T9" fmla="*/ 42 h 109"/>
              <a:gd name="T10" fmla="*/ 132 w 192"/>
              <a:gd name="T11" fmla="*/ 67 h 109"/>
              <a:gd name="T12" fmla="*/ 155 w 192"/>
              <a:gd name="T13" fmla="*/ 109 h 109"/>
              <a:gd name="T14" fmla="*/ 96 w 192"/>
              <a:gd name="T15" fmla="*/ 83 h 109"/>
              <a:gd name="T16" fmla="*/ 36 w 192"/>
              <a:gd name="T17" fmla="*/ 109 h 109"/>
              <a:gd name="T18" fmla="*/ 59 w 192"/>
              <a:gd name="T19" fmla="*/ 67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8" y="42"/>
                </a:lnTo>
                <a:lnTo>
                  <a:pt x="192" y="42"/>
                </a:lnTo>
                <a:lnTo>
                  <a:pt x="132" y="67"/>
                </a:lnTo>
                <a:lnTo>
                  <a:pt x="155" y="109"/>
                </a:lnTo>
                <a:lnTo>
                  <a:pt x="96" y="83"/>
                </a:lnTo>
                <a:lnTo>
                  <a:pt x="36" y="109"/>
                </a:lnTo>
                <a:lnTo>
                  <a:pt x="59" y="67"/>
                </a:lnTo>
                <a:lnTo>
                  <a:pt x="0" y="4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75" name="Freeform 399">
            <a:extLst>
              <a:ext uri="{FF2B5EF4-FFF2-40B4-BE49-F238E27FC236}">
                <a16:creationId xmlns:a16="http://schemas.microsoft.com/office/drawing/2014/main" id="{3A65CB85-07A0-A047-6CB2-2D5365866352}"/>
              </a:ext>
            </a:extLst>
          </p:cNvPr>
          <p:cNvSpPr>
            <a:spLocks/>
          </p:cNvSpPr>
          <p:nvPr/>
        </p:nvSpPr>
        <p:spPr bwMode="auto">
          <a:xfrm>
            <a:off x="4551447" y="3382293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8 w 192"/>
              <a:gd name="T7" fmla="*/ 42 h 109"/>
              <a:gd name="T8" fmla="*/ 192 w 192"/>
              <a:gd name="T9" fmla="*/ 42 h 109"/>
              <a:gd name="T10" fmla="*/ 132 w 192"/>
              <a:gd name="T11" fmla="*/ 67 h 109"/>
              <a:gd name="T12" fmla="*/ 155 w 192"/>
              <a:gd name="T13" fmla="*/ 109 h 109"/>
              <a:gd name="T14" fmla="*/ 96 w 192"/>
              <a:gd name="T15" fmla="*/ 83 h 109"/>
              <a:gd name="T16" fmla="*/ 36 w 192"/>
              <a:gd name="T17" fmla="*/ 109 h 109"/>
              <a:gd name="T18" fmla="*/ 59 w 192"/>
              <a:gd name="T19" fmla="*/ 67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8" y="42"/>
                </a:lnTo>
                <a:lnTo>
                  <a:pt x="192" y="42"/>
                </a:lnTo>
                <a:lnTo>
                  <a:pt x="132" y="67"/>
                </a:lnTo>
                <a:lnTo>
                  <a:pt x="155" y="109"/>
                </a:lnTo>
                <a:lnTo>
                  <a:pt x="96" y="83"/>
                </a:lnTo>
                <a:lnTo>
                  <a:pt x="36" y="109"/>
                </a:lnTo>
                <a:lnTo>
                  <a:pt x="59" y="67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76" name="Freeform 400">
            <a:extLst>
              <a:ext uri="{FF2B5EF4-FFF2-40B4-BE49-F238E27FC236}">
                <a16:creationId xmlns:a16="http://schemas.microsoft.com/office/drawing/2014/main" id="{D19E2631-448C-C88C-F1B8-24D15A945C5D}"/>
              </a:ext>
            </a:extLst>
          </p:cNvPr>
          <p:cNvSpPr>
            <a:spLocks/>
          </p:cNvSpPr>
          <p:nvPr/>
        </p:nvSpPr>
        <p:spPr bwMode="auto">
          <a:xfrm>
            <a:off x="4840243" y="3382293"/>
            <a:ext cx="270210" cy="179270"/>
          </a:xfrm>
          <a:custGeom>
            <a:avLst/>
            <a:gdLst>
              <a:gd name="T0" fmla="*/ 0 w 189"/>
              <a:gd name="T1" fmla="*/ 42 h 109"/>
              <a:gd name="T2" fmla="*/ 72 w 189"/>
              <a:gd name="T3" fmla="*/ 42 h 109"/>
              <a:gd name="T4" fmla="*/ 94 w 189"/>
              <a:gd name="T5" fmla="*/ 0 h 109"/>
              <a:gd name="T6" fmla="*/ 117 w 189"/>
              <a:gd name="T7" fmla="*/ 42 h 109"/>
              <a:gd name="T8" fmla="*/ 189 w 189"/>
              <a:gd name="T9" fmla="*/ 42 h 109"/>
              <a:gd name="T10" fmla="*/ 130 w 189"/>
              <a:gd name="T11" fmla="*/ 67 h 109"/>
              <a:gd name="T12" fmla="*/ 153 w 189"/>
              <a:gd name="T13" fmla="*/ 109 h 109"/>
              <a:gd name="T14" fmla="*/ 94 w 189"/>
              <a:gd name="T15" fmla="*/ 83 h 109"/>
              <a:gd name="T16" fmla="*/ 36 w 189"/>
              <a:gd name="T17" fmla="*/ 109 h 109"/>
              <a:gd name="T18" fmla="*/ 58 w 189"/>
              <a:gd name="T19" fmla="*/ 67 h 109"/>
              <a:gd name="T20" fmla="*/ 0 w 189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9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7" y="42"/>
                </a:lnTo>
                <a:lnTo>
                  <a:pt x="189" y="42"/>
                </a:lnTo>
                <a:lnTo>
                  <a:pt x="130" y="67"/>
                </a:lnTo>
                <a:lnTo>
                  <a:pt x="153" y="109"/>
                </a:lnTo>
                <a:lnTo>
                  <a:pt x="94" y="83"/>
                </a:lnTo>
                <a:lnTo>
                  <a:pt x="36" y="109"/>
                </a:lnTo>
                <a:lnTo>
                  <a:pt x="58" y="67"/>
                </a:lnTo>
                <a:lnTo>
                  <a:pt x="0" y="4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77" name="Freeform 402">
            <a:extLst>
              <a:ext uri="{FF2B5EF4-FFF2-40B4-BE49-F238E27FC236}">
                <a16:creationId xmlns:a16="http://schemas.microsoft.com/office/drawing/2014/main" id="{C4B49533-3314-4B89-53AC-3603AB3185FE}"/>
              </a:ext>
            </a:extLst>
          </p:cNvPr>
          <p:cNvSpPr>
            <a:spLocks/>
          </p:cNvSpPr>
          <p:nvPr/>
        </p:nvSpPr>
        <p:spPr bwMode="auto">
          <a:xfrm>
            <a:off x="5130469" y="3382293"/>
            <a:ext cx="268780" cy="179270"/>
          </a:xfrm>
          <a:custGeom>
            <a:avLst/>
            <a:gdLst>
              <a:gd name="T0" fmla="*/ 0 w 188"/>
              <a:gd name="T1" fmla="*/ 42 h 109"/>
              <a:gd name="T2" fmla="*/ 72 w 188"/>
              <a:gd name="T3" fmla="*/ 42 h 109"/>
              <a:gd name="T4" fmla="*/ 94 w 188"/>
              <a:gd name="T5" fmla="*/ 0 h 109"/>
              <a:gd name="T6" fmla="*/ 116 w 188"/>
              <a:gd name="T7" fmla="*/ 42 h 109"/>
              <a:gd name="T8" fmla="*/ 188 w 188"/>
              <a:gd name="T9" fmla="*/ 42 h 109"/>
              <a:gd name="T10" fmla="*/ 130 w 188"/>
              <a:gd name="T11" fmla="*/ 67 h 109"/>
              <a:gd name="T12" fmla="*/ 152 w 188"/>
              <a:gd name="T13" fmla="*/ 109 h 109"/>
              <a:gd name="T14" fmla="*/ 94 w 188"/>
              <a:gd name="T15" fmla="*/ 83 h 109"/>
              <a:gd name="T16" fmla="*/ 36 w 188"/>
              <a:gd name="T17" fmla="*/ 109 h 109"/>
              <a:gd name="T18" fmla="*/ 58 w 188"/>
              <a:gd name="T19" fmla="*/ 67 h 109"/>
              <a:gd name="T20" fmla="*/ 0 w 188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8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6" y="42"/>
                </a:lnTo>
                <a:lnTo>
                  <a:pt x="188" y="42"/>
                </a:lnTo>
                <a:lnTo>
                  <a:pt x="130" y="67"/>
                </a:lnTo>
                <a:lnTo>
                  <a:pt x="152" y="109"/>
                </a:lnTo>
                <a:lnTo>
                  <a:pt x="94" y="83"/>
                </a:lnTo>
                <a:lnTo>
                  <a:pt x="36" y="109"/>
                </a:lnTo>
                <a:lnTo>
                  <a:pt x="58" y="67"/>
                </a:lnTo>
                <a:lnTo>
                  <a:pt x="0" y="4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78" name="Freeform 403">
            <a:extLst>
              <a:ext uri="{FF2B5EF4-FFF2-40B4-BE49-F238E27FC236}">
                <a16:creationId xmlns:a16="http://schemas.microsoft.com/office/drawing/2014/main" id="{1C53B9AD-5BD9-5330-FCC7-D525645EA213}"/>
              </a:ext>
            </a:extLst>
          </p:cNvPr>
          <p:cNvSpPr>
            <a:spLocks/>
          </p:cNvSpPr>
          <p:nvPr/>
        </p:nvSpPr>
        <p:spPr bwMode="auto">
          <a:xfrm>
            <a:off x="5130469" y="3382293"/>
            <a:ext cx="268780" cy="179270"/>
          </a:xfrm>
          <a:custGeom>
            <a:avLst/>
            <a:gdLst>
              <a:gd name="T0" fmla="*/ 0 w 188"/>
              <a:gd name="T1" fmla="*/ 42 h 109"/>
              <a:gd name="T2" fmla="*/ 72 w 188"/>
              <a:gd name="T3" fmla="*/ 42 h 109"/>
              <a:gd name="T4" fmla="*/ 94 w 188"/>
              <a:gd name="T5" fmla="*/ 0 h 109"/>
              <a:gd name="T6" fmla="*/ 116 w 188"/>
              <a:gd name="T7" fmla="*/ 42 h 109"/>
              <a:gd name="T8" fmla="*/ 188 w 188"/>
              <a:gd name="T9" fmla="*/ 42 h 109"/>
              <a:gd name="T10" fmla="*/ 130 w 188"/>
              <a:gd name="T11" fmla="*/ 67 h 109"/>
              <a:gd name="T12" fmla="*/ 152 w 188"/>
              <a:gd name="T13" fmla="*/ 109 h 109"/>
              <a:gd name="T14" fmla="*/ 94 w 188"/>
              <a:gd name="T15" fmla="*/ 83 h 109"/>
              <a:gd name="T16" fmla="*/ 36 w 188"/>
              <a:gd name="T17" fmla="*/ 109 h 109"/>
              <a:gd name="T18" fmla="*/ 58 w 188"/>
              <a:gd name="T19" fmla="*/ 67 h 109"/>
              <a:gd name="T20" fmla="*/ 0 w 188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8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6" y="42"/>
                </a:lnTo>
                <a:lnTo>
                  <a:pt x="188" y="42"/>
                </a:lnTo>
                <a:lnTo>
                  <a:pt x="130" y="67"/>
                </a:lnTo>
                <a:lnTo>
                  <a:pt x="152" y="109"/>
                </a:lnTo>
                <a:lnTo>
                  <a:pt x="94" y="83"/>
                </a:lnTo>
                <a:lnTo>
                  <a:pt x="36" y="109"/>
                </a:lnTo>
                <a:lnTo>
                  <a:pt x="58" y="67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79" name="Rectangle 513">
            <a:extLst>
              <a:ext uri="{FF2B5EF4-FFF2-40B4-BE49-F238E27FC236}">
                <a16:creationId xmlns:a16="http://schemas.microsoft.com/office/drawing/2014/main" id="{3AFE569E-731F-4356-803E-6AE7380A7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644" y="3872406"/>
            <a:ext cx="1628411" cy="523006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80" name="Rectangle 514">
            <a:extLst>
              <a:ext uri="{FF2B5EF4-FFF2-40B4-BE49-F238E27FC236}">
                <a16:creationId xmlns:a16="http://schemas.microsoft.com/office/drawing/2014/main" id="{A2283029-CAB6-D355-62BD-A41ADAD12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0940" y="4508896"/>
            <a:ext cx="1634129" cy="521363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81" name="Freeform 530">
            <a:extLst>
              <a:ext uri="{FF2B5EF4-FFF2-40B4-BE49-F238E27FC236}">
                <a16:creationId xmlns:a16="http://schemas.microsoft.com/office/drawing/2014/main" id="{C15C1A7E-BC79-CDF1-933C-AFDFBB3A0BD3}"/>
              </a:ext>
            </a:extLst>
          </p:cNvPr>
          <p:cNvSpPr>
            <a:spLocks/>
          </p:cNvSpPr>
          <p:nvPr/>
        </p:nvSpPr>
        <p:spPr bwMode="auto">
          <a:xfrm>
            <a:off x="4021034" y="3969442"/>
            <a:ext cx="254484" cy="226965"/>
          </a:xfrm>
          <a:custGeom>
            <a:avLst/>
            <a:gdLst>
              <a:gd name="T0" fmla="*/ 0 w 178"/>
              <a:gd name="T1" fmla="*/ 53 h 138"/>
              <a:gd name="T2" fmla="*/ 68 w 178"/>
              <a:gd name="T3" fmla="*/ 53 h 138"/>
              <a:gd name="T4" fmla="*/ 89 w 178"/>
              <a:gd name="T5" fmla="*/ 0 h 138"/>
              <a:gd name="T6" fmla="*/ 110 w 178"/>
              <a:gd name="T7" fmla="*/ 53 h 138"/>
              <a:gd name="T8" fmla="*/ 178 w 178"/>
              <a:gd name="T9" fmla="*/ 53 h 138"/>
              <a:gd name="T10" fmla="*/ 123 w 178"/>
              <a:gd name="T11" fmla="*/ 85 h 138"/>
              <a:gd name="T12" fmla="*/ 145 w 178"/>
              <a:gd name="T13" fmla="*/ 138 h 138"/>
              <a:gd name="T14" fmla="*/ 89 w 178"/>
              <a:gd name="T15" fmla="*/ 106 h 138"/>
              <a:gd name="T16" fmla="*/ 34 w 178"/>
              <a:gd name="T17" fmla="*/ 138 h 138"/>
              <a:gd name="T18" fmla="*/ 55 w 178"/>
              <a:gd name="T19" fmla="*/ 85 h 138"/>
              <a:gd name="T20" fmla="*/ 0 w 178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8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0" y="53"/>
                </a:lnTo>
                <a:lnTo>
                  <a:pt x="178" y="53"/>
                </a:lnTo>
                <a:lnTo>
                  <a:pt x="123" y="85"/>
                </a:lnTo>
                <a:lnTo>
                  <a:pt x="145" y="138"/>
                </a:lnTo>
                <a:lnTo>
                  <a:pt x="89" y="106"/>
                </a:lnTo>
                <a:lnTo>
                  <a:pt x="34" y="138"/>
                </a:lnTo>
                <a:lnTo>
                  <a:pt x="55" y="85"/>
                </a:lnTo>
                <a:lnTo>
                  <a:pt x="0" y="53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82" name="Freeform 531">
            <a:extLst>
              <a:ext uri="{FF2B5EF4-FFF2-40B4-BE49-F238E27FC236}">
                <a16:creationId xmlns:a16="http://schemas.microsoft.com/office/drawing/2014/main" id="{035854E5-C1FB-23E3-18BC-3165ACAC3091}"/>
              </a:ext>
            </a:extLst>
          </p:cNvPr>
          <p:cNvSpPr>
            <a:spLocks/>
          </p:cNvSpPr>
          <p:nvPr/>
        </p:nvSpPr>
        <p:spPr bwMode="auto">
          <a:xfrm>
            <a:off x="4021034" y="3969442"/>
            <a:ext cx="254484" cy="226965"/>
          </a:xfrm>
          <a:custGeom>
            <a:avLst/>
            <a:gdLst>
              <a:gd name="T0" fmla="*/ 0 w 178"/>
              <a:gd name="T1" fmla="*/ 53 h 138"/>
              <a:gd name="T2" fmla="*/ 68 w 178"/>
              <a:gd name="T3" fmla="*/ 53 h 138"/>
              <a:gd name="T4" fmla="*/ 89 w 178"/>
              <a:gd name="T5" fmla="*/ 0 h 138"/>
              <a:gd name="T6" fmla="*/ 110 w 178"/>
              <a:gd name="T7" fmla="*/ 53 h 138"/>
              <a:gd name="T8" fmla="*/ 178 w 178"/>
              <a:gd name="T9" fmla="*/ 53 h 138"/>
              <a:gd name="T10" fmla="*/ 123 w 178"/>
              <a:gd name="T11" fmla="*/ 85 h 138"/>
              <a:gd name="T12" fmla="*/ 145 w 178"/>
              <a:gd name="T13" fmla="*/ 138 h 138"/>
              <a:gd name="T14" fmla="*/ 89 w 178"/>
              <a:gd name="T15" fmla="*/ 106 h 138"/>
              <a:gd name="T16" fmla="*/ 34 w 178"/>
              <a:gd name="T17" fmla="*/ 138 h 138"/>
              <a:gd name="T18" fmla="*/ 55 w 178"/>
              <a:gd name="T19" fmla="*/ 85 h 138"/>
              <a:gd name="T20" fmla="*/ 0 w 178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8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0" y="53"/>
                </a:lnTo>
                <a:lnTo>
                  <a:pt x="178" y="53"/>
                </a:lnTo>
                <a:lnTo>
                  <a:pt x="123" y="85"/>
                </a:lnTo>
                <a:lnTo>
                  <a:pt x="145" y="138"/>
                </a:lnTo>
                <a:lnTo>
                  <a:pt x="89" y="106"/>
                </a:lnTo>
                <a:lnTo>
                  <a:pt x="34" y="138"/>
                </a:lnTo>
                <a:lnTo>
                  <a:pt x="55" y="85"/>
                </a:lnTo>
                <a:lnTo>
                  <a:pt x="0" y="53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83" name="Freeform 532">
            <a:extLst>
              <a:ext uri="{FF2B5EF4-FFF2-40B4-BE49-F238E27FC236}">
                <a16:creationId xmlns:a16="http://schemas.microsoft.com/office/drawing/2014/main" id="{7F857C42-8DD3-78AA-7419-BCC241A6DFD7}"/>
              </a:ext>
            </a:extLst>
          </p:cNvPr>
          <p:cNvSpPr>
            <a:spLocks/>
          </p:cNvSpPr>
          <p:nvPr/>
        </p:nvSpPr>
        <p:spPr bwMode="auto">
          <a:xfrm>
            <a:off x="4291244" y="3969442"/>
            <a:ext cx="250195" cy="226965"/>
          </a:xfrm>
          <a:custGeom>
            <a:avLst/>
            <a:gdLst>
              <a:gd name="T0" fmla="*/ 0 w 175"/>
              <a:gd name="T1" fmla="*/ 53 h 138"/>
              <a:gd name="T2" fmla="*/ 67 w 175"/>
              <a:gd name="T3" fmla="*/ 53 h 138"/>
              <a:gd name="T4" fmla="*/ 87 w 175"/>
              <a:gd name="T5" fmla="*/ 0 h 138"/>
              <a:gd name="T6" fmla="*/ 108 w 175"/>
              <a:gd name="T7" fmla="*/ 53 h 138"/>
              <a:gd name="T8" fmla="*/ 175 w 175"/>
              <a:gd name="T9" fmla="*/ 53 h 138"/>
              <a:gd name="T10" fmla="*/ 121 w 175"/>
              <a:gd name="T11" fmla="*/ 85 h 138"/>
              <a:gd name="T12" fmla="*/ 141 w 175"/>
              <a:gd name="T13" fmla="*/ 138 h 138"/>
              <a:gd name="T14" fmla="*/ 87 w 175"/>
              <a:gd name="T15" fmla="*/ 106 h 138"/>
              <a:gd name="T16" fmla="*/ 33 w 175"/>
              <a:gd name="T17" fmla="*/ 138 h 138"/>
              <a:gd name="T18" fmla="*/ 54 w 175"/>
              <a:gd name="T19" fmla="*/ 85 h 138"/>
              <a:gd name="T20" fmla="*/ 0 w 175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5" h="138">
                <a:moveTo>
                  <a:pt x="0" y="53"/>
                </a:moveTo>
                <a:lnTo>
                  <a:pt x="67" y="53"/>
                </a:lnTo>
                <a:lnTo>
                  <a:pt x="87" y="0"/>
                </a:lnTo>
                <a:lnTo>
                  <a:pt x="108" y="53"/>
                </a:lnTo>
                <a:lnTo>
                  <a:pt x="175" y="53"/>
                </a:lnTo>
                <a:lnTo>
                  <a:pt x="121" y="85"/>
                </a:lnTo>
                <a:lnTo>
                  <a:pt x="141" y="138"/>
                </a:lnTo>
                <a:lnTo>
                  <a:pt x="87" y="106"/>
                </a:lnTo>
                <a:lnTo>
                  <a:pt x="33" y="138"/>
                </a:lnTo>
                <a:lnTo>
                  <a:pt x="54" y="85"/>
                </a:lnTo>
                <a:lnTo>
                  <a:pt x="0" y="53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84" name="Freeform 533">
            <a:extLst>
              <a:ext uri="{FF2B5EF4-FFF2-40B4-BE49-F238E27FC236}">
                <a16:creationId xmlns:a16="http://schemas.microsoft.com/office/drawing/2014/main" id="{60E3A55D-58E3-45A4-66AB-4DE007D71A36}"/>
              </a:ext>
            </a:extLst>
          </p:cNvPr>
          <p:cNvSpPr>
            <a:spLocks/>
          </p:cNvSpPr>
          <p:nvPr/>
        </p:nvSpPr>
        <p:spPr bwMode="auto">
          <a:xfrm>
            <a:off x="4291244" y="3969442"/>
            <a:ext cx="250195" cy="226965"/>
          </a:xfrm>
          <a:custGeom>
            <a:avLst/>
            <a:gdLst>
              <a:gd name="T0" fmla="*/ 0 w 175"/>
              <a:gd name="T1" fmla="*/ 53 h 138"/>
              <a:gd name="T2" fmla="*/ 67 w 175"/>
              <a:gd name="T3" fmla="*/ 53 h 138"/>
              <a:gd name="T4" fmla="*/ 87 w 175"/>
              <a:gd name="T5" fmla="*/ 0 h 138"/>
              <a:gd name="T6" fmla="*/ 108 w 175"/>
              <a:gd name="T7" fmla="*/ 53 h 138"/>
              <a:gd name="T8" fmla="*/ 175 w 175"/>
              <a:gd name="T9" fmla="*/ 53 h 138"/>
              <a:gd name="T10" fmla="*/ 121 w 175"/>
              <a:gd name="T11" fmla="*/ 85 h 138"/>
              <a:gd name="T12" fmla="*/ 141 w 175"/>
              <a:gd name="T13" fmla="*/ 138 h 138"/>
              <a:gd name="T14" fmla="*/ 87 w 175"/>
              <a:gd name="T15" fmla="*/ 106 h 138"/>
              <a:gd name="T16" fmla="*/ 33 w 175"/>
              <a:gd name="T17" fmla="*/ 138 h 138"/>
              <a:gd name="T18" fmla="*/ 54 w 175"/>
              <a:gd name="T19" fmla="*/ 85 h 138"/>
              <a:gd name="T20" fmla="*/ 0 w 175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5" h="138">
                <a:moveTo>
                  <a:pt x="0" y="53"/>
                </a:moveTo>
                <a:lnTo>
                  <a:pt x="67" y="53"/>
                </a:lnTo>
                <a:lnTo>
                  <a:pt x="87" y="0"/>
                </a:lnTo>
                <a:lnTo>
                  <a:pt x="108" y="53"/>
                </a:lnTo>
                <a:lnTo>
                  <a:pt x="175" y="53"/>
                </a:lnTo>
                <a:lnTo>
                  <a:pt x="121" y="85"/>
                </a:lnTo>
                <a:lnTo>
                  <a:pt x="141" y="138"/>
                </a:lnTo>
                <a:lnTo>
                  <a:pt x="87" y="106"/>
                </a:lnTo>
                <a:lnTo>
                  <a:pt x="33" y="138"/>
                </a:lnTo>
                <a:lnTo>
                  <a:pt x="54" y="85"/>
                </a:lnTo>
                <a:lnTo>
                  <a:pt x="0" y="53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85" name="Freeform 534">
            <a:extLst>
              <a:ext uri="{FF2B5EF4-FFF2-40B4-BE49-F238E27FC236}">
                <a16:creationId xmlns:a16="http://schemas.microsoft.com/office/drawing/2014/main" id="{35E39283-59AF-7D73-275E-EF13D2B418EA}"/>
              </a:ext>
            </a:extLst>
          </p:cNvPr>
          <p:cNvSpPr>
            <a:spLocks/>
          </p:cNvSpPr>
          <p:nvPr/>
        </p:nvSpPr>
        <p:spPr bwMode="auto">
          <a:xfrm>
            <a:off x="4555736" y="3969442"/>
            <a:ext cx="254484" cy="226965"/>
          </a:xfrm>
          <a:custGeom>
            <a:avLst/>
            <a:gdLst>
              <a:gd name="T0" fmla="*/ 0 w 178"/>
              <a:gd name="T1" fmla="*/ 53 h 138"/>
              <a:gd name="T2" fmla="*/ 68 w 178"/>
              <a:gd name="T3" fmla="*/ 53 h 138"/>
              <a:gd name="T4" fmla="*/ 89 w 178"/>
              <a:gd name="T5" fmla="*/ 0 h 138"/>
              <a:gd name="T6" fmla="*/ 110 w 178"/>
              <a:gd name="T7" fmla="*/ 53 h 138"/>
              <a:gd name="T8" fmla="*/ 178 w 178"/>
              <a:gd name="T9" fmla="*/ 53 h 138"/>
              <a:gd name="T10" fmla="*/ 123 w 178"/>
              <a:gd name="T11" fmla="*/ 85 h 138"/>
              <a:gd name="T12" fmla="*/ 144 w 178"/>
              <a:gd name="T13" fmla="*/ 138 h 138"/>
              <a:gd name="T14" fmla="*/ 89 w 178"/>
              <a:gd name="T15" fmla="*/ 106 h 138"/>
              <a:gd name="T16" fmla="*/ 34 w 178"/>
              <a:gd name="T17" fmla="*/ 138 h 138"/>
              <a:gd name="T18" fmla="*/ 55 w 178"/>
              <a:gd name="T19" fmla="*/ 85 h 138"/>
              <a:gd name="T20" fmla="*/ 0 w 178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8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0" y="53"/>
                </a:lnTo>
                <a:lnTo>
                  <a:pt x="178" y="53"/>
                </a:lnTo>
                <a:lnTo>
                  <a:pt x="123" y="85"/>
                </a:lnTo>
                <a:lnTo>
                  <a:pt x="144" y="138"/>
                </a:lnTo>
                <a:lnTo>
                  <a:pt x="89" y="106"/>
                </a:lnTo>
                <a:lnTo>
                  <a:pt x="34" y="138"/>
                </a:lnTo>
                <a:lnTo>
                  <a:pt x="55" y="85"/>
                </a:lnTo>
                <a:lnTo>
                  <a:pt x="0" y="53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86" name="Freeform 535">
            <a:extLst>
              <a:ext uri="{FF2B5EF4-FFF2-40B4-BE49-F238E27FC236}">
                <a16:creationId xmlns:a16="http://schemas.microsoft.com/office/drawing/2014/main" id="{B1FD3CF2-A379-9E18-D21C-E5B38A31BAFA}"/>
              </a:ext>
            </a:extLst>
          </p:cNvPr>
          <p:cNvSpPr>
            <a:spLocks/>
          </p:cNvSpPr>
          <p:nvPr/>
        </p:nvSpPr>
        <p:spPr bwMode="auto">
          <a:xfrm>
            <a:off x="4555736" y="3969442"/>
            <a:ext cx="254484" cy="226965"/>
          </a:xfrm>
          <a:custGeom>
            <a:avLst/>
            <a:gdLst>
              <a:gd name="T0" fmla="*/ 0 w 178"/>
              <a:gd name="T1" fmla="*/ 53 h 138"/>
              <a:gd name="T2" fmla="*/ 68 w 178"/>
              <a:gd name="T3" fmla="*/ 53 h 138"/>
              <a:gd name="T4" fmla="*/ 89 w 178"/>
              <a:gd name="T5" fmla="*/ 0 h 138"/>
              <a:gd name="T6" fmla="*/ 110 w 178"/>
              <a:gd name="T7" fmla="*/ 53 h 138"/>
              <a:gd name="T8" fmla="*/ 178 w 178"/>
              <a:gd name="T9" fmla="*/ 53 h 138"/>
              <a:gd name="T10" fmla="*/ 123 w 178"/>
              <a:gd name="T11" fmla="*/ 85 h 138"/>
              <a:gd name="T12" fmla="*/ 144 w 178"/>
              <a:gd name="T13" fmla="*/ 138 h 138"/>
              <a:gd name="T14" fmla="*/ 89 w 178"/>
              <a:gd name="T15" fmla="*/ 106 h 138"/>
              <a:gd name="T16" fmla="*/ 34 w 178"/>
              <a:gd name="T17" fmla="*/ 138 h 138"/>
              <a:gd name="T18" fmla="*/ 55 w 178"/>
              <a:gd name="T19" fmla="*/ 85 h 138"/>
              <a:gd name="T20" fmla="*/ 0 w 178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8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0" y="53"/>
                </a:lnTo>
                <a:lnTo>
                  <a:pt x="178" y="53"/>
                </a:lnTo>
                <a:lnTo>
                  <a:pt x="123" y="85"/>
                </a:lnTo>
                <a:lnTo>
                  <a:pt x="144" y="138"/>
                </a:lnTo>
                <a:lnTo>
                  <a:pt x="89" y="106"/>
                </a:lnTo>
                <a:lnTo>
                  <a:pt x="34" y="138"/>
                </a:lnTo>
                <a:lnTo>
                  <a:pt x="55" y="85"/>
                </a:lnTo>
                <a:lnTo>
                  <a:pt x="0" y="53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87" name="Freeform 536">
            <a:extLst>
              <a:ext uri="{FF2B5EF4-FFF2-40B4-BE49-F238E27FC236}">
                <a16:creationId xmlns:a16="http://schemas.microsoft.com/office/drawing/2014/main" id="{16D9F3CD-88DB-DAC6-EB01-4C12C46A34C1}"/>
              </a:ext>
            </a:extLst>
          </p:cNvPr>
          <p:cNvSpPr>
            <a:spLocks/>
          </p:cNvSpPr>
          <p:nvPr/>
        </p:nvSpPr>
        <p:spPr bwMode="auto">
          <a:xfrm>
            <a:off x="4825946" y="3969442"/>
            <a:ext cx="254484" cy="226965"/>
          </a:xfrm>
          <a:custGeom>
            <a:avLst/>
            <a:gdLst>
              <a:gd name="T0" fmla="*/ 0 w 178"/>
              <a:gd name="T1" fmla="*/ 53 h 138"/>
              <a:gd name="T2" fmla="*/ 68 w 178"/>
              <a:gd name="T3" fmla="*/ 53 h 138"/>
              <a:gd name="T4" fmla="*/ 89 w 178"/>
              <a:gd name="T5" fmla="*/ 0 h 138"/>
              <a:gd name="T6" fmla="*/ 110 w 178"/>
              <a:gd name="T7" fmla="*/ 53 h 138"/>
              <a:gd name="T8" fmla="*/ 178 w 178"/>
              <a:gd name="T9" fmla="*/ 53 h 138"/>
              <a:gd name="T10" fmla="*/ 123 w 178"/>
              <a:gd name="T11" fmla="*/ 85 h 138"/>
              <a:gd name="T12" fmla="*/ 144 w 178"/>
              <a:gd name="T13" fmla="*/ 138 h 138"/>
              <a:gd name="T14" fmla="*/ 89 w 178"/>
              <a:gd name="T15" fmla="*/ 106 h 138"/>
              <a:gd name="T16" fmla="*/ 34 w 178"/>
              <a:gd name="T17" fmla="*/ 138 h 138"/>
              <a:gd name="T18" fmla="*/ 55 w 178"/>
              <a:gd name="T19" fmla="*/ 85 h 138"/>
              <a:gd name="T20" fmla="*/ 0 w 178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8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0" y="53"/>
                </a:lnTo>
                <a:lnTo>
                  <a:pt x="178" y="53"/>
                </a:lnTo>
                <a:lnTo>
                  <a:pt x="123" y="85"/>
                </a:lnTo>
                <a:lnTo>
                  <a:pt x="144" y="138"/>
                </a:lnTo>
                <a:lnTo>
                  <a:pt x="89" y="106"/>
                </a:lnTo>
                <a:lnTo>
                  <a:pt x="34" y="138"/>
                </a:lnTo>
                <a:lnTo>
                  <a:pt x="55" y="85"/>
                </a:lnTo>
                <a:lnTo>
                  <a:pt x="0" y="53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88" name="Freeform 537">
            <a:extLst>
              <a:ext uri="{FF2B5EF4-FFF2-40B4-BE49-F238E27FC236}">
                <a16:creationId xmlns:a16="http://schemas.microsoft.com/office/drawing/2014/main" id="{93A2B8F0-B853-2E50-EF96-F0D63A67566C}"/>
              </a:ext>
            </a:extLst>
          </p:cNvPr>
          <p:cNvSpPr>
            <a:spLocks/>
          </p:cNvSpPr>
          <p:nvPr/>
        </p:nvSpPr>
        <p:spPr bwMode="auto">
          <a:xfrm>
            <a:off x="4825946" y="3969442"/>
            <a:ext cx="254484" cy="226965"/>
          </a:xfrm>
          <a:custGeom>
            <a:avLst/>
            <a:gdLst>
              <a:gd name="T0" fmla="*/ 0 w 178"/>
              <a:gd name="T1" fmla="*/ 53 h 138"/>
              <a:gd name="T2" fmla="*/ 68 w 178"/>
              <a:gd name="T3" fmla="*/ 53 h 138"/>
              <a:gd name="T4" fmla="*/ 89 w 178"/>
              <a:gd name="T5" fmla="*/ 0 h 138"/>
              <a:gd name="T6" fmla="*/ 110 w 178"/>
              <a:gd name="T7" fmla="*/ 53 h 138"/>
              <a:gd name="T8" fmla="*/ 178 w 178"/>
              <a:gd name="T9" fmla="*/ 53 h 138"/>
              <a:gd name="T10" fmla="*/ 123 w 178"/>
              <a:gd name="T11" fmla="*/ 85 h 138"/>
              <a:gd name="T12" fmla="*/ 144 w 178"/>
              <a:gd name="T13" fmla="*/ 138 h 138"/>
              <a:gd name="T14" fmla="*/ 89 w 178"/>
              <a:gd name="T15" fmla="*/ 106 h 138"/>
              <a:gd name="T16" fmla="*/ 34 w 178"/>
              <a:gd name="T17" fmla="*/ 138 h 138"/>
              <a:gd name="T18" fmla="*/ 55 w 178"/>
              <a:gd name="T19" fmla="*/ 85 h 138"/>
              <a:gd name="T20" fmla="*/ 0 w 178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8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0" y="53"/>
                </a:lnTo>
                <a:lnTo>
                  <a:pt x="178" y="53"/>
                </a:lnTo>
                <a:lnTo>
                  <a:pt x="123" y="85"/>
                </a:lnTo>
                <a:lnTo>
                  <a:pt x="144" y="138"/>
                </a:lnTo>
                <a:lnTo>
                  <a:pt x="89" y="106"/>
                </a:lnTo>
                <a:lnTo>
                  <a:pt x="34" y="138"/>
                </a:lnTo>
                <a:lnTo>
                  <a:pt x="55" y="85"/>
                </a:lnTo>
                <a:lnTo>
                  <a:pt x="0" y="53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89" name="Freeform 538">
            <a:extLst>
              <a:ext uri="{FF2B5EF4-FFF2-40B4-BE49-F238E27FC236}">
                <a16:creationId xmlns:a16="http://schemas.microsoft.com/office/drawing/2014/main" id="{5570AD65-924E-54A0-D758-E742CDA8ECB3}"/>
              </a:ext>
            </a:extLst>
          </p:cNvPr>
          <p:cNvSpPr>
            <a:spLocks/>
          </p:cNvSpPr>
          <p:nvPr/>
        </p:nvSpPr>
        <p:spPr bwMode="auto">
          <a:xfrm>
            <a:off x="5094728" y="3969442"/>
            <a:ext cx="254484" cy="226965"/>
          </a:xfrm>
          <a:custGeom>
            <a:avLst/>
            <a:gdLst>
              <a:gd name="T0" fmla="*/ 0 w 178"/>
              <a:gd name="T1" fmla="*/ 53 h 138"/>
              <a:gd name="T2" fmla="*/ 68 w 178"/>
              <a:gd name="T3" fmla="*/ 53 h 138"/>
              <a:gd name="T4" fmla="*/ 89 w 178"/>
              <a:gd name="T5" fmla="*/ 0 h 138"/>
              <a:gd name="T6" fmla="*/ 111 w 178"/>
              <a:gd name="T7" fmla="*/ 53 h 138"/>
              <a:gd name="T8" fmla="*/ 178 w 178"/>
              <a:gd name="T9" fmla="*/ 53 h 138"/>
              <a:gd name="T10" fmla="*/ 123 w 178"/>
              <a:gd name="T11" fmla="*/ 85 h 138"/>
              <a:gd name="T12" fmla="*/ 145 w 178"/>
              <a:gd name="T13" fmla="*/ 138 h 138"/>
              <a:gd name="T14" fmla="*/ 89 w 178"/>
              <a:gd name="T15" fmla="*/ 106 h 138"/>
              <a:gd name="T16" fmla="*/ 34 w 178"/>
              <a:gd name="T17" fmla="*/ 138 h 138"/>
              <a:gd name="T18" fmla="*/ 56 w 178"/>
              <a:gd name="T19" fmla="*/ 85 h 138"/>
              <a:gd name="T20" fmla="*/ 0 w 178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8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1" y="53"/>
                </a:lnTo>
                <a:lnTo>
                  <a:pt x="178" y="53"/>
                </a:lnTo>
                <a:lnTo>
                  <a:pt x="123" y="85"/>
                </a:lnTo>
                <a:lnTo>
                  <a:pt x="145" y="138"/>
                </a:lnTo>
                <a:lnTo>
                  <a:pt x="89" y="106"/>
                </a:lnTo>
                <a:lnTo>
                  <a:pt x="34" y="138"/>
                </a:lnTo>
                <a:lnTo>
                  <a:pt x="56" y="85"/>
                </a:lnTo>
                <a:lnTo>
                  <a:pt x="0" y="53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90" name="Freeform 539">
            <a:extLst>
              <a:ext uri="{FF2B5EF4-FFF2-40B4-BE49-F238E27FC236}">
                <a16:creationId xmlns:a16="http://schemas.microsoft.com/office/drawing/2014/main" id="{9CDE04B3-55AD-0E67-69F9-411ECB3650E8}"/>
              </a:ext>
            </a:extLst>
          </p:cNvPr>
          <p:cNvSpPr>
            <a:spLocks/>
          </p:cNvSpPr>
          <p:nvPr/>
        </p:nvSpPr>
        <p:spPr bwMode="auto">
          <a:xfrm>
            <a:off x="5094728" y="3969442"/>
            <a:ext cx="254484" cy="226965"/>
          </a:xfrm>
          <a:custGeom>
            <a:avLst/>
            <a:gdLst>
              <a:gd name="T0" fmla="*/ 0 w 178"/>
              <a:gd name="T1" fmla="*/ 53 h 138"/>
              <a:gd name="T2" fmla="*/ 68 w 178"/>
              <a:gd name="T3" fmla="*/ 53 h 138"/>
              <a:gd name="T4" fmla="*/ 89 w 178"/>
              <a:gd name="T5" fmla="*/ 0 h 138"/>
              <a:gd name="T6" fmla="*/ 111 w 178"/>
              <a:gd name="T7" fmla="*/ 53 h 138"/>
              <a:gd name="T8" fmla="*/ 178 w 178"/>
              <a:gd name="T9" fmla="*/ 53 h 138"/>
              <a:gd name="T10" fmla="*/ 123 w 178"/>
              <a:gd name="T11" fmla="*/ 85 h 138"/>
              <a:gd name="T12" fmla="*/ 145 w 178"/>
              <a:gd name="T13" fmla="*/ 138 h 138"/>
              <a:gd name="T14" fmla="*/ 89 w 178"/>
              <a:gd name="T15" fmla="*/ 106 h 138"/>
              <a:gd name="T16" fmla="*/ 34 w 178"/>
              <a:gd name="T17" fmla="*/ 138 h 138"/>
              <a:gd name="T18" fmla="*/ 56 w 178"/>
              <a:gd name="T19" fmla="*/ 85 h 138"/>
              <a:gd name="T20" fmla="*/ 0 w 178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8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1" y="53"/>
                </a:lnTo>
                <a:lnTo>
                  <a:pt x="178" y="53"/>
                </a:lnTo>
                <a:lnTo>
                  <a:pt x="123" y="85"/>
                </a:lnTo>
                <a:lnTo>
                  <a:pt x="145" y="138"/>
                </a:lnTo>
                <a:lnTo>
                  <a:pt x="89" y="106"/>
                </a:lnTo>
                <a:lnTo>
                  <a:pt x="34" y="138"/>
                </a:lnTo>
                <a:lnTo>
                  <a:pt x="56" y="85"/>
                </a:lnTo>
                <a:lnTo>
                  <a:pt x="0" y="53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91" name="Freeform 540">
            <a:extLst>
              <a:ext uri="{FF2B5EF4-FFF2-40B4-BE49-F238E27FC236}">
                <a16:creationId xmlns:a16="http://schemas.microsoft.com/office/drawing/2014/main" id="{676A0FE6-4455-F9FF-7DDA-93C3DFC6C57D}"/>
              </a:ext>
            </a:extLst>
          </p:cNvPr>
          <p:cNvSpPr>
            <a:spLocks/>
          </p:cNvSpPr>
          <p:nvPr/>
        </p:nvSpPr>
        <p:spPr bwMode="auto">
          <a:xfrm>
            <a:off x="4011027" y="4581261"/>
            <a:ext cx="254484" cy="226965"/>
          </a:xfrm>
          <a:custGeom>
            <a:avLst/>
            <a:gdLst>
              <a:gd name="T0" fmla="*/ 0 w 178"/>
              <a:gd name="T1" fmla="*/ 53 h 138"/>
              <a:gd name="T2" fmla="*/ 68 w 178"/>
              <a:gd name="T3" fmla="*/ 53 h 138"/>
              <a:gd name="T4" fmla="*/ 89 w 178"/>
              <a:gd name="T5" fmla="*/ 0 h 138"/>
              <a:gd name="T6" fmla="*/ 111 w 178"/>
              <a:gd name="T7" fmla="*/ 53 h 138"/>
              <a:gd name="T8" fmla="*/ 178 w 178"/>
              <a:gd name="T9" fmla="*/ 53 h 138"/>
              <a:gd name="T10" fmla="*/ 123 w 178"/>
              <a:gd name="T11" fmla="*/ 85 h 138"/>
              <a:gd name="T12" fmla="*/ 145 w 178"/>
              <a:gd name="T13" fmla="*/ 138 h 138"/>
              <a:gd name="T14" fmla="*/ 89 w 178"/>
              <a:gd name="T15" fmla="*/ 105 h 138"/>
              <a:gd name="T16" fmla="*/ 34 w 178"/>
              <a:gd name="T17" fmla="*/ 138 h 138"/>
              <a:gd name="T18" fmla="*/ 55 w 178"/>
              <a:gd name="T19" fmla="*/ 85 h 138"/>
              <a:gd name="T20" fmla="*/ 0 w 178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8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1" y="53"/>
                </a:lnTo>
                <a:lnTo>
                  <a:pt x="178" y="53"/>
                </a:lnTo>
                <a:lnTo>
                  <a:pt x="123" y="85"/>
                </a:lnTo>
                <a:lnTo>
                  <a:pt x="145" y="138"/>
                </a:lnTo>
                <a:lnTo>
                  <a:pt x="89" y="105"/>
                </a:lnTo>
                <a:lnTo>
                  <a:pt x="34" y="138"/>
                </a:lnTo>
                <a:lnTo>
                  <a:pt x="55" y="85"/>
                </a:lnTo>
                <a:lnTo>
                  <a:pt x="0" y="53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92" name="Freeform 541">
            <a:extLst>
              <a:ext uri="{FF2B5EF4-FFF2-40B4-BE49-F238E27FC236}">
                <a16:creationId xmlns:a16="http://schemas.microsoft.com/office/drawing/2014/main" id="{FB6C55DC-C973-860D-C1EA-491B1332E2B7}"/>
              </a:ext>
            </a:extLst>
          </p:cNvPr>
          <p:cNvSpPr>
            <a:spLocks/>
          </p:cNvSpPr>
          <p:nvPr/>
        </p:nvSpPr>
        <p:spPr bwMode="auto">
          <a:xfrm>
            <a:off x="4011027" y="4581261"/>
            <a:ext cx="254484" cy="226965"/>
          </a:xfrm>
          <a:custGeom>
            <a:avLst/>
            <a:gdLst>
              <a:gd name="T0" fmla="*/ 0 w 178"/>
              <a:gd name="T1" fmla="*/ 53 h 138"/>
              <a:gd name="T2" fmla="*/ 68 w 178"/>
              <a:gd name="T3" fmla="*/ 53 h 138"/>
              <a:gd name="T4" fmla="*/ 89 w 178"/>
              <a:gd name="T5" fmla="*/ 0 h 138"/>
              <a:gd name="T6" fmla="*/ 111 w 178"/>
              <a:gd name="T7" fmla="*/ 53 h 138"/>
              <a:gd name="T8" fmla="*/ 178 w 178"/>
              <a:gd name="T9" fmla="*/ 53 h 138"/>
              <a:gd name="T10" fmla="*/ 123 w 178"/>
              <a:gd name="T11" fmla="*/ 85 h 138"/>
              <a:gd name="T12" fmla="*/ 145 w 178"/>
              <a:gd name="T13" fmla="*/ 138 h 138"/>
              <a:gd name="T14" fmla="*/ 89 w 178"/>
              <a:gd name="T15" fmla="*/ 105 h 138"/>
              <a:gd name="T16" fmla="*/ 34 w 178"/>
              <a:gd name="T17" fmla="*/ 138 h 138"/>
              <a:gd name="T18" fmla="*/ 55 w 178"/>
              <a:gd name="T19" fmla="*/ 85 h 138"/>
              <a:gd name="T20" fmla="*/ 0 w 178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8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1" y="53"/>
                </a:lnTo>
                <a:lnTo>
                  <a:pt x="178" y="53"/>
                </a:lnTo>
                <a:lnTo>
                  <a:pt x="123" y="85"/>
                </a:lnTo>
                <a:lnTo>
                  <a:pt x="145" y="138"/>
                </a:lnTo>
                <a:lnTo>
                  <a:pt x="89" y="105"/>
                </a:lnTo>
                <a:lnTo>
                  <a:pt x="34" y="138"/>
                </a:lnTo>
                <a:lnTo>
                  <a:pt x="55" y="85"/>
                </a:lnTo>
                <a:lnTo>
                  <a:pt x="0" y="53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93" name="Freeform 542">
            <a:extLst>
              <a:ext uri="{FF2B5EF4-FFF2-40B4-BE49-F238E27FC236}">
                <a16:creationId xmlns:a16="http://schemas.microsoft.com/office/drawing/2014/main" id="{52F7EF77-E7F2-1268-84F7-25BEF14250AC}"/>
              </a:ext>
            </a:extLst>
          </p:cNvPr>
          <p:cNvSpPr>
            <a:spLocks/>
          </p:cNvSpPr>
          <p:nvPr/>
        </p:nvSpPr>
        <p:spPr bwMode="auto">
          <a:xfrm>
            <a:off x="4281237" y="4581261"/>
            <a:ext cx="254484" cy="226965"/>
          </a:xfrm>
          <a:custGeom>
            <a:avLst/>
            <a:gdLst>
              <a:gd name="T0" fmla="*/ 0 w 178"/>
              <a:gd name="T1" fmla="*/ 53 h 138"/>
              <a:gd name="T2" fmla="*/ 68 w 178"/>
              <a:gd name="T3" fmla="*/ 53 h 138"/>
              <a:gd name="T4" fmla="*/ 89 w 178"/>
              <a:gd name="T5" fmla="*/ 0 h 138"/>
              <a:gd name="T6" fmla="*/ 110 w 178"/>
              <a:gd name="T7" fmla="*/ 53 h 138"/>
              <a:gd name="T8" fmla="*/ 178 w 178"/>
              <a:gd name="T9" fmla="*/ 53 h 138"/>
              <a:gd name="T10" fmla="*/ 123 w 178"/>
              <a:gd name="T11" fmla="*/ 85 h 138"/>
              <a:gd name="T12" fmla="*/ 144 w 178"/>
              <a:gd name="T13" fmla="*/ 138 h 138"/>
              <a:gd name="T14" fmla="*/ 89 w 178"/>
              <a:gd name="T15" fmla="*/ 105 h 138"/>
              <a:gd name="T16" fmla="*/ 34 w 178"/>
              <a:gd name="T17" fmla="*/ 138 h 138"/>
              <a:gd name="T18" fmla="*/ 55 w 178"/>
              <a:gd name="T19" fmla="*/ 85 h 138"/>
              <a:gd name="T20" fmla="*/ 0 w 178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8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0" y="53"/>
                </a:lnTo>
                <a:lnTo>
                  <a:pt x="178" y="53"/>
                </a:lnTo>
                <a:lnTo>
                  <a:pt x="123" y="85"/>
                </a:lnTo>
                <a:lnTo>
                  <a:pt x="144" y="138"/>
                </a:lnTo>
                <a:lnTo>
                  <a:pt x="89" y="105"/>
                </a:lnTo>
                <a:lnTo>
                  <a:pt x="34" y="138"/>
                </a:lnTo>
                <a:lnTo>
                  <a:pt x="55" y="85"/>
                </a:lnTo>
                <a:lnTo>
                  <a:pt x="0" y="53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94" name="Freeform 543">
            <a:extLst>
              <a:ext uri="{FF2B5EF4-FFF2-40B4-BE49-F238E27FC236}">
                <a16:creationId xmlns:a16="http://schemas.microsoft.com/office/drawing/2014/main" id="{D49D382B-E374-97A0-3339-43EDF58ABB30}"/>
              </a:ext>
            </a:extLst>
          </p:cNvPr>
          <p:cNvSpPr>
            <a:spLocks/>
          </p:cNvSpPr>
          <p:nvPr/>
        </p:nvSpPr>
        <p:spPr bwMode="auto">
          <a:xfrm>
            <a:off x="4281237" y="4581261"/>
            <a:ext cx="254484" cy="226965"/>
          </a:xfrm>
          <a:custGeom>
            <a:avLst/>
            <a:gdLst>
              <a:gd name="T0" fmla="*/ 0 w 178"/>
              <a:gd name="T1" fmla="*/ 53 h 138"/>
              <a:gd name="T2" fmla="*/ 68 w 178"/>
              <a:gd name="T3" fmla="*/ 53 h 138"/>
              <a:gd name="T4" fmla="*/ 89 w 178"/>
              <a:gd name="T5" fmla="*/ 0 h 138"/>
              <a:gd name="T6" fmla="*/ 110 w 178"/>
              <a:gd name="T7" fmla="*/ 53 h 138"/>
              <a:gd name="T8" fmla="*/ 178 w 178"/>
              <a:gd name="T9" fmla="*/ 53 h 138"/>
              <a:gd name="T10" fmla="*/ 123 w 178"/>
              <a:gd name="T11" fmla="*/ 85 h 138"/>
              <a:gd name="T12" fmla="*/ 144 w 178"/>
              <a:gd name="T13" fmla="*/ 138 h 138"/>
              <a:gd name="T14" fmla="*/ 89 w 178"/>
              <a:gd name="T15" fmla="*/ 105 h 138"/>
              <a:gd name="T16" fmla="*/ 34 w 178"/>
              <a:gd name="T17" fmla="*/ 138 h 138"/>
              <a:gd name="T18" fmla="*/ 55 w 178"/>
              <a:gd name="T19" fmla="*/ 85 h 138"/>
              <a:gd name="T20" fmla="*/ 0 w 178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8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0" y="53"/>
                </a:lnTo>
                <a:lnTo>
                  <a:pt x="178" y="53"/>
                </a:lnTo>
                <a:lnTo>
                  <a:pt x="123" y="85"/>
                </a:lnTo>
                <a:lnTo>
                  <a:pt x="144" y="138"/>
                </a:lnTo>
                <a:lnTo>
                  <a:pt x="89" y="105"/>
                </a:lnTo>
                <a:lnTo>
                  <a:pt x="34" y="138"/>
                </a:lnTo>
                <a:lnTo>
                  <a:pt x="55" y="85"/>
                </a:lnTo>
                <a:lnTo>
                  <a:pt x="0" y="53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95" name="Freeform 544">
            <a:extLst>
              <a:ext uri="{FF2B5EF4-FFF2-40B4-BE49-F238E27FC236}">
                <a16:creationId xmlns:a16="http://schemas.microsoft.com/office/drawing/2014/main" id="{0864C501-87E5-29FC-579F-54DDD025D57B}"/>
              </a:ext>
            </a:extLst>
          </p:cNvPr>
          <p:cNvSpPr>
            <a:spLocks/>
          </p:cNvSpPr>
          <p:nvPr/>
        </p:nvSpPr>
        <p:spPr bwMode="auto">
          <a:xfrm>
            <a:off x="4551447" y="4581261"/>
            <a:ext cx="248765" cy="226965"/>
          </a:xfrm>
          <a:custGeom>
            <a:avLst/>
            <a:gdLst>
              <a:gd name="T0" fmla="*/ 0 w 174"/>
              <a:gd name="T1" fmla="*/ 53 h 138"/>
              <a:gd name="T2" fmla="*/ 66 w 174"/>
              <a:gd name="T3" fmla="*/ 53 h 138"/>
              <a:gd name="T4" fmla="*/ 87 w 174"/>
              <a:gd name="T5" fmla="*/ 0 h 138"/>
              <a:gd name="T6" fmla="*/ 108 w 174"/>
              <a:gd name="T7" fmla="*/ 53 h 138"/>
              <a:gd name="T8" fmla="*/ 174 w 174"/>
              <a:gd name="T9" fmla="*/ 53 h 138"/>
              <a:gd name="T10" fmla="*/ 120 w 174"/>
              <a:gd name="T11" fmla="*/ 85 h 138"/>
              <a:gd name="T12" fmla="*/ 141 w 174"/>
              <a:gd name="T13" fmla="*/ 138 h 138"/>
              <a:gd name="T14" fmla="*/ 87 w 174"/>
              <a:gd name="T15" fmla="*/ 105 h 138"/>
              <a:gd name="T16" fmla="*/ 33 w 174"/>
              <a:gd name="T17" fmla="*/ 138 h 138"/>
              <a:gd name="T18" fmla="*/ 54 w 174"/>
              <a:gd name="T19" fmla="*/ 85 h 138"/>
              <a:gd name="T20" fmla="*/ 0 w 174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4" h="138">
                <a:moveTo>
                  <a:pt x="0" y="53"/>
                </a:moveTo>
                <a:lnTo>
                  <a:pt x="66" y="53"/>
                </a:lnTo>
                <a:lnTo>
                  <a:pt x="87" y="0"/>
                </a:lnTo>
                <a:lnTo>
                  <a:pt x="108" y="53"/>
                </a:lnTo>
                <a:lnTo>
                  <a:pt x="174" y="53"/>
                </a:lnTo>
                <a:lnTo>
                  <a:pt x="120" y="85"/>
                </a:lnTo>
                <a:lnTo>
                  <a:pt x="141" y="138"/>
                </a:lnTo>
                <a:lnTo>
                  <a:pt x="87" y="105"/>
                </a:lnTo>
                <a:lnTo>
                  <a:pt x="33" y="138"/>
                </a:lnTo>
                <a:lnTo>
                  <a:pt x="54" y="85"/>
                </a:lnTo>
                <a:lnTo>
                  <a:pt x="0" y="53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96" name="Freeform 545">
            <a:extLst>
              <a:ext uri="{FF2B5EF4-FFF2-40B4-BE49-F238E27FC236}">
                <a16:creationId xmlns:a16="http://schemas.microsoft.com/office/drawing/2014/main" id="{3826F479-5B24-028E-7FBB-F3F91646C07F}"/>
              </a:ext>
            </a:extLst>
          </p:cNvPr>
          <p:cNvSpPr>
            <a:spLocks/>
          </p:cNvSpPr>
          <p:nvPr/>
        </p:nvSpPr>
        <p:spPr bwMode="auto">
          <a:xfrm>
            <a:off x="4551447" y="4581261"/>
            <a:ext cx="248765" cy="226965"/>
          </a:xfrm>
          <a:custGeom>
            <a:avLst/>
            <a:gdLst>
              <a:gd name="T0" fmla="*/ 0 w 174"/>
              <a:gd name="T1" fmla="*/ 53 h 138"/>
              <a:gd name="T2" fmla="*/ 66 w 174"/>
              <a:gd name="T3" fmla="*/ 53 h 138"/>
              <a:gd name="T4" fmla="*/ 87 w 174"/>
              <a:gd name="T5" fmla="*/ 0 h 138"/>
              <a:gd name="T6" fmla="*/ 108 w 174"/>
              <a:gd name="T7" fmla="*/ 53 h 138"/>
              <a:gd name="T8" fmla="*/ 174 w 174"/>
              <a:gd name="T9" fmla="*/ 53 h 138"/>
              <a:gd name="T10" fmla="*/ 120 w 174"/>
              <a:gd name="T11" fmla="*/ 85 h 138"/>
              <a:gd name="T12" fmla="*/ 141 w 174"/>
              <a:gd name="T13" fmla="*/ 138 h 138"/>
              <a:gd name="T14" fmla="*/ 87 w 174"/>
              <a:gd name="T15" fmla="*/ 105 h 138"/>
              <a:gd name="T16" fmla="*/ 33 w 174"/>
              <a:gd name="T17" fmla="*/ 138 h 138"/>
              <a:gd name="T18" fmla="*/ 54 w 174"/>
              <a:gd name="T19" fmla="*/ 85 h 138"/>
              <a:gd name="T20" fmla="*/ 0 w 174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4" h="138">
                <a:moveTo>
                  <a:pt x="0" y="53"/>
                </a:moveTo>
                <a:lnTo>
                  <a:pt x="66" y="53"/>
                </a:lnTo>
                <a:lnTo>
                  <a:pt x="87" y="0"/>
                </a:lnTo>
                <a:lnTo>
                  <a:pt x="108" y="53"/>
                </a:lnTo>
                <a:lnTo>
                  <a:pt x="174" y="53"/>
                </a:lnTo>
                <a:lnTo>
                  <a:pt x="120" y="85"/>
                </a:lnTo>
                <a:lnTo>
                  <a:pt x="141" y="138"/>
                </a:lnTo>
                <a:lnTo>
                  <a:pt x="87" y="105"/>
                </a:lnTo>
                <a:lnTo>
                  <a:pt x="33" y="138"/>
                </a:lnTo>
                <a:lnTo>
                  <a:pt x="54" y="85"/>
                </a:lnTo>
                <a:lnTo>
                  <a:pt x="0" y="53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97" name="Freeform 546">
            <a:extLst>
              <a:ext uri="{FF2B5EF4-FFF2-40B4-BE49-F238E27FC236}">
                <a16:creationId xmlns:a16="http://schemas.microsoft.com/office/drawing/2014/main" id="{EBE22788-9664-3903-78E8-8B61052E19A6}"/>
              </a:ext>
            </a:extLst>
          </p:cNvPr>
          <p:cNvSpPr>
            <a:spLocks/>
          </p:cNvSpPr>
          <p:nvPr/>
        </p:nvSpPr>
        <p:spPr bwMode="auto">
          <a:xfrm>
            <a:off x="4815939" y="4581261"/>
            <a:ext cx="254484" cy="226965"/>
          </a:xfrm>
          <a:custGeom>
            <a:avLst/>
            <a:gdLst>
              <a:gd name="T0" fmla="*/ 0 w 178"/>
              <a:gd name="T1" fmla="*/ 53 h 138"/>
              <a:gd name="T2" fmla="*/ 68 w 178"/>
              <a:gd name="T3" fmla="*/ 53 h 138"/>
              <a:gd name="T4" fmla="*/ 89 w 178"/>
              <a:gd name="T5" fmla="*/ 0 h 138"/>
              <a:gd name="T6" fmla="*/ 110 w 178"/>
              <a:gd name="T7" fmla="*/ 53 h 138"/>
              <a:gd name="T8" fmla="*/ 178 w 178"/>
              <a:gd name="T9" fmla="*/ 53 h 138"/>
              <a:gd name="T10" fmla="*/ 123 w 178"/>
              <a:gd name="T11" fmla="*/ 85 h 138"/>
              <a:gd name="T12" fmla="*/ 144 w 178"/>
              <a:gd name="T13" fmla="*/ 138 h 138"/>
              <a:gd name="T14" fmla="*/ 89 w 178"/>
              <a:gd name="T15" fmla="*/ 105 h 138"/>
              <a:gd name="T16" fmla="*/ 34 w 178"/>
              <a:gd name="T17" fmla="*/ 138 h 138"/>
              <a:gd name="T18" fmla="*/ 55 w 178"/>
              <a:gd name="T19" fmla="*/ 85 h 138"/>
              <a:gd name="T20" fmla="*/ 0 w 178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8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0" y="53"/>
                </a:lnTo>
                <a:lnTo>
                  <a:pt x="178" y="53"/>
                </a:lnTo>
                <a:lnTo>
                  <a:pt x="123" y="85"/>
                </a:lnTo>
                <a:lnTo>
                  <a:pt x="144" y="138"/>
                </a:lnTo>
                <a:lnTo>
                  <a:pt x="89" y="105"/>
                </a:lnTo>
                <a:lnTo>
                  <a:pt x="34" y="138"/>
                </a:lnTo>
                <a:lnTo>
                  <a:pt x="55" y="85"/>
                </a:lnTo>
                <a:lnTo>
                  <a:pt x="0" y="53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98" name="Freeform 547">
            <a:extLst>
              <a:ext uri="{FF2B5EF4-FFF2-40B4-BE49-F238E27FC236}">
                <a16:creationId xmlns:a16="http://schemas.microsoft.com/office/drawing/2014/main" id="{9ACDBDED-A930-071D-8EC4-A260EFF49626}"/>
              </a:ext>
            </a:extLst>
          </p:cNvPr>
          <p:cNvSpPr>
            <a:spLocks/>
          </p:cNvSpPr>
          <p:nvPr/>
        </p:nvSpPr>
        <p:spPr bwMode="auto">
          <a:xfrm>
            <a:off x="4815939" y="4581261"/>
            <a:ext cx="254484" cy="226965"/>
          </a:xfrm>
          <a:custGeom>
            <a:avLst/>
            <a:gdLst>
              <a:gd name="T0" fmla="*/ 0 w 178"/>
              <a:gd name="T1" fmla="*/ 53 h 138"/>
              <a:gd name="T2" fmla="*/ 68 w 178"/>
              <a:gd name="T3" fmla="*/ 53 h 138"/>
              <a:gd name="T4" fmla="*/ 89 w 178"/>
              <a:gd name="T5" fmla="*/ 0 h 138"/>
              <a:gd name="T6" fmla="*/ 110 w 178"/>
              <a:gd name="T7" fmla="*/ 53 h 138"/>
              <a:gd name="T8" fmla="*/ 178 w 178"/>
              <a:gd name="T9" fmla="*/ 53 h 138"/>
              <a:gd name="T10" fmla="*/ 123 w 178"/>
              <a:gd name="T11" fmla="*/ 85 h 138"/>
              <a:gd name="T12" fmla="*/ 144 w 178"/>
              <a:gd name="T13" fmla="*/ 138 h 138"/>
              <a:gd name="T14" fmla="*/ 89 w 178"/>
              <a:gd name="T15" fmla="*/ 105 h 138"/>
              <a:gd name="T16" fmla="*/ 34 w 178"/>
              <a:gd name="T17" fmla="*/ 138 h 138"/>
              <a:gd name="T18" fmla="*/ 55 w 178"/>
              <a:gd name="T19" fmla="*/ 85 h 138"/>
              <a:gd name="T20" fmla="*/ 0 w 178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8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0" y="53"/>
                </a:lnTo>
                <a:lnTo>
                  <a:pt x="178" y="53"/>
                </a:lnTo>
                <a:lnTo>
                  <a:pt x="123" y="85"/>
                </a:lnTo>
                <a:lnTo>
                  <a:pt x="144" y="138"/>
                </a:lnTo>
                <a:lnTo>
                  <a:pt x="89" y="105"/>
                </a:lnTo>
                <a:lnTo>
                  <a:pt x="34" y="138"/>
                </a:lnTo>
                <a:lnTo>
                  <a:pt x="55" y="85"/>
                </a:lnTo>
                <a:lnTo>
                  <a:pt x="0" y="53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99" name="Freeform 548">
            <a:extLst>
              <a:ext uri="{FF2B5EF4-FFF2-40B4-BE49-F238E27FC236}">
                <a16:creationId xmlns:a16="http://schemas.microsoft.com/office/drawing/2014/main" id="{ADCE079D-3BFF-1A5F-D9AC-F5D330947C17}"/>
              </a:ext>
            </a:extLst>
          </p:cNvPr>
          <p:cNvSpPr>
            <a:spLocks/>
          </p:cNvSpPr>
          <p:nvPr/>
        </p:nvSpPr>
        <p:spPr bwMode="auto">
          <a:xfrm>
            <a:off x="5084719" y="4581261"/>
            <a:ext cx="254484" cy="226965"/>
          </a:xfrm>
          <a:custGeom>
            <a:avLst/>
            <a:gdLst>
              <a:gd name="T0" fmla="*/ 0 w 178"/>
              <a:gd name="T1" fmla="*/ 53 h 138"/>
              <a:gd name="T2" fmla="*/ 68 w 178"/>
              <a:gd name="T3" fmla="*/ 53 h 138"/>
              <a:gd name="T4" fmla="*/ 89 w 178"/>
              <a:gd name="T5" fmla="*/ 0 h 138"/>
              <a:gd name="T6" fmla="*/ 111 w 178"/>
              <a:gd name="T7" fmla="*/ 53 h 138"/>
              <a:gd name="T8" fmla="*/ 178 w 178"/>
              <a:gd name="T9" fmla="*/ 53 h 138"/>
              <a:gd name="T10" fmla="*/ 123 w 178"/>
              <a:gd name="T11" fmla="*/ 85 h 138"/>
              <a:gd name="T12" fmla="*/ 145 w 178"/>
              <a:gd name="T13" fmla="*/ 138 h 138"/>
              <a:gd name="T14" fmla="*/ 89 w 178"/>
              <a:gd name="T15" fmla="*/ 105 h 138"/>
              <a:gd name="T16" fmla="*/ 34 w 178"/>
              <a:gd name="T17" fmla="*/ 138 h 138"/>
              <a:gd name="T18" fmla="*/ 56 w 178"/>
              <a:gd name="T19" fmla="*/ 85 h 138"/>
              <a:gd name="T20" fmla="*/ 0 w 178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8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1" y="53"/>
                </a:lnTo>
                <a:lnTo>
                  <a:pt x="178" y="53"/>
                </a:lnTo>
                <a:lnTo>
                  <a:pt x="123" y="85"/>
                </a:lnTo>
                <a:lnTo>
                  <a:pt x="145" y="138"/>
                </a:lnTo>
                <a:lnTo>
                  <a:pt x="89" y="105"/>
                </a:lnTo>
                <a:lnTo>
                  <a:pt x="34" y="138"/>
                </a:lnTo>
                <a:lnTo>
                  <a:pt x="56" y="85"/>
                </a:lnTo>
                <a:lnTo>
                  <a:pt x="0" y="53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00" name="Freeform 549">
            <a:extLst>
              <a:ext uri="{FF2B5EF4-FFF2-40B4-BE49-F238E27FC236}">
                <a16:creationId xmlns:a16="http://schemas.microsoft.com/office/drawing/2014/main" id="{47949074-88B5-9005-C86C-CF131C841F5E}"/>
              </a:ext>
            </a:extLst>
          </p:cNvPr>
          <p:cNvSpPr>
            <a:spLocks/>
          </p:cNvSpPr>
          <p:nvPr/>
        </p:nvSpPr>
        <p:spPr bwMode="auto">
          <a:xfrm>
            <a:off x="5084719" y="4581261"/>
            <a:ext cx="254484" cy="226965"/>
          </a:xfrm>
          <a:custGeom>
            <a:avLst/>
            <a:gdLst>
              <a:gd name="T0" fmla="*/ 0 w 178"/>
              <a:gd name="T1" fmla="*/ 53 h 138"/>
              <a:gd name="T2" fmla="*/ 68 w 178"/>
              <a:gd name="T3" fmla="*/ 53 h 138"/>
              <a:gd name="T4" fmla="*/ 89 w 178"/>
              <a:gd name="T5" fmla="*/ 0 h 138"/>
              <a:gd name="T6" fmla="*/ 111 w 178"/>
              <a:gd name="T7" fmla="*/ 53 h 138"/>
              <a:gd name="T8" fmla="*/ 178 w 178"/>
              <a:gd name="T9" fmla="*/ 53 h 138"/>
              <a:gd name="T10" fmla="*/ 123 w 178"/>
              <a:gd name="T11" fmla="*/ 85 h 138"/>
              <a:gd name="T12" fmla="*/ 145 w 178"/>
              <a:gd name="T13" fmla="*/ 138 h 138"/>
              <a:gd name="T14" fmla="*/ 89 w 178"/>
              <a:gd name="T15" fmla="*/ 105 h 138"/>
              <a:gd name="T16" fmla="*/ 34 w 178"/>
              <a:gd name="T17" fmla="*/ 138 h 138"/>
              <a:gd name="T18" fmla="*/ 56 w 178"/>
              <a:gd name="T19" fmla="*/ 85 h 138"/>
              <a:gd name="T20" fmla="*/ 0 w 178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8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1" y="53"/>
                </a:lnTo>
                <a:lnTo>
                  <a:pt x="178" y="53"/>
                </a:lnTo>
                <a:lnTo>
                  <a:pt x="123" y="85"/>
                </a:lnTo>
                <a:lnTo>
                  <a:pt x="145" y="138"/>
                </a:lnTo>
                <a:lnTo>
                  <a:pt x="89" y="105"/>
                </a:lnTo>
                <a:lnTo>
                  <a:pt x="34" y="138"/>
                </a:lnTo>
                <a:lnTo>
                  <a:pt x="56" y="85"/>
                </a:lnTo>
                <a:lnTo>
                  <a:pt x="0" y="53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01" name="Freeform 404">
            <a:extLst>
              <a:ext uri="{FF2B5EF4-FFF2-40B4-BE49-F238E27FC236}">
                <a16:creationId xmlns:a16="http://schemas.microsoft.com/office/drawing/2014/main" id="{453D20E1-D8CE-BF80-3215-CC7D3A76A68D}"/>
              </a:ext>
            </a:extLst>
          </p:cNvPr>
          <p:cNvSpPr>
            <a:spLocks/>
          </p:cNvSpPr>
          <p:nvPr/>
        </p:nvSpPr>
        <p:spPr bwMode="auto">
          <a:xfrm>
            <a:off x="5578301" y="1033812"/>
            <a:ext cx="1628410" cy="317423"/>
          </a:xfrm>
          <a:custGeom>
            <a:avLst/>
            <a:gdLst>
              <a:gd name="T0" fmla="*/ 142 w 5216"/>
              <a:gd name="T1" fmla="*/ 0 h 848"/>
              <a:gd name="T2" fmla="*/ 5075 w 5216"/>
              <a:gd name="T3" fmla="*/ 0 h 848"/>
              <a:gd name="T4" fmla="*/ 5216 w 5216"/>
              <a:gd name="T5" fmla="*/ 142 h 848"/>
              <a:gd name="T6" fmla="*/ 5216 w 5216"/>
              <a:gd name="T7" fmla="*/ 848 h 848"/>
              <a:gd name="T8" fmla="*/ 0 w 5216"/>
              <a:gd name="T9" fmla="*/ 848 h 848"/>
              <a:gd name="T10" fmla="*/ 0 w 5216"/>
              <a:gd name="T11" fmla="*/ 142 h 848"/>
              <a:gd name="T12" fmla="*/ 142 w 5216"/>
              <a:gd name="T13" fmla="*/ 0 h 8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216" h="848">
                <a:moveTo>
                  <a:pt x="142" y="0"/>
                </a:moveTo>
                <a:lnTo>
                  <a:pt x="5075" y="0"/>
                </a:lnTo>
                <a:cubicBezTo>
                  <a:pt x="5153" y="0"/>
                  <a:pt x="5216" y="64"/>
                  <a:pt x="5216" y="142"/>
                </a:cubicBezTo>
                <a:lnTo>
                  <a:pt x="5216" y="848"/>
                </a:lnTo>
                <a:lnTo>
                  <a:pt x="0" y="848"/>
                </a:lnTo>
                <a:lnTo>
                  <a:pt x="0" y="142"/>
                </a:lnTo>
                <a:cubicBezTo>
                  <a:pt x="0" y="64"/>
                  <a:pt x="64" y="0"/>
                  <a:pt x="142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02" name="Rectangle 405">
            <a:extLst>
              <a:ext uri="{FF2B5EF4-FFF2-40B4-BE49-F238E27FC236}">
                <a16:creationId xmlns:a16="http://schemas.microsoft.com/office/drawing/2014/main" id="{181EED6C-6ACF-0D82-CACE-B63AEB7A0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8605" y="1122625"/>
            <a:ext cx="929270" cy="178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 b="1">
                <a:solidFill>
                  <a:srgbClr val="FFFFFF"/>
                </a:solidFill>
                <a:latin typeface="+mn-lt"/>
                <a:cs typeface="Arial" panose="020B0604020202020204" pitchFamily="34" charset="0"/>
              </a:rPr>
              <a:t>Probability</a:t>
            </a:r>
            <a:endParaRPr lang="en-US" altLang="en-US" sz="200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03" name="Rectangle 406">
            <a:extLst>
              <a:ext uri="{FF2B5EF4-FFF2-40B4-BE49-F238E27FC236}">
                <a16:creationId xmlns:a16="http://schemas.microsoft.com/office/drawing/2014/main" id="{955D22B5-ABEB-0D79-7E31-F4C2B42D5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8301" y="1360714"/>
            <a:ext cx="1628410" cy="521363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04" name="Rectangle 407">
            <a:extLst>
              <a:ext uri="{FF2B5EF4-FFF2-40B4-BE49-F238E27FC236}">
                <a16:creationId xmlns:a16="http://schemas.microsoft.com/office/drawing/2014/main" id="{E0EB86F4-39BC-C3D1-6405-52474EC29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8301" y="1979112"/>
            <a:ext cx="1628410" cy="521363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05" name="Rectangle 408">
            <a:extLst>
              <a:ext uri="{FF2B5EF4-FFF2-40B4-BE49-F238E27FC236}">
                <a16:creationId xmlns:a16="http://schemas.microsoft.com/office/drawing/2014/main" id="{6477F128-8255-E543-E209-9DE074359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8301" y="2595865"/>
            <a:ext cx="1628410" cy="521363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06" name="Rectangle 411">
            <a:extLst>
              <a:ext uri="{FF2B5EF4-FFF2-40B4-BE49-F238E27FC236}">
                <a16:creationId xmlns:a16="http://schemas.microsoft.com/office/drawing/2014/main" id="{638FD486-A54B-8D1A-0ADF-191D774E8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4012" y="3217437"/>
            <a:ext cx="1626980" cy="527940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07" name="Freeform 412">
            <a:extLst>
              <a:ext uri="{FF2B5EF4-FFF2-40B4-BE49-F238E27FC236}">
                <a16:creationId xmlns:a16="http://schemas.microsoft.com/office/drawing/2014/main" id="{5AE09EB5-6735-F18A-F083-2A49BEEB795E}"/>
              </a:ext>
            </a:extLst>
          </p:cNvPr>
          <p:cNvSpPr>
            <a:spLocks/>
          </p:cNvSpPr>
          <p:nvPr/>
        </p:nvSpPr>
        <p:spPr bwMode="auto">
          <a:xfrm>
            <a:off x="5678379" y="1535050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8 h 109"/>
              <a:gd name="T12" fmla="*/ 155 w 192"/>
              <a:gd name="T13" fmla="*/ 109 h 109"/>
              <a:gd name="T14" fmla="*/ 96 w 192"/>
              <a:gd name="T15" fmla="*/ 84 h 109"/>
              <a:gd name="T16" fmla="*/ 37 w 192"/>
              <a:gd name="T17" fmla="*/ 109 h 109"/>
              <a:gd name="T18" fmla="*/ 59 w 192"/>
              <a:gd name="T19" fmla="*/ 68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8"/>
                </a:lnTo>
                <a:lnTo>
                  <a:pt x="155" y="109"/>
                </a:lnTo>
                <a:lnTo>
                  <a:pt x="96" y="84"/>
                </a:lnTo>
                <a:lnTo>
                  <a:pt x="37" y="109"/>
                </a:lnTo>
                <a:lnTo>
                  <a:pt x="59" y="68"/>
                </a:lnTo>
                <a:lnTo>
                  <a:pt x="0" y="4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08" name="Freeform 413">
            <a:extLst>
              <a:ext uri="{FF2B5EF4-FFF2-40B4-BE49-F238E27FC236}">
                <a16:creationId xmlns:a16="http://schemas.microsoft.com/office/drawing/2014/main" id="{BDFC5C60-9603-291E-E763-4DAF336EF48E}"/>
              </a:ext>
            </a:extLst>
          </p:cNvPr>
          <p:cNvSpPr>
            <a:spLocks/>
          </p:cNvSpPr>
          <p:nvPr/>
        </p:nvSpPr>
        <p:spPr bwMode="auto">
          <a:xfrm>
            <a:off x="5678379" y="1535050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8 h 109"/>
              <a:gd name="T12" fmla="*/ 155 w 192"/>
              <a:gd name="T13" fmla="*/ 109 h 109"/>
              <a:gd name="T14" fmla="*/ 96 w 192"/>
              <a:gd name="T15" fmla="*/ 84 h 109"/>
              <a:gd name="T16" fmla="*/ 37 w 192"/>
              <a:gd name="T17" fmla="*/ 109 h 109"/>
              <a:gd name="T18" fmla="*/ 59 w 192"/>
              <a:gd name="T19" fmla="*/ 68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8"/>
                </a:lnTo>
                <a:lnTo>
                  <a:pt x="155" y="109"/>
                </a:lnTo>
                <a:lnTo>
                  <a:pt x="96" y="84"/>
                </a:lnTo>
                <a:lnTo>
                  <a:pt x="37" y="109"/>
                </a:lnTo>
                <a:lnTo>
                  <a:pt x="59" y="68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09" name="Freeform 414">
            <a:extLst>
              <a:ext uri="{FF2B5EF4-FFF2-40B4-BE49-F238E27FC236}">
                <a16:creationId xmlns:a16="http://schemas.microsoft.com/office/drawing/2014/main" id="{015399B9-4EB2-08AB-402C-42F73AA69431}"/>
              </a:ext>
            </a:extLst>
          </p:cNvPr>
          <p:cNvSpPr>
            <a:spLocks/>
          </p:cNvSpPr>
          <p:nvPr/>
        </p:nvSpPr>
        <p:spPr bwMode="auto">
          <a:xfrm>
            <a:off x="5968605" y="1535050"/>
            <a:ext cx="268780" cy="179270"/>
          </a:xfrm>
          <a:custGeom>
            <a:avLst/>
            <a:gdLst>
              <a:gd name="T0" fmla="*/ 0 w 188"/>
              <a:gd name="T1" fmla="*/ 42 h 109"/>
              <a:gd name="T2" fmla="*/ 72 w 188"/>
              <a:gd name="T3" fmla="*/ 42 h 109"/>
              <a:gd name="T4" fmla="*/ 94 w 188"/>
              <a:gd name="T5" fmla="*/ 0 h 109"/>
              <a:gd name="T6" fmla="*/ 116 w 188"/>
              <a:gd name="T7" fmla="*/ 42 h 109"/>
              <a:gd name="T8" fmla="*/ 188 w 188"/>
              <a:gd name="T9" fmla="*/ 42 h 109"/>
              <a:gd name="T10" fmla="*/ 130 w 188"/>
              <a:gd name="T11" fmla="*/ 68 h 109"/>
              <a:gd name="T12" fmla="*/ 152 w 188"/>
              <a:gd name="T13" fmla="*/ 109 h 109"/>
              <a:gd name="T14" fmla="*/ 94 w 188"/>
              <a:gd name="T15" fmla="*/ 84 h 109"/>
              <a:gd name="T16" fmla="*/ 36 w 188"/>
              <a:gd name="T17" fmla="*/ 109 h 109"/>
              <a:gd name="T18" fmla="*/ 58 w 188"/>
              <a:gd name="T19" fmla="*/ 68 h 109"/>
              <a:gd name="T20" fmla="*/ 0 w 188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8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6" y="42"/>
                </a:lnTo>
                <a:lnTo>
                  <a:pt x="188" y="42"/>
                </a:lnTo>
                <a:lnTo>
                  <a:pt x="130" y="68"/>
                </a:lnTo>
                <a:lnTo>
                  <a:pt x="152" y="109"/>
                </a:lnTo>
                <a:lnTo>
                  <a:pt x="94" y="84"/>
                </a:lnTo>
                <a:lnTo>
                  <a:pt x="36" y="109"/>
                </a:lnTo>
                <a:lnTo>
                  <a:pt x="58" y="68"/>
                </a:lnTo>
                <a:lnTo>
                  <a:pt x="0" y="4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10" name="Freeform 415">
            <a:extLst>
              <a:ext uri="{FF2B5EF4-FFF2-40B4-BE49-F238E27FC236}">
                <a16:creationId xmlns:a16="http://schemas.microsoft.com/office/drawing/2014/main" id="{B95868E5-2E3D-647F-A079-E532606E8AA0}"/>
              </a:ext>
            </a:extLst>
          </p:cNvPr>
          <p:cNvSpPr>
            <a:spLocks/>
          </p:cNvSpPr>
          <p:nvPr/>
        </p:nvSpPr>
        <p:spPr bwMode="auto">
          <a:xfrm>
            <a:off x="5968605" y="1535050"/>
            <a:ext cx="268780" cy="179270"/>
          </a:xfrm>
          <a:custGeom>
            <a:avLst/>
            <a:gdLst>
              <a:gd name="T0" fmla="*/ 0 w 188"/>
              <a:gd name="T1" fmla="*/ 42 h 109"/>
              <a:gd name="T2" fmla="*/ 72 w 188"/>
              <a:gd name="T3" fmla="*/ 42 h 109"/>
              <a:gd name="T4" fmla="*/ 94 w 188"/>
              <a:gd name="T5" fmla="*/ 0 h 109"/>
              <a:gd name="T6" fmla="*/ 116 w 188"/>
              <a:gd name="T7" fmla="*/ 42 h 109"/>
              <a:gd name="T8" fmla="*/ 188 w 188"/>
              <a:gd name="T9" fmla="*/ 42 h 109"/>
              <a:gd name="T10" fmla="*/ 130 w 188"/>
              <a:gd name="T11" fmla="*/ 68 h 109"/>
              <a:gd name="T12" fmla="*/ 152 w 188"/>
              <a:gd name="T13" fmla="*/ 109 h 109"/>
              <a:gd name="T14" fmla="*/ 94 w 188"/>
              <a:gd name="T15" fmla="*/ 84 h 109"/>
              <a:gd name="T16" fmla="*/ 36 w 188"/>
              <a:gd name="T17" fmla="*/ 109 h 109"/>
              <a:gd name="T18" fmla="*/ 58 w 188"/>
              <a:gd name="T19" fmla="*/ 68 h 109"/>
              <a:gd name="T20" fmla="*/ 0 w 188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8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6" y="42"/>
                </a:lnTo>
                <a:lnTo>
                  <a:pt x="188" y="42"/>
                </a:lnTo>
                <a:lnTo>
                  <a:pt x="130" y="68"/>
                </a:lnTo>
                <a:lnTo>
                  <a:pt x="152" y="109"/>
                </a:lnTo>
                <a:lnTo>
                  <a:pt x="94" y="84"/>
                </a:lnTo>
                <a:lnTo>
                  <a:pt x="36" y="109"/>
                </a:lnTo>
                <a:lnTo>
                  <a:pt x="58" y="68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11" name="Freeform 416">
            <a:extLst>
              <a:ext uri="{FF2B5EF4-FFF2-40B4-BE49-F238E27FC236}">
                <a16:creationId xmlns:a16="http://schemas.microsoft.com/office/drawing/2014/main" id="{651FD74D-BE13-25F4-E205-3798346157A2}"/>
              </a:ext>
            </a:extLst>
          </p:cNvPr>
          <p:cNvSpPr>
            <a:spLocks/>
          </p:cNvSpPr>
          <p:nvPr/>
        </p:nvSpPr>
        <p:spPr bwMode="auto">
          <a:xfrm>
            <a:off x="6257400" y="1535050"/>
            <a:ext cx="270210" cy="179270"/>
          </a:xfrm>
          <a:custGeom>
            <a:avLst/>
            <a:gdLst>
              <a:gd name="T0" fmla="*/ 0 w 189"/>
              <a:gd name="T1" fmla="*/ 42 h 109"/>
              <a:gd name="T2" fmla="*/ 72 w 189"/>
              <a:gd name="T3" fmla="*/ 42 h 109"/>
              <a:gd name="T4" fmla="*/ 94 w 189"/>
              <a:gd name="T5" fmla="*/ 0 h 109"/>
              <a:gd name="T6" fmla="*/ 117 w 189"/>
              <a:gd name="T7" fmla="*/ 42 h 109"/>
              <a:gd name="T8" fmla="*/ 189 w 189"/>
              <a:gd name="T9" fmla="*/ 42 h 109"/>
              <a:gd name="T10" fmla="*/ 130 w 189"/>
              <a:gd name="T11" fmla="*/ 68 h 109"/>
              <a:gd name="T12" fmla="*/ 153 w 189"/>
              <a:gd name="T13" fmla="*/ 109 h 109"/>
              <a:gd name="T14" fmla="*/ 94 w 189"/>
              <a:gd name="T15" fmla="*/ 84 h 109"/>
              <a:gd name="T16" fmla="*/ 36 w 189"/>
              <a:gd name="T17" fmla="*/ 109 h 109"/>
              <a:gd name="T18" fmla="*/ 58 w 189"/>
              <a:gd name="T19" fmla="*/ 68 h 109"/>
              <a:gd name="T20" fmla="*/ 0 w 189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9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7" y="42"/>
                </a:lnTo>
                <a:lnTo>
                  <a:pt x="189" y="42"/>
                </a:lnTo>
                <a:lnTo>
                  <a:pt x="130" y="68"/>
                </a:lnTo>
                <a:lnTo>
                  <a:pt x="153" y="109"/>
                </a:lnTo>
                <a:lnTo>
                  <a:pt x="94" y="84"/>
                </a:lnTo>
                <a:lnTo>
                  <a:pt x="36" y="109"/>
                </a:lnTo>
                <a:lnTo>
                  <a:pt x="58" y="68"/>
                </a:lnTo>
                <a:lnTo>
                  <a:pt x="0" y="4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12" name="Freeform 417">
            <a:extLst>
              <a:ext uri="{FF2B5EF4-FFF2-40B4-BE49-F238E27FC236}">
                <a16:creationId xmlns:a16="http://schemas.microsoft.com/office/drawing/2014/main" id="{6DCE260C-54C9-ECDD-38A7-5C7472AE7588}"/>
              </a:ext>
            </a:extLst>
          </p:cNvPr>
          <p:cNvSpPr>
            <a:spLocks/>
          </p:cNvSpPr>
          <p:nvPr/>
        </p:nvSpPr>
        <p:spPr bwMode="auto">
          <a:xfrm>
            <a:off x="6257400" y="1535050"/>
            <a:ext cx="270210" cy="179270"/>
          </a:xfrm>
          <a:custGeom>
            <a:avLst/>
            <a:gdLst>
              <a:gd name="T0" fmla="*/ 0 w 189"/>
              <a:gd name="T1" fmla="*/ 42 h 109"/>
              <a:gd name="T2" fmla="*/ 72 w 189"/>
              <a:gd name="T3" fmla="*/ 42 h 109"/>
              <a:gd name="T4" fmla="*/ 94 w 189"/>
              <a:gd name="T5" fmla="*/ 0 h 109"/>
              <a:gd name="T6" fmla="*/ 117 w 189"/>
              <a:gd name="T7" fmla="*/ 42 h 109"/>
              <a:gd name="T8" fmla="*/ 189 w 189"/>
              <a:gd name="T9" fmla="*/ 42 h 109"/>
              <a:gd name="T10" fmla="*/ 130 w 189"/>
              <a:gd name="T11" fmla="*/ 68 h 109"/>
              <a:gd name="T12" fmla="*/ 153 w 189"/>
              <a:gd name="T13" fmla="*/ 109 h 109"/>
              <a:gd name="T14" fmla="*/ 94 w 189"/>
              <a:gd name="T15" fmla="*/ 84 h 109"/>
              <a:gd name="T16" fmla="*/ 36 w 189"/>
              <a:gd name="T17" fmla="*/ 109 h 109"/>
              <a:gd name="T18" fmla="*/ 58 w 189"/>
              <a:gd name="T19" fmla="*/ 68 h 109"/>
              <a:gd name="T20" fmla="*/ 0 w 189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9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7" y="42"/>
                </a:lnTo>
                <a:lnTo>
                  <a:pt x="189" y="42"/>
                </a:lnTo>
                <a:lnTo>
                  <a:pt x="130" y="68"/>
                </a:lnTo>
                <a:lnTo>
                  <a:pt x="153" y="109"/>
                </a:lnTo>
                <a:lnTo>
                  <a:pt x="94" y="84"/>
                </a:lnTo>
                <a:lnTo>
                  <a:pt x="36" y="109"/>
                </a:lnTo>
                <a:lnTo>
                  <a:pt x="58" y="68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13" name="Freeform 418">
            <a:extLst>
              <a:ext uri="{FF2B5EF4-FFF2-40B4-BE49-F238E27FC236}">
                <a16:creationId xmlns:a16="http://schemas.microsoft.com/office/drawing/2014/main" id="{ADC00AA6-2766-AE92-74AD-7C231BDE3160}"/>
              </a:ext>
            </a:extLst>
          </p:cNvPr>
          <p:cNvSpPr>
            <a:spLocks/>
          </p:cNvSpPr>
          <p:nvPr/>
        </p:nvSpPr>
        <p:spPr bwMode="auto">
          <a:xfrm>
            <a:off x="6541908" y="1535050"/>
            <a:ext cx="274499" cy="179270"/>
          </a:xfrm>
          <a:custGeom>
            <a:avLst/>
            <a:gdLst>
              <a:gd name="T0" fmla="*/ 0 w 192"/>
              <a:gd name="T1" fmla="*/ 42 h 109"/>
              <a:gd name="T2" fmla="*/ 74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8 h 109"/>
              <a:gd name="T12" fmla="*/ 156 w 192"/>
              <a:gd name="T13" fmla="*/ 109 h 109"/>
              <a:gd name="T14" fmla="*/ 96 w 192"/>
              <a:gd name="T15" fmla="*/ 84 h 109"/>
              <a:gd name="T16" fmla="*/ 37 w 192"/>
              <a:gd name="T17" fmla="*/ 109 h 109"/>
              <a:gd name="T18" fmla="*/ 60 w 192"/>
              <a:gd name="T19" fmla="*/ 68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4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8"/>
                </a:lnTo>
                <a:lnTo>
                  <a:pt x="156" y="109"/>
                </a:lnTo>
                <a:lnTo>
                  <a:pt x="96" y="84"/>
                </a:lnTo>
                <a:lnTo>
                  <a:pt x="37" y="109"/>
                </a:lnTo>
                <a:lnTo>
                  <a:pt x="60" y="68"/>
                </a:lnTo>
                <a:lnTo>
                  <a:pt x="0" y="4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14" name="Freeform 419">
            <a:extLst>
              <a:ext uri="{FF2B5EF4-FFF2-40B4-BE49-F238E27FC236}">
                <a16:creationId xmlns:a16="http://schemas.microsoft.com/office/drawing/2014/main" id="{0CC03ACF-2316-EC65-3D5A-8E9F7499CA32}"/>
              </a:ext>
            </a:extLst>
          </p:cNvPr>
          <p:cNvSpPr>
            <a:spLocks/>
          </p:cNvSpPr>
          <p:nvPr/>
        </p:nvSpPr>
        <p:spPr bwMode="auto">
          <a:xfrm>
            <a:off x="6541908" y="1535050"/>
            <a:ext cx="274499" cy="179270"/>
          </a:xfrm>
          <a:custGeom>
            <a:avLst/>
            <a:gdLst>
              <a:gd name="T0" fmla="*/ 0 w 192"/>
              <a:gd name="T1" fmla="*/ 42 h 109"/>
              <a:gd name="T2" fmla="*/ 74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8 h 109"/>
              <a:gd name="T12" fmla="*/ 156 w 192"/>
              <a:gd name="T13" fmla="*/ 109 h 109"/>
              <a:gd name="T14" fmla="*/ 96 w 192"/>
              <a:gd name="T15" fmla="*/ 84 h 109"/>
              <a:gd name="T16" fmla="*/ 37 w 192"/>
              <a:gd name="T17" fmla="*/ 109 h 109"/>
              <a:gd name="T18" fmla="*/ 60 w 192"/>
              <a:gd name="T19" fmla="*/ 68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4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8"/>
                </a:lnTo>
                <a:lnTo>
                  <a:pt x="156" y="109"/>
                </a:lnTo>
                <a:lnTo>
                  <a:pt x="96" y="84"/>
                </a:lnTo>
                <a:lnTo>
                  <a:pt x="37" y="109"/>
                </a:lnTo>
                <a:lnTo>
                  <a:pt x="60" y="68"/>
                </a:lnTo>
                <a:lnTo>
                  <a:pt x="0" y="42"/>
                </a:lnTo>
                <a:close/>
              </a:path>
            </a:pathLst>
          </a:custGeom>
          <a:solidFill>
            <a:schemeClr val="accent4"/>
          </a:solidFill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15" name="Freeform 420">
            <a:extLst>
              <a:ext uri="{FF2B5EF4-FFF2-40B4-BE49-F238E27FC236}">
                <a16:creationId xmlns:a16="http://schemas.microsoft.com/office/drawing/2014/main" id="{000A003E-4EC5-CDFC-C8CA-75C11E6DC330}"/>
              </a:ext>
            </a:extLst>
          </p:cNvPr>
          <p:cNvSpPr>
            <a:spLocks/>
          </p:cNvSpPr>
          <p:nvPr/>
        </p:nvSpPr>
        <p:spPr bwMode="auto">
          <a:xfrm>
            <a:off x="6832133" y="1535050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8 h 109"/>
              <a:gd name="T12" fmla="*/ 155 w 192"/>
              <a:gd name="T13" fmla="*/ 109 h 109"/>
              <a:gd name="T14" fmla="*/ 96 w 192"/>
              <a:gd name="T15" fmla="*/ 84 h 109"/>
              <a:gd name="T16" fmla="*/ 37 w 192"/>
              <a:gd name="T17" fmla="*/ 109 h 109"/>
              <a:gd name="T18" fmla="*/ 59 w 192"/>
              <a:gd name="T19" fmla="*/ 68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8"/>
                </a:lnTo>
                <a:lnTo>
                  <a:pt x="155" y="109"/>
                </a:lnTo>
                <a:lnTo>
                  <a:pt x="96" y="84"/>
                </a:lnTo>
                <a:lnTo>
                  <a:pt x="37" y="109"/>
                </a:lnTo>
                <a:lnTo>
                  <a:pt x="59" y="68"/>
                </a:lnTo>
                <a:lnTo>
                  <a:pt x="0" y="4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16" name="Freeform 421">
            <a:extLst>
              <a:ext uri="{FF2B5EF4-FFF2-40B4-BE49-F238E27FC236}">
                <a16:creationId xmlns:a16="http://schemas.microsoft.com/office/drawing/2014/main" id="{C5508C49-1350-31E8-725E-B5D46CFF03AD}"/>
              </a:ext>
            </a:extLst>
          </p:cNvPr>
          <p:cNvSpPr>
            <a:spLocks/>
          </p:cNvSpPr>
          <p:nvPr/>
        </p:nvSpPr>
        <p:spPr bwMode="auto">
          <a:xfrm>
            <a:off x="6832133" y="1535050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8 h 109"/>
              <a:gd name="T12" fmla="*/ 155 w 192"/>
              <a:gd name="T13" fmla="*/ 109 h 109"/>
              <a:gd name="T14" fmla="*/ 96 w 192"/>
              <a:gd name="T15" fmla="*/ 84 h 109"/>
              <a:gd name="T16" fmla="*/ 37 w 192"/>
              <a:gd name="T17" fmla="*/ 109 h 109"/>
              <a:gd name="T18" fmla="*/ 59 w 192"/>
              <a:gd name="T19" fmla="*/ 68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8"/>
                </a:lnTo>
                <a:lnTo>
                  <a:pt x="155" y="109"/>
                </a:lnTo>
                <a:lnTo>
                  <a:pt x="96" y="84"/>
                </a:lnTo>
                <a:lnTo>
                  <a:pt x="37" y="109"/>
                </a:lnTo>
                <a:lnTo>
                  <a:pt x="59" y="68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17" name="Freeform 422">
            <a:extLst>
              <a:ext uri="{FF2B5EF4-FFF2-40B4-BE49-F238E27FC236}">
                <a16:creationId xmlns:a16="http://schemas.microsoft.com/office/drawing/2014/main" id="{6073FAE2-4AE5-51BD-4264-8A41DD168B48}"/>
              </a:ext>
            </a:extLst>
          </p:cNvPr>
          <p:cNvSpPr>
            <a:spLocks/>
          </p:cNvSpPr>
          <p:nvPr/>
        </p:nvSpPr>
        <p:spPr bwMode="auto">
          <a:xfrm>
            <a:off x="5678379" y="2146869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7 h 109"/>
              <a:gd name="T12" fmla="*/ 155 w 192"/>
              <a:gd name="T13" fmla="*/ 109 h 109"/>
              <a:gd name="T14" fmla="*/ 96 w 192"/>
              <a:gd name="T15" fmla="*/ 83 h 109"/>
              <a:gd name="T16" fmla="*/ 37 w 192"/>
              <a:gd name="T17" fmla="*/ 109 h 109"/>
              <a:gd name="T18" fmla="*/ 59 w 192"/>
              <a:gd name="T19" fmla="*/ 67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7"/>
                </a:lnTo>
                <a:lnTo>
                  <a:pt x="155" y="109"/>
                </a:lnTo>
                <a:lnTo>
                  <a:pt x="96" y="83"/>
                </a:lnTo>
                <a:lnTo>
                  <a:pt x="37" y="109"/>
                </a:lnTo>
                <a:lnTo>
                  <a:pt x="59" y="67"/>
                </a:lnTo>
                <a:lnTo>
                  <a:pt x="0" y="4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18" name="Freeform 423">
            <a:extLst>
              <a:ext uri="{FF2B5EF4-FFF2-40B4-BE49-F238E27FC236}">
                <a16:creationId xmlns:a16="http://schemas.microsoft.com/office/drawing/2014/main" id="{9EAC36CF-5EB3-A907-0CC2-782640BD53DA}"/>
              </a:ext>
            </a:extLst>
          </p:cNvPr>
          <p:cNvSpPr>
            <a:spLocks/>
          </p:cNvSpPr>
          <p:nvPr/>
        </p:nvSpPr>
        <p:spPr bwMode="auto">
          <a:xfrm>
            <a:off x="5678379" y="2146869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7 h 109"/>
              <a:gd name="T12" fmla="*/ 155 w 192"/>
              <a:gd name="T13" fmla="*/ 109 h 109"/>
              <a:gd name="T14" fmla="*/ 96 w 192"/>
              <a:gd name="T15" fmla="*/ 83 h 109"/>
              <a:gd name="T16" fmla="*/ 37 w 192"/>
              <a:gd name="T17" fmla="*/ 109 h 109"/>
              <a:gd name="T18" fmla="*/ 59 w 192"/>
              <a:gd name="T19" fmla="*/ 67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7"/>
                </a:lnTo>
                <a:lnTo>
                  <a:pt x="155" y="109"/>
                </a:lnTo>
                <a:lnTo>
                  <a:pt x="96" y="83"/>
                </a:lnTo>
                <a:lnTo>
                  <a:pt x="37" y="109"/>
                </a:lnTo>
                <a:lnTo>
                  <a:pt x="59" y="67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19" name="Freeform 424">
            <a:extLst>
              <a:ext uri="{FF2B5EF4-FFF2-40B4-BE49-F238E27FC236}">
                <a16:creationId xmlns:a16="http://schemas.microsoft.com/office/drawing/2014/main" id="{3A887A8F-7579-870D-EF34-BECF359FCEA8}"/>
              </a:ext>
            </a:extLst>
          </p:cNvPr>
          <p:cNvSpPr>
            <a:spLocks/>
          </p:cNvSpPr>
          <p:nvPr/>
        </p:nvSpPr>
        <p:spPr bwMode="auto">
          <a:xfrm>
            <a:off x="5968605" y="2146869"/>
            <a:ext cx="268780" cy="179270"/>
          </a:xfrm>
          <a:custGeom>
            <a:avLst/>
            <a:gdLst>
              <a:gd name="T0" fmla="*/ 0 w 188"/>
              <a:gd name="T1" fmla="*/ 42 h 109"/>
              <a:gd name="T2" fmla="*/ 72 w 188"/>
              <a:gd name="T3" fmla="*/ 42 h 109"/>
              <a:gd name="T4" fmla="*/ 94 w 188"/>
              <a:gd name="T5" fmla="*/ 0 h 109"/>
              <a:gd name="T6" fmla="*/ 116 w 188"/>
              <a:gd name="T7" fmla="*/ 42 h 109"/>
              <a:gd name="T8" fmla="*/ 188 w 188"/>
              <a:gd name="T9" fmla="*/ 42 h 109"/>
              <a:gd name="T10" fmla="*/ 130 w 188"/>
              <a:gd name="T11" fmla="*/ 67 h 109"/>
              <a:gd name="T12" fmla="*/ 152 w 188"/>
              <a:gd name="T13" fmla="*/ 109 h 109"/>
              <a:gd name="T14" fmla="*/ 94 w 188"/>
              <a:gd name="T15" fmla="*/ 83 h 109"/>
              <a:gd name="T16" fmla="*/ 36 w 188"/>
              <a:gd name="T17" fmla="*/ 109 h 109"/>
              <a:gd name="T18" fmla="*/ 58 w 188"/>
              <a:gd name="T19" fmla="*/ 67 h 109"/>
              <a:gd name="T20" fmla="*/ 0 w 188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8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6" y="42"/>
                </a:lnTo>
                <a:lnTo>
                  <a:pt x="188" y="42"/>
                </a:lnTo>
                <a:lnTo>
                  <a:pt x="130" y="67"/>
                </a:lnTo>
                <a:lnTo>
                  <a:pt x="152" y="109"/>
                </a:lnTo>
                <a:lnTo>
                  <a:pt x="94" y="83"/>
                </a:lnTo>
                <a:lnTo>
                  <a:pt x="36" y="109"/>
                </a:lnTo>
                <a:lnTo>
                  <a:pt x="58" y="67"/>
                </a:lnTo>
                <a:lnTo>
                  <a:pt x="0" y="4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20" name="Freeform 425">
            <a:extLst>
              <a:ext uri="{FF2B5EF4-FFF2-40B4-BE49-F238E27FC236}">
                <a16:creationId xmlns:a16="http://schemas.microsoft.com/office/drawing/2014/main" id="{044D809F-34D7-207B-0E3F-B811AB0207B7}"/>
              </a:ext>
            </a:extLst>
          </p:cNvPr>
          <p:cNvSpPr>
            <a:spLocks/>
          </p:cNvSpPr>
          <p:nvPr/>
        </p:nvSpPr>
        <p:spPr bwMode="auto">
          <a:xfrm>
            <a:off x="5968605" y="2146869"/>
            <a:ext cx="268780" cy="179270"/>
          </a:xfrm>
          <a:custGeom>
            <a:avLst/>
            <a:gdLst>
              <a:gd name="T0" fmla="*/ 0 w 188"/>
              <a:gd name="T1" fmla="*/ 42 h 109"/>
              <a:gd name="T2" fmla="*/ 72 w 188"/>
              <a:gd name="T3" fmla="*/ 42 h 109"/>
              <a:gd name="T4" fmla="*/ 94 w 188"/>
              <a:gd name="T5" fmla="*/ 0 h 109"/>
              <a:gd name="T6" fmla="*/ 116 w 188"/>
              <a:gd name="T7" fmla="*/ 42 h 109"/>
              <a:gd name="T8" fmla="*/ 188 w 188"/>
              <a:gd name="T9" fmla="*/ 42 h 109"/>
              <a:gd name="T10" fmla="*/ 130 w 188"/>
              <a:gd name="T11" fmla="*/ 67 h 109"/>
              <a:gd name="T12" fmla="*/ 152 w 188"/>
              <a:gd name="T13" fmla="*/ 109 h 109"/>
              <a:gd name="T14" fmla="*/ 94 w 188"/>
              <a:gd name="T15" fmla="*/ 83 h 109"/>
              <a:gd name="T16" fmla="*/ 36 w 188"/>
              <a:gd name="T17" fmla="*/ 109 h 109"/>
              <a:gd name="T18" fmla="*/ 58 w 188"/>
              <a:gd name="T19" fmla="*/ 67 h 109"/>
              <a:gd name="T20" fmla="*/ 0 w 188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8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6" y="42"/>
                </a:lnTo>
                <a:lnTo>
                  <a:pt x="188" y="42"/>
                </a:lnTo>
                <a:lnTo>
                  <a:pt x="130" y="67"/>
                </a:lnTo>
                <a:lnTo>
                  <a:pt x="152" y="109"/>
                </a:lnTo>
                <a:lnTo>
                  <a:pt x="94" y="83"/>
                </a:lnTo>
                <a:lnTo>
                  <a:pt x="36" y="109"/>
                </a:lnTo>
                <a:lnTo>
                  <a:pt x="58" y="67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21" name="Freeform 426">
            <a:extLst>
              <a:ext uri="{FF2B5EF4-FFF2-40B4-BE49-F238E27FC236}">
                <a16:creationId xmlns:a16="http://schemas.microsoft.com/office/drawing/2014/main" id="{C524348D-D78B-074E-A37A-C0C270F141C0}"/>
              </a:ext>
            </a:extLst>
          </p:cNvPr>
          <p:cNvSpPr>
            <a:spLocks/>
          </p:cNvSpPr>
          <p:nvPr/>
        </p:nvSpPr>
        <p:spPr bwMode="auto">
          <a:xfrm>
            <a:off x="6257400" y="2146869"/>
            <a:ext cx="270210" cy="179270"/>
          </a:xfrm>
          <a:custGeom>
            <a:avLst/>
            <a:gdLst>
              <a:gd name="T0" fmla="*/ 0 w 189"/>
              <a:gd name="T1" fmla="*/ 42 h 109"/>
              <a:gd name="T2" fmla="*/ 72 w 189"/>
              <a:gd name="T3" fmla="*/ 42 h 109"/>
              <a:gd name="T4" fmla="*/ 94 w 189"/>
              <a:gd name="T5" fmla="*/ 0 h 109"/>
              <a:gd name="T6" fmla="*/ 117 w 189"/>
              <a:gd name="T7" fmla="*/ 42 h 109"/>
              <a:gd name="T8" fmla="*/ 189 w 189"/>
              <a:gd name="T9" fmla="*/ 42 h 109"/>
              <a:gd name="T10" fmla="*/ 130 w 189"/>
              <a:gd name="T11" fmla="*/ 67 h 109"/>
              <a:gd name="T12" fmla="*/ 153 w 189"/>
              <a:gd name="T13" fmla="*/ 109 h 109"/>
              <a:gd name="T14" fmla="*/ 94 w 189"/>
              <a:gd name="T15" fmla="*/ 83 h 109"/>
              <a:gd name="T16" fmla="*/ 36 w 189"/>
              <a:gd name="T17" fmla="*/ 109 h 109"/>
              <a:gd name="T18" fmla="*/ 58 w 189"/>
              <a:gd name="T19" fmla="*/ 67 h 109"/>
              <a:gd name="T20" fmla="*/ 0 w 189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9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7" y="42"/>
                </a:lnTo>
                <a:lnTo>
                  <a:pt x="189" y="42"/>
                </a:lnTo>
                <a:lnTo>
                  <a:pt x="130" y="67"/>
                </a:lnTo>
                <a:lnTo>
                  <a:pt x="153" y="109"/>
                </a:lnTo>
                <a:lnTo>
                  <a:pt x="94" y="83"/>
                </a:lnTo>
                <a:lnTo>
                  <a:pt x="36" y="109"/>
                </a:lnTo>
                <a:lnTo>
                  <a:pt x="58" y="67"/>
                </a:lnTo>
                <a:lnTo>
                  <a:pt x="0" y="4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22" name="Freeform 427">
            <a:extLst>
              <a:ext uri="{FF2B5EF4-FFF2-40B4-BE49-F238E27FC236}">
                <a16:creationId xmlns:a16="http://schemas.microsoft.com/office/drawing/2014/main" id="{134A6818-A5FA-93B0-1DE5-58AD3B053F32}"/>
              </a:ext>
            </a:extLst>
          </p:cNvPr>
          <p:cNvSpPr>
            <a:spLocks/>
          </p:cNvSpPr>
          <p:nvPr/>
        </p:nvSpPr>
        <p:spPr bwMode="auto">
          <a:xfrm>
            <a:off x="6257400" y="2146869"/>
            <a:ext cx="270210" cy="179270"/>
          </a:xfrm>
          <a:custGeom>
            <a:avLst/>
            <a:gdLst>
              <a:gd name="T0" fmla="*/ 0 w 189"/>
              <a:gd name="T1" fmla="*/ 42 h 109"/>
              <a:gd name="T2" fmla="*/ 72 w 189"/>
              <a:gd name="T3" fmla="*/ 42 h 109"/>
              <a:gd name="T4" fmla="*/ 94 w 189"/>
              <a:gd name="T5" fmla="*/ 0 h 109"/>
              <a:gd name="T6" fmla="*/ 117 w 189"/>
              <a:gd name="T7" fmla="*/ 42 h 109"/>
              <a:gd name="T8" fmla="*/ 189 w 189"/>
              <a:gd name="T9" fmla="*/ 42 h 109"/>
              <a:gd name="T10" fmla="*/ 130 w 189"/>
              <a:gd name="T11" fmla="*/ 67 h 109"/>
              <a:gd name="T12" fmla="*/ 153 w 189"/>
              <a:gd name="T13" fmla="*/ 109 h 109"/>
              <a:gd name="T14" fmla="*/ 94 w 189"/>
              <a:gd name="T15" fmla="*/ 83 h 109"/>
              <a:gd name="T16" fmla="*/ 36 w 189"/>
              <a:gd name="T17" fmla="*/ 109 h 109"/>
              <a:gd name="T18" fmla="*/ 58 w 189"/>
              <a:gd name="T19" fmla="*/ 67 h 109"/>
              <a:gd name="T20" fmla="*/ 0 w 189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9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7" y="42"/>
                </a:lnTo>
                <a:lnTo>
                  <a:pt x="189" y="42"/>
                </a:lnTo>
                <a:lnTo>
                  <a:pt x="130" y="67"/>
                </a:lnTo>
                <a:lnTo>
                  <a:pt x="153" y="109"/>
                </a:lnTo>
                <a:lnTo>
                  <a:pt x="94" y="83"/>
                </a:lnTo>
                <a:lnTo>
                  <a:pt x="36" y="109"/>
                </a:lnTo>
                <a:lnTo>
                  <a:pt x="58" y="67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23" name="Freeform 428">
            <a:extLst>
              <a:ext uri="{FF2B5EF4-FFF2-40B4-BE49-F238E27FC236}">
                <a16:creationId xmlns:a16="http://schemas.microsoft.com/office/drawing/2014/main" id="{E6DE2441-CF04-5FBF-8AEB-F28FF595ACBE}"/>
              </a:ext>
            </a:extLst>
          </p:cNvPr>
          <p:cNvSpPr>
            <a:spLocks/>
          </p:cNvSpPr>
          <p:nvPr/>
        </p:nvSpPr>
        <p:spPr bwMode="auto">
          <a:xfrm>
            <a:off x="6541908" y="2146869"/>
            <a:ext cx="274499" cy="179270"/>
          </a:xfrm>
          <a:custGeom>
            <a:avLst/>
            <a:gdLst>
              <a:gd name="T0" fmla="*/ 0 w 192"/>
              <a:gd name="T1" fmla="*/ 42 h 109"/>
              <a:gd name="T2" fmla="*/ 74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7 h 109"/>
              <a:gd name="T12" fmla="*/ 156 w 192"/>
              <a:gd name="T13" fmla="*/ 109 h 109"/>
              <a:gd name="T14" fmla="*/ 96 w 192"/>
              <a:gd name="T15" fmla="*/ 83 h 109"/>
              <a:gd name="T16" fmla="*/ 37 w 192"/>
              <a:gd name="T17" fmla="*/ 109 h 109"/>
              <a:gd name="T18" fmla="*/ 60 w 192"/>
              <a:gd name="T19" fmla="*/ 67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4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7"/>
                </a:lnTo>
                <a:lnTo>
                  <a:pt x="156" y="109"/>
                </a:lnTo>
                <a:lnTo>
                  <a:pt x="96" y="83"/>
                </a:lnTo>
                <a:lnTo>
                  <a:pt x="37" y="109"/>
                </a:lnTo>
                <a:lnTo>
                  <a:pt x="60" y="67"/>
                </a:lnTo>
                <a:lnTo>
                  <a:pt x="0" y="4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24" name="Freeform 429">
            <a:extLst>
              <a:ext uri="{FF2B5EF4-FFF2-40B4-BE49-F238E27FC236}">
                <a16:creationId xmlns:a16="http://schemas.microsoft.com/office/drawing/2014/main" id="{F812F20B-6A55-5099-420D-0CA3355491BD}"/>
              </a:ext>
            </a:extLst>
          </p:cNvPr>
          <p:cNvSpPr>
            <a:spLocks/>
          </p:cNvSpPr>
          <p:nvPr/>
        </p:nvSpPr>
        <p:spPr bwMode="auto">
          <a:xfrm>
            <a:off x="6541908" y="2146869"/>
            <a:ext cx="274499" cy="179270"/>
          </a:xfrm>
          <a:custGeom>
            <a:avLst/>
            <a:gdLst>
              <a:gd name="T0" fmla="*/ 0 w 192"/>
              <a:gd name="T1" fmla="*/ 42 h 109"/>
              <a:gd name="T2" fmla="*/ 74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7 h 109"/>
              <a:gd name="T12" fmla="*/ 156 w 192"/>
              <a:gd name="T13" fmla="*/ 109 h 109"/>
              <a:gd name="T14" fmla="*/ 96 w 192"/>
              <a:gd name="T15" fmla="*/ 83 h 109"/>
              <a:gd name="T16" fmla="*/ 37 w 192"/>
              <a:gd name="T17" fmla="*/ 109 h 109"/>
              <a:gd name="T18" fmla="*/ 60 w 192"/>
              <a:gd name="T19" fmla="*/ 67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4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7"/>
                </a:lnTo>
                <a:lnTo>
                  <a:pt x="156" y="109"/>
                </a:lnTo>
                <a:lnTo>
                  <a:pt x="96" y="83"/>
                </a:lnTo>
                <a:lnTo>
                  <a:pt x="37" y="109"/>
                </a:lnTo>
                <a:lnTo>
                  <a:pt x="60" y="67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25" name="Freeform 430">
            <a:extLst>
              <a:ext uri="{FF2B5EF4-FFF2-40B4-BE49-F238E27FC236}">
                <a16:creationId xmlns:a16="http://schemas.microsoft.com/office/drawing/2014/main" id="{ED81F5B3-F402-2518-5D03-33DE59184789}"/>
              </a:ext>
            </a:extLst>
          </p:cNvPr>
          <p:cNvSpPr>
            <a:spLocks/>
          </p:cNvSpPr>
          <p:nvPr/>
        </p:nvSpPr>
        <p:spPr bwMode="auto">
          <a:xfrm>
            <a:off x="6832133" y="2146869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7 h 109"/>
              <a:gd name="T12" fmla="*/ 155 w 192"/>
              <a:gd name="T13" fmla="*/ 109 h 109"/>
              <a:gd name="T14" fmla="*/ 96 w 192"/>
              <a:gd name="T15" fmla="*/ 83 h 109"/>
              <a:gd name="T16" fmla="*/ 37 w 192"/>
              <a:gd name="T17" fmla="*/ 109 h 109"/>
              <a:gd name="T18" fmla="*/ 59 w 192"/>
              <a:gd name="T19" fmla="*/ 67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7"/>
                </a:lnTo>
                <a:lnTo>
                  <a:pt x="155" y="109"/>
                </a:lnTo>
                <a:lnTo>
                  <a:pt x="96" y="83"/>
                </a:lnTo>
                <a:lnTo>
                  <a:pt x="37" y="109"/>
                </a:lnTo>
                <a:lnTo>
                  <a:pt x="59" y="67"/>
                </a:lnTo>
                <a:lnTo>
                  <a:pt x="0" y="4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26" name="Freeform 431">
            <a:extLst>
              <a:ext uri="{FF2B5EF4-FFF2-40B4-BE49-F238E27FC236}">
                <a16:creationId xmlns:a16="http://schemas.microsoft.com/office/drawing/2014/main" id="{0BB70B37-0588-2631-CD68-F7152F09DD10}"/>
              </a:ext>
            </a:extLst>
          </p:cNvPr>
          <p:cNvSpPr>
            <a:spLocks/>
          </p:cNvSpPr>
          <p:nvPr/>
        </p:nvSpPr>
        <p:spPr bwMode="auto">
          <a:xfrm>
            <a:off x="6832133" y="2146869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7 h 109"/>
              <a:gd name="T12" fmla="*/ 155 w 192"/>
              <a:gd name="T13" fmla="*/ 109 h 109"/>
              <a:gd name="T14" fmla="*/ 96 w 192"/>
              <a:gd name="T15" fmla="*/ 83 h 109"/>
              <a:gd name="T16" fmla="*/ 37 w 192"/>
              <a:gd name="T17" fmla="*/ 109 h 109"/>
              <a:gd name="T18" fmla="*/ 59 w 192"/>
              <a:gd name="T19" fmla="*/ 67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7"/>
                </a:lnTo>
                <a:lnTo>
                  <a:pt x="155" y="109"/>
                </a:lnTo>
                <a:lnTo>
                  <a:pt x="96" y="83"/>
                </a:lnTo>
                <a:lnTo>
                  <a:pt x="37" y="109"/>
                </a:lnTo>
                <a:lnTo>
                  <a:pt x="59" y="67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27" name="Freeform 432">
            <a:extLst>
              <a:ext uri="{FF2B5EF4-FFF2-40B4-BE49-F238E27FC236}">
                <a16:creationId xmlns:a16="http://schemas.microsoft.com/office/drawing/2014/main" id="{D2EF24E6-2ADA-63FB-23DA-9F85825C394F}"/>
              </a:ext>
            </a:extLst>
          </p:cNvPr>
          <p:cNvSpPr>
            <a:spLocks/>
          </p:cNvSpPr>
          <p:nvPr/>
        </p:nvSpPr>
        <p:spPr bwMode="auto">
          <a:xfrm>
            <a:off x="5678379" y="2763622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8 h 109"/>
              <a:gd name="T12" fmla="*/ 155 w 192"/>
              <a:gd name="T13" fmla="*/ 109 h 109"/>
              <a:gd name="T14" fmla="*/ 96 w 192"/>
              <a:gd name="T15" fmla="*/ 84 h 109"/>
              <a:gd name="T16" fmla="*/ 37 w 192"/>
              <a:gd name="T17" fmla="*/ 109 h 109"/>
              <a:gd name="T18" fmla="*/ 59 w 192"/>
              <a:gd name="T19" fmla="*/ 68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8"/>
                </a:lnTo>
                <a:lnTo>
                  <a:pt x="155" y="109"/>
                </a:lnTo>
                <a:lnTo>
                  <a:pt x="96" y="84"/>
                </a:lnTo>
                <a:lnTo>
                  <a:pt x="37" y="109"/>
                </a:lnTo>
                <a:lnTo>
                  <a:pt x="59" y="68"/>
                </a:lnTo>
                <a:lnTo>
                  <a:pt x="0" y="4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28" name="Freeform 433">
            <a:extLst>
              <a:ext uri="{FF2B5EF4-FFF2-40B4-BE49-F238E27FC236}">
                <a16:creationId xmlns:a16="http://schemas.microsoft.com/office/drawing/2014/main" id="{4C19EEB9-0881-3163-B214-6A2F77F06684}"/>
              </a:ext>
            </a:extLst>
          </p:cNvPr>
          <p:cNvSpPr>
            <a:spLocks/>
          </p:cNvSpPr>
          <p:nvPr/>
        </p:nvSpPr>
        <p:spPr bwMode="auto">
          <a:xfrm>
            <a:off x="5678379" y="2763622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8 h 109"/>
              <a:gd name="T12" fmla="*/ 155 w 192"/>
              <a:gd name="T13" fmla="*/ 109 h 109"/>
              <a:gd name="T14" fmla="*/ 96 w 192"/>
              <a:gd name="T15" fmla="*/ 84 h 109"/>
              <a:gd name="T16" fmla="*/ 37 w 192"/>
              <a:gd name="T17" fmla="*/ 109 h 109"/>
              <a:gd name="T18" fmla="*/ 59 w 192"/>
              <a:gd name="T19" fmla="*/ 68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8"/>
                </a:lnTo>
                <a:lnTo>
                  <a:pt x="155" y="109"/>
                </a:lnTo>
                <a:lnTo>
                  <a:pt x="96" y="84"/>
                </a:lnTo>
                <a:lnTo>
                  <a:pt x="37" y="109"/>
                </a:lnTo>
                <a:lnTo>
                  <a:pt x="59" y="68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29" name="Freeform 434">
            <a:extLst>
              <a:ext uri="{FF2B5EF4-FFF2-40B4-BE49-F238E27FC236}">
                <a16:creationId xmlns:a16="http://schemas.microsoft.com/office/drawing/2014/main" id="{97158881-A0C4-3DD0-73B9-701BA93033C9}"/>
              </a:ext>
            </a:extLst>
          </p:cNvPr>
          <p:cNvSpPr>
            <a:spLocks/>
          </p:cNvSpPr>
          <p:nvPr/>
        </p:nvSpPr>
        <p:spPr bwMode="auto">
          <a:xfrm>
            <a:off x="5968605" y="2763622"/>
            <a:ext cx="268780" cy="179270"/>
          </a:xfrm>
          <a:custGeom>
            <a:avLst/>
            <a:gdLst>
              <a:gd name="T0" fmla="*/ 0 w 188"/>
              <a:gd name="T1" fmla="*/ 42 h 109"/>
              <a:gd name="T2" fmla="*/ 72 w 188"/>
              <a:gd name="T3" fmla="*/ 42 h 109"/>
              <a:gd name="T4" fmla="*/ 94 w 188"/>
              <a:gd name="T5" fmla="*/ 0 h 109"/>
              <a:gd name="T6" fmla="*/ 116 w 188"/>
              <a:gd name="T7" fmla="*/ 42 h 109"/>
              <a:gd name="T8" fmla="*/ 188 w 188"/>
              <a:gd name="T9" fmla="*/ 42 h 109"/>
              <a:gd name="T10" fmla="*/ 130 w 188"/>
              <a:gd name="T11" fmla="*/ 68 h 109"/>
              <a:gd name="T12" fmla="*/ 152 w 188"/>
              <a:gd name="T13" fmla="*/ 109 h 109"/>
              <a:gd name="T14" fmla="*/ 94 w 188"/>
              <a:gd name="T15" fmla="*/ 84 h 109"/>
              <a:gd name="T16" fmla="*/ 36 w 188"/>
              <a:gd name="T17" fmla="*/ 109 h 109"/>
              <a:gd name="T18" fmla="*/ 58 w 188"/>
              <a:gd name="T19" fmla="*/ 68 h 109"/>
              <a:gd name="T20" fmla="*/ 0 w 188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8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6" y="42"/>
                </a:lnTo>
                <a:lnTo>
                  <a:pt x="188" y="42"/>
                </a:lnTo>
                <a:lnTo>
                  <a:pt x="130" y="68"/>
                </a:lnTo>
                <a:lnTo>
                  <a:pt x="152" y="109"/>
                </a:lnTo>
                <a:lnTo>
                  <a:pt x="94" y="84"/>
                </a:lnTo>
                <a:lnTo>
                  <a:pt x="36" y="109"/>
                </a:lnTo>
                <a:lnTo>
                  <a:pt x="58" y="68"/>
                </a:lnTo>
                <a:lnTo>
                  <a:pt x="0" y="4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30" name="Freeform 435">
            <a:extLst>
              <a:ext uri="{FF2B5EF4-FFF2-40B4-BE49-F238E27FC236}">
                <a16:creationId xmlns:a16="http://schemas.microsoft.com/office/drawing/2014/main" id="{818A1BB6-B694-F23A-1BC7-20A585661BC3}"/>
              </a:ext>
            </a:extLst>
          </p:cNvPr>
          <p:cNvSpPr>
            <a:spLocks/>
          </p:cNvSpPr>
          <p:nvPr/>
        </p:nvSpPr>
        <p:spPr bwMode="auto">
          <a:xfrm>
            <a:off x="5968605" y="2763622"/>
            <a:ext cx="268780" cy="179270"/>
          </a:xfrm>
          <a:custGeom>
            <a:avLst/>
            <a:gdLst>
              <a:gd name="T0" fmla="*/ 0 w 188"/>
              <a:gd name="T1" fmla="*/ 42 h 109"/>
              <a:gd name="T2" fmla="*/ 72 w 188"/>
              <a:gd name="T3" fmla="*/ 42 h 109"/>
              <a:gd name="T4" fmla="*/ 94 w 188"/>
              <a:gd name="T5" fmla="*/ 0 h 109"/>
              <a:gd name="T6" fmla="*/ 116 w 188"/>
              <a:gd name="T7" fmla="*/ 42 h 109"/>
              <a:gd name="T8" fmla="*/ 188 w 188"/>
              <a:gd name="T9" fmla="*/ 42 h 109"/>
              <a:gd name="T10" fmla="*/ 130 w 188"/>
              <a:gd name="T11" fmla="*/ 68 h 109"/>
              <a:gd name="T12" fmla="*/ 152 w 188"/>
              <a:gd name="T13" fmla="*/ 109 h 109"/>
              <a:gd name="T14" fmla="*/ 94 w 188"/>
              <a:gd name="T15" fmla="*/ 84 h 109"/>
              <a:gd name="T16" fmla="*/ 36 w 188"/>
              <a:gd name="T17" fmla="*/ 109 h 109"/>
              <a:gd name="T18" fmla="*/ 58 w 188"/>
              <a:gd name="T19" fmla="*/ 68 h 109"/>
              <a:gd name="T20" fmla="*/ 0 w 188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8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6" y="42"/>
                </a:lnTo>
                <a:lnTo>
                  <a:pt x="188" y="42"/>
                </a:lnTo>
                <a:lnTo>
                  <a:pt x="130" y="68"/>
                </a:lnTo>
                <a:lnTo>
                  <a:pt x="152" y="109"/>
                </a:lnTo>
                <a:lnTo>
                  <a:pt x="94" y="84"/>
                </a:lnTo>
                <a:lnTo>
                  <a:pt x="36" y="109"/>
                </a:lnTo>
                <a:lnTo>
                  <a:pt x="58" y="68"/>
                </a:lnTo>
                <a:lnTo>
                  <a:pt x="0" y="42"/>
                </a:lnTo>
                <a:close/>
              </a:path>
            </a:pathLst>
          </a:custGeom>
          <a:solidFill>
            <a:schemeClr val="accent4"/>
          </a:solidFill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31" name="Freeform 436">
            <a:extLst>
              <a:ext uri="{FF2B5EF4-FFF2-40B4-BE49-F238E27FC236}">
                <a16:creationId xmlns:a16="http://schemas.microsoft.com/office/drawing/2014/main" id="{289B1E0A-EDB9-0D49-D23B-4F1508EEC73A}"/>
              </a:ext>
            </a:extLst>
          </p:cNvPr>
          <p:cNvSpPr>
            <a:spLocks/>
          </p:cNvSpPr>
          <p:nvPr/>
        </p:nvSpPr>
        <p:spPr bwMode="auto">
          <a:xfrm>
            <a:off x="6257400" y="2763622"/>
            <a:ext cx="270210" cy="179270"/>
          </a:xfrm>
          <a:custGeom>
            <a:avLst/>
            <a:gdLst>
              <a:gd name="T0" fmla="*/ 0 w 189"/>
              <a:gd name="T1" fmla="*/ 42 h 109"/>
              <a:gd name="T2" fmla="*/ 72 w 189"/>
              <a:gd name="T3" fmla="*/ 42 h 109"/>
              <a:gd name="T4" fmla="*/ 94 w 189"/>
              <a:gd name="T5" fmla="*/ 0 h 109"/>
              <a:gd name="T6" fmla="*/ 117 w 189"/>
              <a:gd name="T7" fmla="*/ 42 h 109"/>
              <a:gd name="T8" fmla="*/ 189 w 189"/>
              <a:gd name="T9" fmla="*/ 42 h 109"/>
              <a:gd name="T10" fmla="*/ 130 w 189"/>
              <a:gd name="T11" fmla="*/ 68 h 109"/>
              <a:gd name="T12" fmla="*/ 153 w 189"/>
              <a:gd name="T13" fmla="*/ 109 h 109"/>
              <a:gd name="T14" fmla="*/ 94 w 189"/>
              <a:gd name="T15" fmla="*/ 84 h 109"/>
              <a:gd name="T16" fmla="*/ 36 w 189"/>
              <a:gd name="T17" fmla="*/ 109 h 109"/>
              <a:gd name="T18" fmla="*/ 58 w 189"/>
              <a:gd name="T19" fmla="*/ 68 h 109"/>
              <a:gd name="T20" fmla="*/ 0 w 189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9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7" y="42"/>
                </a:lnTo>
                <a:lnTo>
                  <a:pt x="189" y="42"/>
                </a:lnTo>
                <a:lnTo>
                  <a:pt x="130" y="68"/>
                </a:lnTo>
                <a:lnTo>
                  <a:pt x="153" y="109"/>
                </a:lnTo>
                <a:lnTo>
                  <a:pt x="94" y="84"/>
                </a:lnTo>
                <a:lnTo>
                  <a:pt x="36" y="109"/>
                </a:lnTo>
                <a:lnTo>
                  <a:pt x="58" y="68"/>
                </a:lnTo>
                <a:lnTo>
                  <a:pt x="0" y="4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32" name="Freeform 437">
            <a:extLst>
              <a:ext uri="{FF2B5EF4-FFF2-40B4-BE49-F238E27FC236}">
                <a16:creationId xmlns:a16="http://schemas.microsoft.com/office/drawing/2014/main" id="{1D53E138-1307-B58B-733F-257425D2BD00}"/>
              </a:ext>
            </a:extLst>
          </p:cNvPr>
          <p:cNvSpPr>
            <a:spLocks/>
          </p:cNvSpPr>
          <p:nvPr/>
        </p:nvSpPr>
        <p:spPr bwMode="auto">
          <a:xfrm>
            <a:off x="6257400" y="2763622"/>
            <a:ext cx="270210" cy="179270"/>
          </a:xfrm>
          <a:custGeom>
            <a:avLst/>
            <a:gdLst>
              <a:gd name="T0" fmla="*/ 0 w 189"/>
              <a:gd name="T1" fmla="*/ 42 h 109"/>
              <a:gd name="T2" fmla="*/ 72 w 189"/>
              <a:gd name="T3" fmla="*/ 42 h 109"/>
              <a:gd name="T4" fmla="*/ 94 w 189"/>
              <a:gd name="T5" fmla="*/ 0 h 109"/>
              <a:gd name="T6" fmla="*/ 117 w 189"/>
              <a:gd name="T7" fmla="*/ 42 h 109"/>
              <a:gd name="T8" fmla="*/ 189 w 189"/>
              <a:gd name="T9" fmla="*/ 42 h 109"/>
              <a:gd name="T10" fmla="*/ 130 w 189"/>
              <a:gd name="T11" fmla="*/ 68 h 109"/>
              <a:gd name="T12" fmla="*/ 153 w 189"/>
              <a:gd name="T13" fmla="*/ 109 h 109"/>
              <a:gd name="T14" fmla="*/ 94 w 189"/>
              <a:gd name="T15" fmla="*/ 84 h 109"/>
              <a:gd name="T16" fmla="*/ 36 w 189"/>
              <a:gd name="T17" fmla="*/ 109 h 109"/>
              <a:gd name="T18" fmla="*/ 58 w 189"/>
              <a:gd name="T19" fmla="*/ 68 h 109"/>
              <a:gd name="T20" fmla="*/ 0 w 189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9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7" y="42"/>
                </a:lnTo>
                <a:lnTo>
                  <a:pt x="189" y="42"/>
                </a:lnTo>
                <a:lnTo>
                  <a:pt x="130" y="68"/>
                </a:lnTo>
                <a:lnTo>
                  <a:pt x="153" y="109"/>
                </a:lnTo>
                <a:lnTo>
                  <a:pt x="94" y="84"/>
                </a:lnTo>
                <a:lnTo>
                  <a:pt x="36" y="109"/>
                </a:lnTo>
                <a:lnTo>
                  <a:pt x="58" y="68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33" name="Freeform 438">
            <a:extLst>
              <a:ext uri="{FF2B5EF4-FFF2-40B4-BE49-F238E27FC236}">
                <a16:creationId xmlns:a16="http://schemas.microsoft.com/office/drawing/2014/main" id="{D81EDA78-53AE-602E-52CA-05E68894FCC1}"/>
              </a:ext>
            </a:extLst>
          </p:cNvPr>
          <p:cNvSpPr>
            <a:spLocks/>
          </p:cNvSpPr>
          <p:nvPr/>
        </p:nvSpPr>
        <p:spPr bwMode="auto">
          <a:xfrm>
            <a:off x="6541908" y="2763622"/>
            <a:ext cx="274499" cy="179270"/>
          </a:xfrm>
          <a:custGeom>
            <a:avLst/>
            <a:gdLst>
              <a:gd name="T0" fmla="*/ 0 w 192"/>
              <a:gd name="T1" fmla="*/ 42 h 109"/>
              <a:gd name="T2" fmla="*/ 74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8 h 109"/>
              <a:gd name="T12" fmla="*/ 156 w 192"/>
              <a:gd name="T13" fmla="*/ 109 h 109"/>
              <a:gd name="T14" fmla="*/ 96 w 192"/>
              <a:gd name="T15" fmla="*/ 84 h 109"/>
              <a:gd name="T16" fmla="*/ 37 w 192"/>
              <a:gd name="T17" fmla="*/ 109 h 109"/>
              <a:gd name="T18" fmla="*/ 60 w 192"/>
              <a:gd name="T19" fmla="*/ 68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4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8"/>
                </a:lnTo>
                <a:lnTo>
                  <a:pt x="156" y="109"/>
                </a:lnTo>
                <a:lnTo>
                  <a:pt x="96" y="84"/>
                </a:lnTo>
                <a:lnTo>
                  <a:pt x="37" y="109"/>
                </a:lnTo>
                <a:lnTo>
                  <a:pt x="60" y="68"/>
                </a:lnTo>
                <a:lnTo>
                  <a:pt x="0" y="4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34" name="Freeform 439">
            <a:extLst>
              <a:ext uri="{FF2B5EF4-FFF2-40B4-BE49-F238E27FC236}">
                <a16:creationId xmlns:a16="http://schemas.microsoft.com/office/drawing/2014/main" id="{A89B4D05-7C7D-1520-9EEC-0431166ACE2F}"/>
              </a:ext>
            </a:extLst>
          </p:cNvPr>
          <p:cNvSpPr>
            <a:spLocks/>
          </p:cNvSpPr>
          <p:nvPr/>
        </p:nvSpPr>
        <p:spPr bwMode="auto">
          <a:xfrm>
            <a:off x="6541908" y="2763622"/>
            <a:ext cx="274499" cy="179270"/>
          </a:xfrm>
          <a:custGeom>
            <a:avLst/>
            <a:gdLst>
              <a:gd name="T0" fmla="*/ 0 w 192"/>
              <a:gd name="T1" fmla="*/ 42 h 109"/>
              <a:gd name="T2" fmla="*/ 74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8 h 109"/>
              <a:gd name="T12" fmla="*/ 156 w 192"/>
              <a:gd name="T13" fmla="*/ 109 h 109"/>
              <a:gd name="T14" fmla="*/ 96 w 192"/>
              <a:gd name="T15" fmla="*/ 84 h 109"/>
              <a:gd name="T16" fmla="*/ 37 w 192"/>
              <a:gd name="T17" fmla="*/ 109 h 109"/>
              <a:gd name="T18" fmla="*/ 60 w 192"/>
              <a:gd name="T19" fmla="*/ 68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4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8"/>
                </a:lnTo>
                <a:lnTo>
                  <a:pt x="156" y="109"/>
                </a:lnTo>
                <a:lnTo>
                  <a:pt x="96" y="84"/>
                </a:lnTo>
                <a:lnTo>
                  <a:pt x="37" y="109"/>
                </a:lnTo>
                <a:lnTo>
                  <a:pt x="60" y="68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35" name="Freeform 440">
            <a:extLst>
              <a:ext uri="{FF2B5EF4-FFF2-40B4-BE49-F238E27FC236}">
                <a16:creationId xmlns:a16="http://schemas.microsoft.com/office/drawing/2014/main" id="{2A207AF9-5B2D-9A7C-57FA-92938E08D7EA}"/>
              </a:ext>
            </a:extLst>
          </p:cNvPr>
          <p:cNvSpPr>
            <a:spLocks/>
          </p:cNvSpPr>
          <p:nvPr/>
        </p:nvSpPr>
        <p:spPr bwMode="auto">
          <a:xfrm>
            <a:off x="6832133" y="2763622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8 h 109"/>
              <a:gd name="T12" fmla="*/ 155 w 192"/>
              <a:gd name="T13" fmla="*/ 109 h 109"/>
              <a:gd name="T14" fmla="*/ 96 w 192"/>
              <a:gd name="T15" fmla="*/ 84 h 109"/>
              <a:gd name="T16" fmla="*/ 37 w 192"/>
              <a:gd name="T17" fmla="*/ 109 h 109"/>
              <a:gd name="T18" fmla="*/ 59 w 192"/>
              <a:gd name="T19" fmla="*/ 68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8"/>
                </a:lnTo>
                <a:lnTo>
                  <a:pt x="155" y="109"/>
                </a:lnTo>
                <a:lnTo>
                  <a:pt x="96" y="84"/>
                </a:lnTo>
                <a:lnTo>
                  <a:pt x="37" y="109"/>
                </a:lnTo>
                <a:lnTo>
                  <a:pt x="59" y="68"/>
                </a:lnTo>
                <a:lnTo>
                  <a:pt x="0" y="4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36" name="Freeform 441">
            <a:extLst>
              <a:ext uri="{FF2B5EF4-FFF2-40B4-BE49-F238E27FC236}">
                <a16:creationId xmlns:a16="http://schemas.microsoft.com/office/drawing/2014/main" id="{71F9706D-C78C-C18A-069E-5F049FB1002B}"/>
              </a:ext>
            </a:extLst>
          </p:cNvPr>
          <p:cNvSpPr>
            <a:spLocks/>
          </p:cNvSpPr>
          <p:nvPr/>
        </p:nvSpPr>
        <p:spPr bwMode="auto">
          <a:xfrm>
            <a:off x="6832133" y="2763622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8 h 109"/>
              <a:gd name="T12" fmla="*/ 155 w 192"/>
              <a:gd name="T13" fmla="*/ 109 h 109"/>
              <a:gd name="T14" fmla="*/ 96 w 192"/>
              <a:gd name="T15" fmla="*/ 84 h 109"/>
              <a:gd name="T16" fmla="*/ 37 w 192"/>
              <a:gd name="T17" fmla="*/ 109 h 109"/>
              <a:gd name="T18" fmla="*/ 59 w 192"/>
              <a:gd name="T19" fmla="*/ 68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8"/>
                </a:lnTo>
                <a:lnTo>
                  <a:pt x="155" y="109"/>
                </a:lnTo>
                <a:lnTo>
                  <a:pt x="96" y="84"/>
                </a:lnTo>
                <a:lnTo>
                  <a:pt x="37" y="109"/>
                </a:lnTo>
                <a:lnTo>
                  <a:pt x="59" y="68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37" name="Freeform 462">
            <a:extLst>
              <a:ext uri="{FF2B5EF4-FFF2-40B4-BE49-F238E27FC236}">
                <a16:creationId xmlns:a16="http://schemas.microsoft.com/office/drawing/2014/main" id="{09789D13-B1FC-1249-DB7B-1D31F5BCF800}"/>
              </a:ext>
            </a:extLst>
          </p:cNvPr>
          <p:cNvSpPr>
            <a:spLocks/>
          </p:cNvSpPr>
          <p:nvPr/>
        </p:nvSpPr>
        <p:spPr bwMode="auto">
          <a:xfrm>
            <a:off x="5678379" y="3391772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7 h 109"/>
              <a:gd name="T12" fmla="*/ 155 w 192"/>
              <a:gd name="T13" fmla="*/ 109 h 109"/>
              <a:gd name="T14" fmla="*/ 96 w 192"/>
              <a:gd name="T15" fmla="*/ 83 h 109"/>
              <a:gd name="T16" fmla="*/ 37 w 192"/>
              <a:gd name="T17" fmla="*/ 109 h 109"/>
              <a:gd name="T18" fmla="*/ 59 w 192"/>
              <a:gd name="T19" fmla="*/ 67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7"/>
                </a:lnTo>
                <a:lnTo>
                  <a:pt x="155" y="109"/>
                </a:lnTo>
                <a:lnTo>
                  <a:pt x="96" y="83"/>
                </a:lnTo>
                <a:lnTo>
                  <a:pt x="37" y="109"/>
                </a:lnTo>
                <a:lnTo>
                  <a:pt x="59" y="67"/>
                </a:lnTo>
                <a:lnTo>
                  <a:pt x="0" y="4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38" name="Freeform 463">
            <a:extLst>
              <a:ext uri="{FF2B5EF4-FFF2-40B4-BE49-F238E27FC236}">
                <a16:creationId xmlns:a16="http://schemas.microsoft.com/office/drawing/2014/main" id="{AD1169C2-9D02-610D-5FD0-5FB3E4C396DC}"/>
              </a:ext>
            </a:extLst>
          </p:cNvPr>
          <p:cNvSpPr>
            <a:spLocks/>
          </p:cNvSpPr>
          <p:nvPr/>
        </p:nvSpPr>
        <p:spPr bwMode="auto">
          <a:xfrm>
            <a:off x="5678379" y="3391772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7 h 109"/>
              <a:gd name="T12" fmla="*/ 155 w 192"/>
              <a:gd name="T13" fmla="*/ 109 h 109"/>
              <a:gd name="T14" fmla="*/ 96 w 192"/>
              <a:gd name="T15" fmla="*/ 83 h 109"/>
              <a:gd name="T16" fmla="*/ 37 w 192"/>
              <a:gd name="T17" fmla="*/ 109 h 109"/>
              <a:gd name="T18" fmla="*/ 59 w 192"/>
              <a:gd name="T19" fmla="*/ 67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7"/>
                </a:lnTo>
                <a:lnTo>
                  <a:pt x="155" y="109"/>
                </a:lnTo>
                <a:lnTo>
                  <a:pt x="96" y="83"/>
                </a:lnTo>
                <a:lnTo>
                  <a:pt x="37" y="109"/>
                </a:lnTo>
                <a:lnTo>
                  <a:pt x="59" y="67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39" name="Freeform 464">
            <a:extLst>
              <a:ext uri="{FF2B5EF4-FFF2-40B4-BE49-F238E27FC236}">
                <a16:creationId xmlns:a16="http://schemas.microsoft.com/office/drawing/2014/main" id="{7FA68D81-85D9-028C-7321-350D60D0911A}"/>
              </a:ext>
            </a:extLst>
          </p:cNvPr>
          <p:cNvSpPr>
            <a:spLocks/>
          </p:cNvSpPr>
          <p:nvPr/>
        </p:nvSpPr>
        <p:spPr bwMode="auto">
          <a:xfrm>
            <a:off x="5968605" y="3391772"/>
            <a:ext cx="268780" cy="179270"/>
          </a:xfrm>
          <a:custGeom>
            <a:avLst/>
            <a:gdLst>
              <a:gd name="T0" fmla="*/ 0 w 188"/>
              <a:gd name="T1" fmla="*/ 42 h 109"/>
              <a:gd name="T2" fmla="*/ 72 w 188"/>
              <a:gd name="T3" fmla="*/ 42 h 109"/>
              <a:gd name="T4" fmla="*/ 94 w 188"/>
              <a:gd name="T5" fmla="*/ 0 h 109"/>
              <a:gd name="T6" fmla="*/ 116 w 188"/>
              <a:gd name="T7" fmla="*/ 42 h 109"/>
              <a:gd name="T8" fmla="*/ 188 w 188"/>
              <a:gd name="T9" fmla="*/ 42 h 109"/>
              <a:gd name="T10" fmla="*/ 130 w 188"/>
              <a:gd name="T11" fmla="*/ 67 h 109"/>
              <a:gd name="T12" fmla="*/ 152 w 188"/>
              <a:gd name="T13" fmla="*/ 109 h 109"/>
              <a:gd name="T14" fmla="*/ 94 w 188"/>
              <a:gd name="T15" fmla="*/ 83 h 109"/>
              <a:gd name="T16" fmla="*/ 36 w 188"/>
              <a:gd name="T17" fmla="*/ 109 h 109"/>
              <a:gd name="T18" fmla="*/ 58 w 188"/>
              <a:gd name="T19" fmla="*/ 67 h 109"/>
              <a:gd name="T20" fmla="*/ 0 w 188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8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6" y="42"/>
                </a:lnTo>
                <a:lnTo>
                  <a:pt x="188" y="42"/>
                </a:lnTo>
                <a:lnTo>
                  <a:pt x="130" y="67"/>
                </a:lnTo>
                <a:lnTo>
                  <a:pt x="152" y="109"/>
                </a:lnTo>
                <a:lnTo>
                  <a:pt x="94" y="83"/>
                </a:lnTo>
                <a:lnTo>
                  <a:pt x="36" y="109"/>
                </a:lnTo>
                <a:lnTo>
                  <a:pt x="58" y="67"/>
                </a:lnTo>
                <a:lnTo>
                  <a:pt x="0" y="4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40" name="Freeform 465">
            <a:extLst>
              <a:ext uri="{FF2B5EF4-FFF2-40B4-BE49-F238E27FC236}">
                <a16:creationId xmlns:a16="http://schemas.microsoft.com/office/drawing/2014/main" id="{B09E0B65-5236-D042-C048-B9E5F91B7A4B}"/>
              </a:ext>
            </a:extLst>
          </p:cNvPr>
          <p:cNvSpPr>
            <a:spLocks/>
          </p:cNvSpPr>
          <p:nvPr/>
        </p:nvSpPr>
        <p:spPr bwMode="auto">
          <a:xfrm>
            <a:off x="5968605" y="3391772"/>
            <a:ext cx="268780" cy="179270"/>
          </a:xfrm>
          <a:custGeom>
            <a:avLst/>
            <a:gdLst>
              <a:gd name="T0" fmla="*/ 0 w 188"/>
              <a:gd name="T1" fmla="*/ 42 h 109"/>
              <a:gd name="T2" fmla="*/ 72 w 188"/>
              <a:gd name="T3" fmla="*/ 42 h 109"/>
              <a:gd name="T4" fmla="*/ 94 w 188"/>
              <a:gd name="T5" fmla="*/ 0 h 109"/>
              <a:gd name="T6" fmla="*/ 116 w 188"/>
              <a:gd name="T7" fmla="*/ 42 h 109"/>
              <a:gd name="T8" fmla="*/ 188 w 188"/>
              <a:gd name="T9" fmla="*/ 42 h 109"/>
              <a:gd name="T10" fmla="*/ 130 w 188"/>
              <a:gd name="T11" fmla="*/ 67 h 109"/>
              <a:gd name="T12" fmla="*/ 152 w 188"/>
              <a:gd name="T13" fmla="*/ 109 h 109"/>
              <a:gd name="T14" fmla="*/ 94 w 188"/>
              <a:gd name="T15" fmla="*/ 83 h 109"/>
              <a:gd name="T16" fmla="*/ 36 w 188"/>
              <a:gd name="T17" fmla="*/ 109 h 109"/>
              <a:gd name="T18" fmla="*/ 58 w 188"/>
              <a:gd name="T19" fmla="*/ 67 h 109"/>
              <a:gd name="T20" fmla="*/ 0 w 188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8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6" y="42"/>
                </a:lnTo>
                <a:lnTo>
                  <a:pt x="188" y="42"/>
                </a:lnTo>
                <a:lnTo>
                  <a:pt x="130" y="67"/>
                </a:lnTo>
                <a:lnTo>
                  <a:pt x="152" y="109"/>
                </a:lnTo>
                <a:lnTo>
                  <a:pt x="94" y="83"/>
                </a:lnTo>
                <a:lnTo>
                  <a:pt x="36" y="109"/>
                </a:lnTo>
                <a:lnTo>
                  <a:pt x="58" y="67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41" name="Freeform 466">
            <a:extLst>
              <a:ext uri="{FF2B5EF4-FFF2-40B4-BE49-F238E27FC236}">
                <a16:creationId xmlns:a16="http://schemas.microsoft.com/office/drawing/2014/main" id="{AE8B2DA0-1198-12F8-4BC1-6AD23DBF3270}"/>
              </a:ext>
            </a:extLst>
          </p:cNvPr>
          <p:cNvSpPr>
            <a:spLocks/>
          </p:cNvSpPr>
          <p:nvPr/>
        </p:nvSpPr>
        <p:spPr bwMode="auto">
          <a:xfrm>
            <a:off x="6257400" y="3391772"/>
            <a:ext cx="270210" cy="179270"/>
          </a:xfrm>
          <a:custGeom>
            <a:avLst/>
            <a:gdLst>
              <a:gd name="T0" fmla="*/ 0 w 189"/>
              <a:gd name="T1" fmla="*/ 42 h 109"/>
              <a:gd name="T2" fmla="*/ 72 w 189"/>
              <a:gd name="T3" fmla="*/ 42 h 109"/>
              <a:gd name="T4" fmla="*/ 94 w 189"/>
              <a:gd name="T5" fmla="*/ 0 h 109"/>
              <a:gd name="T6" fmla="*/ 117 w 189"/>
              <a:gd name="T7" fmla="*/ 42 h 109"/>
              <a:gd name="T8" fmla="*/ 189 w 189"/>
              <a:gd name="T9" fmla="*/ 42 h 109"/>
              <a:gd name="T10" fmla="*/ 130 w 189"/>
              <a:gd name="T11" fmla="*/ 67 h 109"/>
              <a:gd name="T12" fmla="*/ 153 w 189"/>
              <a:gd name="T13" fmla="*/ 109 h 109"/>
              <a:gd name="T14" fmla="*/ 94 w 189"/>
              <a:gd name="T15" fmla="*/ 83 h 109"/>
              <a:gd name="T16" fmla="*/ 36 w 189"/>
              <a:gd name="T17" fmla="*/ 109 h 109"/>
              <a:gd name="T18" fmla="*/ 58 w 189"/>
              <a:gd name="T19" fmla="*/ 67 h 109"/>
              <a:gd name="T20" fmla="*/ 0 w 189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9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7" y="42"/>
                </a:lnTo>
                <a:lnTo>
                  <a:pt x="189" y="42"/>
                </a:lnTo>
                <a:lnTo>
                  <a:pt x="130" y="67"/>
                </a:lnTo>
                <a:lnTo>
                  <a:pt x="153" y="109"/>
                </a:lnTo>
                <a:lnTo>
                  <a:pt x="94" y="83"/>
                </a:lnTo>
                <a:lnTo>
                  <a:pt x="36" y="109"/>
                </a:lnTo>
                <a:lnTo>
                  <a:pt x="58" y="67"/>
                </a:lnTo>
                <a:lnTo>
                  <a:pt x="0" y="4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42" name="Freeform 467">
            <a:extLst>
              <a:ext uri="{FF2B5EF4-FFF2-40B4-BE49-F238E27FC236}">
                <a16:creationId xmlns:a16="http://schemas.microsoft.com/office/drawing/2014/main" id="{EEBFAC94-7344-ECBB-0BCC-DB0F70E7DCC4}"/>
              </a:ext>
            </a:extLst>
          </p:cNvPr>
          <p:cNvSpPr>
            <a:spLocks/>
          </p:cNvSpPr>
          <p:nvPr/>
        </p:nvSpPr>
        <p:spPr bwMode="auto">
          <a:xfrm>
            <a:off x="6257400" y="3391772"/>
            <a:ext cx="270210" cy="179270"/>
          </a:xfrm>
          <a:custGeom>
            <a:avLst/>
            <a:gdLst>
              <a:gd name="T0" fmla="*/ 0 w 189"/>
              <a:gd name="T1" fmla="*/ 42 h 109"/>
              <a:gd name="T2" fmla="*/ 72 w 189"/>
              <a:gd name="T3" fmla="*/ 42 h 109"/>
              <a:gd name="T4" fmla="*/ 94 w 189"/>
              <a:gd name="T5" fmla="*/ 0 h 109"/>
              <a:gd name="T6" fmla="*/ 117 w 189"/>
              <a:gd name="T7" fmla="*/ 42 h 109"/>
              <a:gd name="T8" fmla="*/ 189 w 189"/>
              <a:gd name="T9" fmla="*/ 42 h 109"/>
              <a:gd name="T10" fmla="*/ 130 w 189"/>
              <a:gd name="T11" fmla="*/ 67 h 109"/>
              <a:gd name="T12" fmla="*/ 153 w 189"/>
              <a:gd name="T13" fmla="*/ 109 h 109"/>
              <a:gd name="T14" fmla="*/ 94 w 189"/>
              <a:gd name="T15" fmla="*/ 83 h 109"/>
              <a:gd name="T16" fmla="*/ 36 w 189"/>
              <a:gd name="T17" fmla="*/ 109 h 109"/>
              <a:gd name="T18" fmla="*/ 58 w 189"/>
              <a:gd name="T19" fmla="*/ 67 h 109"/>
              <a:gd name="T20" fmla="*/ 0 w 189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9" h="109">
                <a:moveTo>
                  <a:pt x="0" y="42"/>
                </a:moveTo>
                <a:lnTo>
                  <a:pt x="72" y="42"/>
                </a:lnTo>
                <a:lnTo>
                  <a:pt x="94" y="0"/>
                </a:lnTo>
                <a:lnTo>
                  <a:pt x="117" y="42"/>
                </a:lnTo>
                <a:lnTo>
                  <a:pt x="189" y="42"/>
                </a:lnTo>
                <a:lnTo>
                  <a:pt x="130" y="67"/>
                </a:lnTo>
                <a:lnTo>
                  <a:pt x="153" y="109"/>
                </a:lnTo>
                <a:lnTo>
                  <a:pt x="94" y="83"/>
                </a:lnTo>
                <a:lnTo>
                  <a:pt x="36" y="109"/>
                </a:lnTo>
                <a:lnTo>
                  <a:pt x="58" y="67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43" name="Freeform 468">
            <a:extLst>
              <a:ext uri="{FF2B5EF4-FFF2-40B4-BE49-F238E27FC236}">
                <a16:creationId xmlns:a16="http://schemas.microsoft.com/office/drawing/2014/main" id="{03134E3B-0978-DC37-3F03-4AE7CB8891BC}"/>
              </a:ext>
            </a:extLst>
          </p:cNvPr>
          <p:cNvSpPr>
            <a:spLocks/>
          </p:cNvSpPr>
          <p:nvPr/>
        </p:nvSpPr>
        <p:spPr bwMode="auto">
          <a:xfrm>
            <a:off x="6541908" y="3391772"/>
            <a:ext cx="274499" cy="179270"/>
          </a:xfrm>
          <a:custGeom>
            <a:avLst/>
            <a:gdLst>
              <a:gd name="T0" fmla="*/ 0 w 192"/>
              <a:gd name="T1" fmla="*/ 42 h 109"/>
              <a:gd name="T2" fmla="*/ 74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7 h 109"/>
              <a:gd name="T12" fmla="*/ 156 w 192"/>
              <a:gd name="T13" fmla="*/ 109 h 109"/>
              <a:gd name="T14" fmla="*/ 96 w 192"/>
              <a:gd name="T15" fmla="*/ 83 h 109"/>
              <a:gd name="T16" fmla="*/ 37 w 192"/>
              <a:gd name="T17" fmla="*/ 109 h 109"/>
              <a:gd name="T18" fmla="*/ 60 w 192"/>
              <a:gd name="T19" fmla="*/ 67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4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7"/>
                </a:lnTo>
                <a:lnTo>
                  <a:pt x="156" y="109"/>
                </a:lnTo>
                <a:lnTo>
                  <a:pt x="96" y="83"/>
                </a:lnTo>
                <a:lnTo>
                  <a:pt x="37" y="109"/>
                </a:lnTo>
                <a:lnTo>
                  <a:pt x="60" y="67"/>
                </a:lnTo>
                <a:lnTo>
                  <a:pt x="0" y="4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44" name="Freeform 469">
            <a:extLst>
              <a:ext uri="{FF2B5EF4-FFF2-40B4-BE49-F238E27FC236}">
                <a16:creationId xmlns:a16="http://schemas.microsoft.com/office/drawing/2014/main" id="{1EBD2DBD-245A-D306-0C51-0DE9AB36AAB1}"/>
              </a:ext>
            </a:extLst>
          </p:cNvPr>
          <p:cNvSpPr>
            <a:spLocks/>
          </p:cNvSpPr>
          <p:nvPr/>
        </p:nvSpPr>
        <p:spPr bwMode="auto">
          <a:xfrm>
            <a:off x="6541908" y="3391772"/>
            <a:ext cx="274499" cy="179270"/>
          </a:xfrm>
          <a:custGeom>
            <a:avLst/>
            <a:gdLst>
              <a:gd name="T0" fmla="*/ 0 w 192"/>
              <a:gd name="T1" fmla="*/ 42 h 109"/>
              <a:gd name="T2" fmla="*/ 74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7 h 109"/>
              <a:gd name="T12" fmla="*/ 156 w 192"/>
              <a:gd name="T13" fmla="*/ 109 h 109"/>
              <a:gd name="T14" fmla="*/ 96 w 192"/>
              <a:gd name="T15" fmla="*/ 83 h 109"/>
              <a:gd name="T16" fmla="*/ 37 w 192"/>
              <a:gd name="T17" fmla="*/ 109 h 109"/>
              <a:gd name="T18" fmla="*/ 60 w 192"/>
              <a:gd name="T19" fmla="*/ 67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4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7"/>
                </a:lnTo>
                <a:lnTo>
                  <a:pt x="156" y="109"/>
                </a:lnTo>
                <a:lnTo>
                  <a:pt x="96" y="83"/>
                </a:lnTo>
                <a:lnTo>
                  <a:pt x="37" y="109"/>
                </a:lnTo>
                <a:lnTo>
                  <a:pt x="60" y="67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45" name="Freeform 470">
            <a:extLst>
              <a:ext uri="{FF2B5EF4-FFF2-40B4-BE49-F238E27FC236}">
                <a16:creationId xmlns:a16="http://schemas.microsoft.com/office/drawing/2014/main" id="{0FE97948-1770-C956-870B-A7D6A1A4CB1D}"/>
              </a:ext>
            </a:extLst>
          </p:cNvPr>
          <p:cNvSpPr>
            <a:spLocks/>
          </p:cNvSpPr>
          <p:nvPr/>
        </p:nvSpPr>
        <p:spPr bwMode="auto">
          <a:xfrm>
            <a:off x="6832133" y="3391772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7 h 109"/>
              <a:gd name="T12" fmla="*/ 155 w 192"/>
              <a:gd name="T13" fmla="*/ 109 h 109"/>
              <a:gd name="T14" fmla="*/ 96 w 192"/>
              <a:gd name="T15" fmla="*/ 83 h 109"/>
              <a:gd name="T16" fmla="*/ 37 w 192"/>
              <a:gd name="T17" fmla="*/ 109 h 109"/>
              <a:gd name="T18" fmla="*/ 59 w 192"/>
              <a:gd name="T19" fmla="*/ 67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7"/>
                </a:lnTo>
                <a:lnTo>
                  <a:pt x="155" y="109"/>
                </a:lnTo>
                <a:lnTo>
                  <a:pt x="96" y="83"/>
                </a:lnTo>
                <a:lnTo>
                  <a:pt x="37" y="109"/>
                </a:lnTo>
                <a:lnTo>
                  <a:pt x="59" y="67"/>
                </a:lnTo>
                <a:lnTo>
                  <a:pt x="0" y="4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46" name="Freeform 471">
            <a:extLst>
              <a:ext uri="{FF2B5EF4-FFF2-40B4-BE49-F238E27FC236}">
                <a16:creationId xmlns:a16="http://schemas.microsoft.com/office/drawing/2014/main" id="{ADE71FDF-F9A8-073E-DA9E-C0AD08E1FC12}"/>
              </a:ext>
            </a:extLst>
          </p:cNvPr>
          <p:cNvSpPr>
            <a:spLocks/>
          </p:cNvSpPr>
          <p:nvPr/>
        </p:nvSpPr>
        <p:spPr bwMode="auto">
          <a:xfrm>
            <a:off x="6832133" y="3391772"/>
            <a:ext cx="274499" cy="179270"/>
          </a:xfrm>
          <a:custGeom>
            <a:avLst/>
            <a:gdLst>
              <a:gd name="T0" fmla="*/ 0 w 192"/>
              <a:gd name="T1" fmla="*/ 42 h 109"/>
              <a:gd name="T2" fmla="*/ 73 w 192"/>
              <a:gd name="T3" fmla="*/ 42 h 109"/>
              <a:gd name="T4" fmla="*/ 96 w 192"/>
              <a:gd name="T5" fmla="*/ 0 h 109"/>
              <a:gd name="T6" fmla="*/ 119 w 192"/>
              <a:gd name="T7" fmla="*/ 42 h 109"/>
              <a:gd name="T8" fmla="*/ 192 w 192"/>
              <a:gd name="T9" fmla="*/ 42 h 109"/>
              <a:gd name="T10" fmla="*/ 133 w 192"/>
              <a:gd name="T11" fmla="*/ 67 h 109"/>
              <a:gd name="T12" fmla="*/ 155 w 192"/>
              <a:gd name="T13" fmla="*/ 109 h 109"/>
              <a:gd name="T14" fmla="*/ 96 w 192"/>
              <a:gd name="T15" fmla="*/ 83 h 109"/>
              <a:gd name="T16" fmla="*/ 37 w 192"/>
              <a:gd name="T17" fmla="*/ 109 h 109"/>
              <a:gd name="T18" fmla="*/ 59 w 192"/>
              <a:gd name="T19" fmla="*/ 67 h 109"/>
              <a:gd name="T20" fmla="*/ 0 w 192"/>
              <a:gd name="T21" fmla="*/ 42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2" h="109">
                <a:moveTo>
                  <a:pt x="0" y="42"/>
                </a:moveTo>
                <a:lnTo>
                  <a:pt x="73" y="42"/>
                </a:lnTo>
                <a:lnTo>
                  <a:pt x="96" y="0"/>
                </a:lnTo>
                <a:lnTo>
                  <a:pt x="119" y="42"/>
                </a:lnTo>
                <a:lnTo>
                  <a:pt x="192" y="42"/>
                </a:lnTo>
                <a:lnTo>
                  <a:pt x="133" y="67"/>
                </a:lnTo>
                <a:lnTo>
                  <a:pt x="155" y="109"/>
                </a:lnTo>
                <a:lnTo>
                  <a:pt x="96" y="83"/>
                </a:lnTo>
                <a:lnTo>
                  <a:pt x="37" y="109"/>
                </a:lnTo>
                <a:lnTo>
                  <a:pt x="59" y="67"/>
                </a:lnTo>
                <a:lnTo>
                  <a:pt x="0" y="4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47" name="Rectangle 515">
            <a:extLst>
              <a:ext uri="{FF2B5EF4-FFF2-40B4-BE49-F238E27FC236}">
                <a16:creationId xmlns:a16="http://schemas.microsoft.com/office/drawing/2014/main" id="{7AB09A04-CF44-AFDE-A54D-7464A4989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3997" y="3881885"/>
            <a:ext cx="1626980" cy="523006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48" name="Rectangle 516">
            <a:extLst>
              <a:ext uri="{FF2B5EF4-FFF2-40B4-BE49-F238E27FC236}">
                <a16:creationId xmlns:a16="http://schemas.microsoft.com/office/drawing/2014/main" id="{7BA48673-FF30-702F-FD2F-EB5811EB9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8294" y="4511796"/>
            <a:ext cx="1632699" cy="521363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49" name="Freeform 550">
            <a:extLst>
              <a:ext uri="{FF2B5EF4-FFF2-40B4-BE49-F238E27FC236}">
                <a16:creationId xmlns:a16="http://schemas.microsoft.com/office/drawing/2014/main" id="{DA49BABA-4617-BAF6-A72B-2DFFAE2EA261}"/>
              </a:ext>
            </a:extLst>
          </p:cNvPr>
          <p:cNvSpPr>
            <a:spLocks/>
          </p:cNvSpPr>
          <p:nvPr/>
        </p:nvSpPr>
        <p:spPr bwMode="auto">
          <a:xfrm>
            <a:off x="5682668" y="4008526"/>
            <a:ext cx="255914" cy="228610"/>
          </a:xfrm>
          <a:custGeom>
            <a:avLst/>
            <a:gdLst>
              <a:gd name="T0" fmla="*/ 0 w 179"/>
              <a:gd name="T1" fmla="*/ 53 h 139"/>
              <a:gd name="T2" fmla="*/ 69 w 179"/>
              <a:gd name="T3" fmla="*/ 53 h 139"/>
              <a:gd name="T4" fmla="*/ 89 w 179"/>
              <a:gd name="T5" fmla="*/ 0 h 139"/>
              <a:gd name="T6" fmla="*/ 111 w 179"/>
              <a:gd name="T7" fmla="*/ 53 h 139"/>
              <a:gd name="T8" fmla="*/ 179 w 179"/>
              <a:gd name="T9" fmla="*/ 53 h 139"/>
              <a:gd name="T10" fmla="*/ 124 w 179"/>
              <a:gd name="T11" fmla="*/ 86 h 139"/>
              <a:gd name="T12" fmla="*/ 145 w 179"/>
              <a:gd name="T13" fmla="*/ 139 h 139"/>
              <a:gd name="T14" fmla="*/ 89 w 179"/>
              <a:gd name="T15" fmla="*/ 106 h 139"/>
              <a:gd name="T16" fmla="*/ 34 w 179"/>
              <a:gd name="T17" fmla="*/ 139 h 139"/>
              <a:gd name="T18" fmla="*/ 56 w 179"/>
              <a:gd name="T19" fmla="*/ 86 h 139"/>
              <a:gd name="T20" fmla="*/ 0 w 179"/>
              <a:gd name="T21" fmla="*/ 53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9" h="139">
                <a:moveTo>
                  <a:pt x="0" y="53"/>
                </a:moveTo>
                <a:lnTo>
                  <a:pt x="69" y="53"/>
                </a:lnTo>
                <a:lnTo>
                  <a:pt x="89" y="0"/>
                </a:lnTo>
                <a:lnTo>
                  <a:pt x="111" y="53"/>
                </a:lnTo>
                <a:lnTo>
                  <a:pt x="179" y="53"/>
                </a:lnTo>
                <a:lnTo>
                  <a:pt x="124" y="86"/>
                </a:lnTo>
                <a:lnTo>
                  <a:pt x="145" y="139"/>
                </a:lnTo>
                <a:lnTo>
                  <a:pt x="89" y="106"/>
                </a:lnTo>
                <a:lnTo>
                  <a:pt x="34" y="139"/>
                </a:lnTo>
                <a:lnTo>
                  <a:pt x="56" y="86"/>
                </a:lnTo>
                <a:lnTo>
                  <a:pt x="0" y="53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50" name="Freeform 551">
            <a:extLst>
              <a:ext uri="{FF2B5EF4-FFF2-40B4-BE49-F238E27FC236}">
                <a16:creationId xmlns:a16="http://schemas.microsoft.com/office/drawing/2014/main" id="{B7114FD2-640E-BF62-5383-0FD205307B2B}"/>
              </a:ext>
            </a:extLst>
          </p:cNvPr>
          <p:cNvSpPr>
            <a:spLocks/>
          </p:cNvSpPr>
          <p:nvPr/>
        </p:nvSpPr>
        <p:spPr bwMode="auto">
          <a:xfrm>
            <a:off x="5682668" y="4008526"/>
            <a:ext cx="255914" cy="228610"/>
          </a:xfrm>
          <a:custGeom>
            <a:avLst/>
            <a:gdLst>
              <a:gd name="T0" fmla="*/ 0 w 179"/>
              <a:gd name="T1" fmla="*/ 53 h 139"/>
              <a:gd name="T2" fmla="*/ 69 w 179"/>
              <a:gd name="T3" fmla="*/ 53 h 139"/>
              <a:gd name="T4" fmla="*/ 89 w 179"/>
              <a:gd name="T5" fmla="*/ 0 h 139"/>
              <a:gd name="T6" fmla="*/ 111 w 179"/>
              <a:gd name="T7" fmla="*/ 53 h 139"/>
              <a:gd name="T8" fmla="*/ 179 w 179"/>
              <a:gd name="T9" fmla="*/ 53 h 139"/>
              <a:gd name="T10" fmla="*/ 124 w 179"/>
              <a:gd name="T11" fmla="*/ 86 h 139"/>
              <a:gd name="T12" fmla="*/ 145 w 179"/>
              <a:gd name="T13" fmla="*/ 139 h 139"/>
              <a:gd name="T14" fmla="*/ 89 w 179"/>
              <a:gd name="T15" fmla="*/ 106 h 139"/>
              <a:gd name="T16" fmla="*/ 34 w 179"/>
              <a:gd name="T17" fmla="*/ 139 h 139"/>
              <a:gd name="T18" fmla="*/ 56 w 179"/>
              <a:gd name="T19" fmla="*/ 86 h 139"/>
              <a:gd name="T20" fmla="*/ 0 w 179"/>
              <a:gd name="T21" fmla="*/ 53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9" h="139">
                <a:moveTo>
                  <a:pt x="0" y="53"/>
                </a:moveTo>
                <a:lnTo>
                  <a:pt x="69" y="53"/>
                </a:lnTo>
                <a:lnTo>
                  <a:pt x="89" y="0"/>
                </a:lnTo>
                <a:lnTo>
                  <a:pt x="111" y="53"/>
                </a:lnTo>
                <a:lnTo>
                  <a:pt x="179" y="53"/>
                </a:lnTo>
                <a:lnTo>
                  <a:pt x="124" y="86"/>
                </a:lnTo>
                <a:lnTo>
                  <a:pt x="145" y="139"/>
                </a:lnTo>
                <a:lnTo>
                  <a:pt x="89" y="106"/>
                </a:lnTo>
                <a:lnTo>
                  <a:pt x="34" y="139"/>
                </a:lnTo>
                <a:lnTo>
                  <a:pt x="56" y="86"/>
                </a:lnTo>
                <a:lnTo>
                  <a:pt x="0" y="53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51" name="Freeform 552">
            <a:extLst>
              <a:ext uri="{FF2B5EF4-FFF2-40B4-BE49-F238E27FC236}">
                <a16:creationId xmlns:a16="http://schemas.microsoft.com/office/drawing/2014/main" id="{179663E2-89E8-BCE9-B599-D0C6D59F5680}"/>
              </a:ext>
            </a:extLst>
          </p:cNvPr>
          <p:cNvSpPr>
            <a:spLocks/>
          </p:cNvSpPr>
          <p:nvPr/>
        </p:nvSpPr>
        <p:spPr bwMode="auto">
          <a:xfrm>
            <a:off x="5952879" y="4008526"/>
            <a:ext cx="254484" cy="228610"/>
          </a:xfrm>
          <a:custGeom>
            <a:avLst/>
            <a:gdLst>
              <a:gd name="T0" fmla="*/ 0 w 178"/>
              <a:gd name="T1" fmla="*/ 53 h 139"/>
              <a:gd name="T2" fmla="*/ 68 w 178"/>
              <a:gd name="T3" fmla="*/ 53 h 139"/>
              <a:gd name="T4" fmla="*/ 89 w 178"/>
              <a:gd name="T5" fmla="*/ 0 h 139"/>
              <a:gd name="T6" fmla="*/ 110 w 178"/>
              <a:gd name="T7" fmla="*/ 53 h 139"/>
              <a:gd name="T8" fmla="*/ 178 w 178"/>
              <a:gd name="T9" fmla="*/ 53 h 139"/>
              <a:gd name="T10" fmla="*/ 123 w 178"/>
              <a:gd name="T11" fmla="*/ 86 h 139"/>
              <a:gd name="T12" fmla="*/ 144 w 178"/>
              <a:gd name="T13" fmla="*/ 139 h 139"/>
              <a:gd name="T14" fmla="*/ 89 w 178"/>
              <a:gd name="T15" fmla="*/ 106 h 139"/>
              <a:gd name="T16" fmla="*/ 34 w 178"/>
              <a:gd name="T17" fmla="*/ 139 h 139"/>
              <a:gd name="T18" fmla="*/ 55 w 178"/>
              <a:gd name="T19" fmla="*/ 86 h 139"/>
              <a:gd name="T20" fmla="*/ 0 w 178"/>
              <a:gd name="T21" fmla="*/ 53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9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0" y="53"/>
                </a:lnTo>
                <a:lnTo>
                  <a:pt x="178" y="53"/>
                </a:lnTo>
                <a:lnTo>
                  <a:pt x="123" y="86"/>
                </a:lnTo>
                <a:lnTo>
                  <a:pt x="144" y="139"/>
                </a:lnTo>
                <a:lnTo>
                  <a:pt x="89" y="106"/>
                </a:lnTo>
                <a:lnTo>
                  <a:pt x="34" y="139"/>
                </a:lnTo>
                <a:lnTo>
                  <a:pt x="55" y="86"/>
                </a:lnTo>
                <a:lnTo>
                  <a:pt x="0" y="53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52" name="Freeform 553">
            <a:extLst>
              <a:ext uri="{FF2B5EF4-FFF2-40B4-BE49-F238E27FC236}">
                <a16:creationId xmlns:a16="http://schemas.microsoft.com/office/drawing/2014/main" id="{54F63685-DD93-79F7-4F85-A6123F3B3DB4}"/>
              </a:ext>
            </a:extLst>
          </p:cNvPr>
          <p:cNvSpPr>
            <a:spLocks/>
          </p:cNvSpPr>
          <p:nvPr/>
        </p:nvSpPr>
        <p:spPr bwMode="auto">
          <a:xfrm>
            <a:off x="5952879" y="4008526"/>
            <a:ext cx="254484" cy="228610"/>
          </a:xfrm>
          <a:custGeom>
            <a:avLst/>
            <a:gdLst>
              <a:gd name="T0" fmla="*/ 0 w 178"/>
              <a:gd name="T1" fmla="*/ 53 h 139"/>
              <a:gd name="T2" fmla="*/ 68 w 178"/>
              <a:gd name="T3" fmla="*/ 53 h 139"/>
              <a:gd name="T4" fmla="*/ 89 w 178"/>
              <a:gd name="T5" fmla="*/ 0 h 139"/>
              <a:gd name="T6" fmla="*/ 110 w 178"/>
              <a:gd name="T7" fmla="*/ 53 h 139"/>
              <a:gd name="T8" fmla="*/ 178 w 178"/>
              <a:gd name="T9" fmla="*/ 53 h 139"/>
              <a:gd name="T10" fmla="*/ 123 w 178"/>
              <a:gd name="T11" fmla="*/ 86 h 139"/>
              <a:gd name="T12" fmla="*/ 144 w 178"/>
              <a:gd name="T13" fmla="*/ 139 h 139"/>
              <a:gd name="T14" fmla="*/ 89 w 178"/>
              <a:gd name="T15" fmla="*/ 106 h 139"/>
              <a:gd name="T16" fmla="*/ 34 w 178"/>
              <a:gd name="T17" fmla="*/ 139 h 139"/>
              <a:gd name="T18" fmla="*/ 55 w 178"/>
              <a:gd name="T19" fmla="*/ 86 h 139"/>
              <a:gd name="T20" fmla="*/ 0 w 178"/>
              <a:gd name="T21" fmla="*/ 53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9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0" y="53"/>
                </a:lnTo>
                <a:lnTo>
                  <a:pt x="178" y="53"/>
                </a:lnTo>
                <a:lnTo>
                  <a:pt x="123" y="86"/>
                </a:lnTo>
                <a:lnTo>
                  <a:pt x="144" y="139"/>
                </a:lnTo>
                <a:lnTo>
                  <a:pt x="89" y="106"/>
                </a:lnTo>
                <a:lnTo>
                  <a:pt x="34" y="139"/>
                </a:lnTo>
                <a:lnTo>
                  <a:pt x="55" y="86"/>
                </a:lnTo>
                <a:lnTo>
                  <a:pt x="0" y="53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53" name="Freeform 554">
            <a:extLst>
              <a:ext uri="{FF2B5EF4-FFF2-40B4-BE49-F238E27FC236}">
                <a16:creationId xmlns:a16="http://schemas.microsoft.com/office/drawing/2014/main" id="{CD7F89EC-B8C4-C05A-F3E4-F00A0E0837EE}"/>
              </a:ext>
            </a:extLst>
          </p:cNvPr>
          <p:cNvSpPr>
            <a:spLocks/>
          </p:cNvSpPr>
          <p:nvPr/>
        </p:nvSpPr>
        <p:spPr bwMode="auto">
          <a:xfrm>
            <a:off x="6223089" y="4008526"/>
            <a:ext cx="248765" cy="228610"/>
          </a:xfrm>
          <a:custGeom>
            <a:avLst/>
            <a:gdLst>
              <a:gd name="T0" fmla="*/ 0 w 174"/>
              <a:gd name="T1" fmla="*/ 53 h 139"/>
              <a:gd name="T2" fmla="*/ 66 w 174"/>
              <a:gd name="T3" fmla="*/ 53 h 139"/>
              <a:gd name="T4" fmla="*/ 87 w 174"/>
              <a:gd name="T5" fmla="*/ 0 h 139"/>
              <a:gd name="T6" fmla="*/ 108 w 174"/>
              <a:gd name="T7" fmla="*/ 53 h 139"/>
              <a:gd name="T8" fmla="*/ 174 w 174"/>
              <a:gd name="T9" fmla="*/ 53 h 139"/>
              <a:gd name="T10" fmla="*/ 120 w 174"/>
              <a:gd name="T11" fmla="*/ 86 h 139"/>
              <a:gd name="T12" fmla="*/ 141 w 174"/>
              <a:gd name="T13" fmla="*/ 139 h 139"/>
              <a:gd name="T14" fmla="*/ 87 w 174"/>
              <a:gd name="T15" fmla="*/ 106 h 139"/>
              <a:gd name="T16" fmla="*/ 33 w 174"/>
              <a:gd name="T17" fmla="*/ 139 h 139"/>
              <a:gd name="T18" fmla="*/ 54 w 174"/>
              <a:gd name="T19" fmla="*/ 86 h 139"/>
              <a:gd name="T20" fmla="*/ 0 w 174"/>
              <a:gd name="T21" fmla="*/ 53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4" h="139">
                <a:moveTo>
                  <a:pt x="0" y="53"/>
                </a:moveTo>
                <a:lnTo>
                  <a:pt x="66" y="53"/>
                </a:lnTo>
                <a:lnTo>
                  <a:pt x="87" y="0"/>
                </a:lnTo>
                <a:lnTo>
                  <a:pt x="108" y="53"/>
                </a:lnTo>
                <a:lnTo>
                  <a:pt x="174" y="53"/>
                </a:lnTo>
                <a:lnTo>
                  <a:pt x="120" y="86"/>
                </a:lnTo>
                <a:lnTo>
                  <a:pt x="141" y="139"/>
                </a:lnTo>
                <a:lnTo>
                  <a:pt x="87" y="106"/>
                </a:lnTo>
                <a:lnTo>
                  <a:pt x="33" y="139"/>
                </a:lnTo>
                <a:lnTo>
                  <a:pt x="54" y="86"/>
                </a:lnTo>
                <a:lnTo>
                  <a:pt x="0" y="53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54" name="Freeform 555">
            <a:extLst>
              <a:ext uri="{FF2B5EF4-FFF2-40B4-BE49-F238E27FC236}">
                <a16:creationId xmlns:a16="http://schemas.microsoft.com/office/drawing/2014/main" id="{3FC29218-4D2A-D1D3-033C-B94665319511}"/>
              </a:ext>
            </a:extLst>
          </p:cNvPr>
          <p:cNvSpPr>
            <a:spLocks/>
          </p:cNvSpPr>
          <p:nvPr/>
        </p:nvSpPr>
        <p:spPr bwMode="auto">
          <a:xfrm>
            <a:off x="6223089" y="4008526"/>
            <a:ext cx="248765" cy="228610"/>
          </a:xfrm>
          <a:custGeom>
            <a:avLst/>
            <a:gdLst>
              <a:gd name="T0" fmla="*/ 0 w 174"/>
              <a:gd name="T1" fmla="*/ 53 h 139"/>
              <a:gd name="T2" fmla="*/ 66 w 174"/>
              <a:gd name="T3" fmla="*/ 53 h 139"/>
              <a:gd name="T4" fmla="*/ 87 w 174"/>
              <a:gd name="T5" fmla="*/ 0 h 139"/>
              <a:gd name="T6" fmla="*/ 108 w 174"/>
              <a:gd name="T7" fmla="*/ 53 h 139"/>
              <a:gd name="T8" fmla="*/ 174 w 174"/>
              <a:gd name="T9" fmla="*/ 53 h 139"/>
              <a:gd name="T10" fmla="*/ 120 w 174"/>
              <a:gd name="T11" fmla="*/ 86 h 139"/>
              <a:gd name="T12" fmla="*/ 141 w 174"/>
              <a:gd name="T13" fmla="*/ 139 h 139"/>
              <a:gd name="T14" fmla="*/ 87 w 174"/>
              <a:gd name="T15" fmla="*/ 106 h 139"/>
              <a:gd name="T16" fmla="*/ 33 w 174"/>
              <a:gd name="T17" fmla="*/ 139 h 139"/>
              <a:gd name="T18" fmla="*/ 54 w 174"/>
              <a:gd name="T19" fmla="*/ 86 h 139"/>
              <a:gd name="T20" fmla="*/ 0 w 174"/>
              <a:gd name="T21" fmla="*/ 53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4" h="139">
                <a:moveTo>
                  <a:pt x="0" y="53"/>
                </a:moveTo>
                <a:lnTo>
                  <a:pt x="66" y="53"/>
                </a:lnTo>
                <a:lnTo>
                  <a:pt x="87" y="0"/>
                </a:lnTo>
                <a:lnTo>
                  <a:pt x="108" y="53"/>
                </a:lnTo>
                <a:lnTo>
                  <a:pt x="174" y="53"/>
                </a:lnTo>
                <a:lnTo>
                  <a:pt x="120" y="86"/>
                </a:lnTo>
                <a:lnTo>
                  <a:pt x="141" y="139"/>
                </a:lnTo>
                <a:lnTo>
                  <a:pt x="87" y="106"/>
                </a:lnTo>
                <a:lnTo>
                  <a:pt x="33" y="139"/>
                </a:lnTo>
                <a:lnTo>
                  <a:pt x="54" y="86"/>
                </a:lnTo>
                <a:lnTo>
                  <a:pt x="0" y="53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55" name="Freeform 556">
            <a:extLst>
              <a:ext uri="{FF2B5EF4-FFF2-40B4-BE49-F238E27FC236}">
                <a16:creationId xmlns:a16="http://schemas.microsoft.com/office/drawing/2014/main" id="{AC45D48D-4997-2523-6EAE-CDA950E0DBB0}"/>
              </a:ext>
            </a:extLst>
          </p:cNvPr>
          <p:cNvSpPr>
            <a:spLocks/>
          </p:cNvSpPr>
          <p:nvPr/>
        </p:nvSpPr>
        <p:spPr bwMode="auto">
          <a:xfrm>
            <a:off x="6487580" y="4008526"/>
            <a:ext cx="254484" cy="228610"/>
          </a:xfrm>
          <a:custGeom>
            <a:avLst/>
            <a:gdLst>
              <a:gd name="T0" fmla="*/ 0 w 178"/>
              <a:gd name="T1" fmla="*/ 53 h 139"/>
              <a:gd name="T2" fmla="*/ 68 w 178"/>
              <a:gd name="T3" fmla="*/ 53 h 139"/>
              <a:gd name="T4" fmla="*/ 89 w 178"/>
              <a:gd name="T5" fmla="*/ 0 h 139"/>
              <a:gd name="T6" fmla="*/ 110 w 178"/>
              <a:gd name="T7" fmla="*/ 53 h 139"/>
              <a:gd name="T8" fmla="*/ 178 w 178"/>
              <a:gd name="T9" fmla="*/ 53 h 139"/>
              <a:gd name="T10" fmla="*/ 123 w 178"/>
              <a:gd name="T11" fmla="*/ 86 h 139"/>
              <a:gd name="T12" fmla="*/ 144 w 178"/>
              <a:gd name="T13" fmla="*/ 139 h 139"/>
              <a:gd name="T14" fmla="*/ 89 w 178"/>
              <a:gd name="T15" fmla="*/ 106 h 139"/>
              <a:gd name="T16" fmla="*/ 34 w 178"/>
              <a:gd name="T17" fmla="*/ 139 h 139"/>
              <a:gd name="T18" fmla="*/ 55 w 178"/>
              <a:gd name="T19" fmla="*/ 86 h 139"/>
              <a:gd name="T20" fmla="*/ 0 w 178"/>
              <a:gd name="T21" fmla="*/ 53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9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0" y="53"/>
                </a:lnTo>
                <a:lnTo>
                  <a:pt x="178" y="53"/>
                </a:lnTo>
                <a:lnTo>
                  <a:pt x="123" y="86"/>
                </a:lnTo>
                <a:lnTo>
                  <a:pt x="144" y="139"/>
                </a:lnTo>
                <a:lnTo>
                  <a:pt x="89" y="106"/>
                </a:lnTo>
                <a:lnTo>
                  <a:pt x="34" y="139"/>
                </a:lnTo>
                <a:lnTo>
                  <a:pt x="55" y="86"/>
                </a:lnTo>
                <a:lnTo>
                  <a:pt x="0" y="53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56" name="Freeform 557">
            <a:extLst>
              <a:ext uri="{FF2B5EF4-FFF2-40B4-BE49-F238E27FC236}">
                <a16:creationId xmlns:a16="http://schemas.microsoft.com/office/drawing/2014/main" id="{F1C440B4-E152-835E-41EF-909D41898ADD}"/>
              </a:ext>
            </a:extLst>
          </p:cNvPr>
          <p:cNvSpPr>
            <a:spLocks/>
          </p:cNvSpPr>
          <p:nvPr/>
        </p:nvSpPr>
        <p:spPr bwMode="auto">
          <a:xfrm>
            <a:off x="6487580" y="4008526"/>
            <a:ext cx="254484" cy="228610"/>
          </a:xfrm>
          <a:custGeom>
            <a:avLst/>
            <a:gdLst>
              <a:gd name="T0" fmla="*/ 0 w 178"/>
              <a:gd name="T1" fmla="*/ 53 h 139"/>
              <a:gd name="T2" fmla="*/ 68 w 178"/>
              <a:gd name="T3" fmla="*/ 53 h 139"/>
              <a:gd name="T4" fmla="*/ 89 w 178"/>
              <a:gd name="T5" fmla="*/ 0 h 139"/>
              <a:gd name="T6" fmla="*/ 110 w 178"/>
              <a:gd name="T7" fmla="*/ 53 h 139"/>
              <a:gd name="T8" fmla="*/ 178 w 178"/>
              <a:gd name="T9" fmla="*/ 53 h 139"/>
              <a:gd name="T10" fmla="*/ 123 w 178"/>
              <a:gd name="T11" fmla="*/ 86 h 139"/>
              <a:gd name="T12" fmla="*/ 144 w 178"/>
              <a:gd name="T13" fmla="*/ 139 h 139"/>
              <a:gd name="T14" fmla="*/ 89 w 178"/>
              <a:gd name="T15" fmla="*/ 106 h 139"/>
              <a:gd name="T16" fmla="*/ 34 w 178"/>
              <a:gd name="T17" fmla="*/ 139 h 139"/>
              <a:gd name="T18" fmla="*/ 55 w 178"/>
              <a:gd name="T19" fmla="*/ 86 h 139"/>
              <a:gd name="T20" fmla="*/ 0 w 178"/>
              <a:gd name="T21" fmla="*/ 53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9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0" y="53"/>
                </a:lnTo>
                <a:lnTo>
                  <a:pt x="178" y="53"/>
                </a:lnTo>
                <a:lnTo>
                  <a:pt x="123" y="86"/>
                </a:lnTo>
                <a:lnTo>
                  <a:pt x="144" y="139"/>
                </a:lnTo>
                <a:lnTo>
                  <a:pt x="89" y="106"/>
                </a:lnTo>
                <a:lnTo>
                  <a:pt x="34" y="139"/>
                </a:lnTo>
                <a:lnTo>
                  <a:pt x="55" y="86"/>
                </a:lnTo>
                <a:lnTo>
                  <a:pt x="0" y="53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57" name="Freeform 558">
            <a:extLst>
              <a:ext uri="{FF2B5EF4-FFF2-40B4-BE49-F238E27FC236}">
                <a16:creationId xmlns:a16="http://schemas.microsoft.com/office/drawing/2014/main" id="{2161D0CF-DA83-E45D-B4E6-8D0306677A17}"/>
              </a:ext>
            </a:extLst>
          </p:cNvPr>
          <p:cNvSpPr>
            <a:spLocks/>
          </p:cNvSpPr>
          <p:nvPr/>
        </p:nvSpPr>
        <p:spPr bwMode="auto">
          <a:xfrm>
            <a:off x="6756360" y="4008526"/>
            <a:ext cx="255914" cy="228610"/>
          </a:xfrm>
          <a:custGeom>
            <a:avLst/>
            <a:gdLst>
              <a:gd name="T0" fmla="*/ 0 w 179"/>
              <a:gd name="T1" fmla="*/ 53 h 139"/>
              <a:gd name="T2" fmla="*/ 69 w 179"/>
              <a:gd name="T3" fmla="*/ 53 h 139"/>
              <a:gd name="T4" fmla="*/ 90 w 179"/>
              <a:gd name="T5" fmla="*/ 0 h 139"/>
              <a:gd name="T6" fmla="*/ 111 w 179"/>
              <a:gd name="T7" fmla="*/ 53 h 139"/>
              <a:gd name="T8" fmla="*/ 179 w 179"/>
              <a:gd name="T9" fmla="*/ 53 h 139"/>
              <a:gd name="T10" fmla="*/ 124 w 179"/>
              <a:gd name="T11" fmla="*/ 86 h 139"/>
              <a:gd name="T12" fmla="*/ 145 w 179"/>
              <a:gd name="T13" fmla="*/ 139 h 139"/>
              <a:gd name="T14" fmla="*/ 90 w 179"/>
              <a:gd name="T15" fmla="*/ 106 h 139"/>
              <a:gd name="T16" fmla="*/ 35 w 179"/>
              <a:gd name="T17" fmla="*/ 139 h 139"/>
              <a:gd name="T18" fmla="*/ 56 w 179"/>
              <a:gd name="T19" fmla="*/ 86 h 139"/>
              <a:gd name="T20" fmla="*/ 0 w 179"/>
              <a:gd name="T21" fmla="*/ 53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9" h="139">
                <a:moveTo>
                  <a:pt x="0" y="53"/>
                </a:moveTo>
                <a:lnTo>
                  <a:pt x="69" y="53"/>
                </a:lnTo>
                <a:lnTo>
                  <a:pt x="90" y="0"/>
                </a:lnTo>
                <a:lnTo>
                  <a:pt x="111" y="53"/>
                </a:lnTo>
                <a:lnTo>
                  <a:pt x="179" y="53"/>
                </a:lnTo>
                <a:lnTo>
                  <a:pt x="124" y="86"/>
                </a:lnTo>
                <a:lnTo>
                  <a:pt x="145" y="139"/>
                </a:lnTo>
                <a:lnTo>
                  <a:pt x="90" y="106"/>
                </a:lnTo>
                <a:lnTo>
                  <a:pt x="35" y="139"/>
                </a:lnTo>
                <a:lnTo>
                  <a:pt x="56" y="86"/>
                </a:lnTo>
                <a:lnTo>
                  <a:pt x="0" y="53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58" name="Freeform 559">
            <a:extLst>
              <a:ext uri="{FF2B5EF4-FFF2-40B4-BE49-F238E27FC236}">
                <a16:creationId xmlns:a16="http://schemas.microsoft.com/office/drawing/2014/main" id="{AE9224AD-8ABC-19FD-DA64-E21DC88CB59B}"/>
              </a:ext>
            </a:extLst>
          </p:cNvPr>
          <p:cNvSpPr>
            <a:spLocks/>
          </p:cNvSpPr>
          <p:nvPr/>
        </p:nvSpPr>
        <p:spPr bwMode="auto">
          <a:xfrm>
            <a:off x="6756360" y="4008526"/>
            <a:ext cx="255914" cy="228610"/>
          </a:xfrm>
          <a:custGeom>
            <a:avLst/>
            <a:gdLst>
              <a:gd name="T0" fmla="*/ 0 w 179"/>
              <a:gd name="T1" fmla="*/ 53 h 139"/>
              <a:gd name="T2" fmla="*/ 69 w 179"/>
              <a:gd name="T3" fmla="*/ 53 h 139"/>
              <a:gd name="T4" fmla="*/ 90 w 179"/>
              <a:gd name="T5" fmla="*/ 0 h 139"/>
              <a:gd name="T6" fmla="*/ 111 w 179"/>
              <a:gd name="T7" fmla="*/ 53 h 139"/>
              <a:gd name="T8" fmla="*/ 179 w 179"/>
              <a:gd name="T9" fmla="*/ 53 h 139"/>
              <a:gd name="T10" fmla="*/ 124 w 179"/>
              <a:gd name="T11" fmla="*/ 86 h 139"/>
              <a:gd name="T12" fmla="*/ 145 w 179"/>
              <a:gd name="T13" fmla="*/ 139 h 139"/>
              <a:gd name="T14" fmla="*/ 90 w 179"/>
              <a:gd name="T15" fmla="*/ 106 h 139"/>
              <a:gd name="T16" fmla="*/ 35 w 179"/>
              <a:gd name="T17" fmla="*/ 139 h 139"/>
              <a:gd name="T18" fmla="*/ 56 w 179"/>
              <a:gd name="T19" fmla="*/ 86 h 139"/>
              <a:gd name="T20" fmla="*/ 0 w 179"/>
              <a:gd name="T21" fmla="*/ 53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9" h="139">
                <a:moveTo>
                  <a:pt x="0" y="53"/>
                </a:moveTo>
                <a:lnTo>
                  <a:pt x="69" y="53"/>
                </a:lnTo>
                <a:lnTo>
                  <a:pt x="90" y="0"/>
                </a:lnTo>
                <a:lnTo>
                  <a:pt x="111" y="53"/>
                </a:lnTo>
                <a:lnTo>
                  <a:pt x="179" y="53"/>
                </a:lnTo>
                <a:lnTo>
                  <a:pt x="124" y="86"/>
                </a:lnTo>
                <a:lnTo>
                  <a:pt x="145" y="139"/>
                </a:lnTo>
                <a:lnTo>
                  <a:pt x="90" y="106"/>
                </a:lnTo>
                <a:lnTo>
                  <a:pt x="35" y="139"/>
                </a:lnTo>
                <a:lnTo>
                  <a:pt x="56" y="86"/>
                </a:lnTo>
                <a:lnTo>
                  <a:pt x="0" y="53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59" name="Freeform 560">
            <a:extLst>
              <a:ext uri="{FF2B5EF4-FFF2-40B4-BE49-F238E27FC236}">
                <a16:creationId xmlns:a16="http://schemas.microsoft.com/office/drawing/2014/main" id="{027D05CD-6CD3-1ADB-5AAE-F6C5E60B36A6}"/>
              </a:ext>
            </a:extLst>
          </p:cNvPr>
          <p:cNvSpPr>
            <a:spLocks/>
          </p:cNvSpPr>
          <p:nvPr/>
        </p:nvSpPr>
        <p:spPr bwMode="auto">
          <a:xfrm>
            <a:off x="5682668" y="4625279"/>
            <a:ext cx="255914" cy="222031"/>
          </a:xfrm>
          <a:custGeom>
            <a:avLst/>
            <a:gdLst>
              <a:gd name="T0" fmla="*/ 0 w 179"/>
              <a:gd name="T1" fmla="*/ 52 h 135"/>
              <a:gd name="T2" fmla="*/ 69 w 179"/>
              <a:gd name="T3" fmla="*/ 52 h 135"/>
              <a:gd name="T4" fmla="*/ 89 w 179"/>
              <a:gd name="T5" fmla="*/ 0 h 135"/>
              <a:gd name="T6" fmla="*/ 111 w 179"/>
              <a:gd name="T7" fmla="*/ 52 h 135"/>
              <a:gd name="T8" fmla="*/ 179 w 179"/>
              <a:gd name="T9" fmla="*/ 52 h 135"/>
              <a:gd name="T10" fmla="*/ 124 w 179"/>
              <a:gd name="T11" fmla="*/ 84 h 135"/>
              <a:gd name="T12" fmla="*/ 145 w 179"/>
              <a:gd name="T13" fmla="*/ 135 h 135"/>
              <a:gd name="T14" fmla="*/ 89 w 179"/>
              <a:gd name="T15" fmla="*/ 104 h 135"/>
              <a:gd name="T16" fmla="*/ 34 w 179"/>
              <a:gd name="T17" fmla="*/ 135 h 135"/>
              <a:gd name="T18" fmla="*/ 56 w 179"/>
              <a:gd name="T19" fmla="*/ 84 h 135"/>
              <a:gd name="T20" fmla="*/ 0 w 179"/>
              <a:gd name="T21" fmla="*/ 52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9" h="135">
                <a:moveTo>
                  <a:pt x="0" y="52"/>
                </a:moveTo>
                <a:lnTo>
                  <a:pt x="69" y="52"/>
                </a:lnTo>
                <a:lnTo>
                  <a:pt x="89" y="0"/>
                </a:lnTo>
                <a:lnTo>
                  <a:pt x="111" y="52"/>
                </a:lnTo>
                <a:lnTo>
                  <a:pt x="179" y="52"/>
                </a:lnTo>
                <a:lnTo>
                  <a:pt x="124" y="84"/>
                </a:lnTo>
                <a:lnTo>
                  <a:pt x="145" y="135"/>
                </a:lnTo>
                <a:lnTo>
                  <a:pt x="89" y="104"/>
                </a:lnTo>
                <a:lnTo>
                  <a:pt x="34" y="135"/>
                </a:lnTo>
                <a:lnTo>
                  <a:pt x="56" y="84"/>
                </a:lnTo>
                <a:lnTo>
                  <a:pt x="0" y="5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60" name="Freeform 561">
            <a:extLst>
              <a:ext uri="{FF2B5EF4-FFF2-40B4-BE49-F238E27FC236}">
                <a16:creationId xmlns:a16="http://schemas.microsoft.com/office/drawing/2014/main" id="{F17EEDA3-5392-6647-2ABB-F50C151FB1F6}"/>
              </a:ext>
            </a:extLst>
          </p:cNvPr>
          <p:cNvSpPr>
            <a:spLocks/>
          </p:cNvSpPr>
          <p:nvPr/>
        </p:nvSpPr>
        <p:spPr bwMode="auto">
          <a:xfrm>
            <a:off x="5682668" y="4625279"/>
            <a:ext cx="255914" cy="222031"/>
          </a:xfrm>
          <a:custGeom>
            <a:avLst/>
            <a:gdLst>
              <a:gd name="T0" fmla="*/ 0 w 179"/>
              <a:gd name="T1" fmla="*/ 52 h 135"/>
              <a:gd name="T2" fmla="*/ 69 w 179"/>
              <a:gd name="T3" fmla="*/ 52 h 135"/>
              <a:gd name="T4" fmla="*/ 89 w 179"/>
              <a:gd name="T5" fmla="*/ 0 h 135"/>
              <a:gd name="T6" fmla="*/ 111 w 179"/>
              <a:gd name="T7" fmla="*/ 52 h 135"/>
              <a:gd name="T8" fmla="*/ 179 w 179"/>
              <a:gd name="T9" fmla="*/ 52 h 135"/>
              <a:gd name="T10" fmla="*/ 124 w 179"/>
              <a:gd name="T11" fmla="*/ 84 h 135"/>
              <a:gd name="T12" fmla="*/ 145 w 179"/>
              <a:gd name="T13" fmla="*/ 135 h 135"/>
              <a:gd name="T14" fmla="*/ 89 w 179"/>
              <a:gd name="T15" fmla="*/ 104 h 135"/>
              <a:gd name="T16" fmla="*/ 34 w 179"/>
              <a:gd name="T17" fmla="*/ 135 h 135"/>
              <a:gd name="T18" fmla="*/ 56 w 179"/>
              <a:gd name="T19" fmla="*/ 84 h 135"/>
              <a:gd name="T20" fmla="*/ 0 w 179"/>
              <a:gd name="T21" fmla="*/ 52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9" h="135">
                <a:moveTo>
                  <a:pt x="0" y="52"/>
                </a:moveTo>
                <a:lnTo>
                  <a:pt x="69" y="52"/>
                </a:lnTo>
                <a:lnTo>
                  <a:pt x="89" y="0"/>
                </a:lnTo>
                <a:lnTo>
                  <a:pt x="111" y="52"/>
                </a:lnTo>
                <a:lnTo>
                  <a:pt x="179" y="52"/>
                </a:lnTo>
                <a:lnTo>
                  <a:pt x="124" y="84"/>
                </a:lnTo>
                <a:lnTo>
                  <a:pt x="145" y="135"/>
                </a:lnTo>
                <a:lnTo>
                  <a:pt x="89" y="104"/>
                </a:lnTo>
                <a:lnTo>
                  <a:pt x="34" y="135"/>
                </a:lnTo>
                <a:lnTo>
                  <a:pt x="56" y="84"/>
                </a:lnTo>
                <a:lnTo>
                  <a:pt x="0" y="5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61" name="Freeform 562">
            <a:extLst>
              <a:ext uri="{FF2B5EF4-FFF2-40B4-BE49-F238E27FC236}">
                <a16:creationId xmlns:a16="http://schemas.microsoft.com/office/drawing/2014/main" id="{CE821D42-EA3F-F001-86FD-CE6B431F25E4}"/>
              </a:ext>
            </a:extLst>
          </p:cNvPr>
          <p:cNvSpPr>
            <a:spLocks/>
          </p:cNvSpPr>
          <p:nvPr/>
        </p:nvSpPr>
        <p:spPr bwMode="auto">
          <a:xfrm>
            <a:off x="5952879" y="4625279"/>
            <a:ext cx="254484" cy="222031"/>
          </a:xfrm>
          <a:custGeom>
            <a:avLst/>
            <a:gdLst>
              <a:gd name="T0" fmla="*/ 0 w 178"/>
              <a:gd name="T1" fmla="*/ 52 h 135"/>
              <a:gd name="T2" fmla="*/ 68 w 178"/>
              <a:gd name="T3" fmla="*/ 52 h 135"/>
              <a:gd name="T4" fmla="*/ 89 w 178"/>
              <a:gd name="T5" fmla="*/ 0 h 135"/>
              <a:gd name="T6" fmla="*/ 110 w 178"/>
              <a:gd name="T7" fmla="*/ 52 h 135"/>
              <a:gd name="T8" fmla="*/ 178 w 178"/>
              <a:gd name="T9" fmla="*/ 52 h 135"/>
              <a:gd name="T10" fmla="*/ 123 w 178"/>
              <a:gd name="T11" fmla="*/ 84 h 135"/>
              <a:gd name="T12" fmla="*/ 144 w 178"/>
              <a:gd name="T13" fmla="*/ 135 h 135"/>
              <a:gd name="T14" fmla="*/ 89 w 178"/>
              <a:gd name="T15" fmla="*/ 104 h 135"/>
              <a:gd name="T16" fmla="*/ 34 w 178"/>
              <a:gd name="T17" fmla="*/ 135 h 135"/>
              <a:gd name="T18" fmla="*/ 55 w 178"/>
              <a:gd name="T19" fmla="*/ 84 h 135"/>
              <a:gd name="T20" fmla="*/ 0 w 178"/>
              <a:gd name="T21" fmla="*/ 52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5">
                <a:moveTo>
                  <a:pt x="0" y="52"/>
                </a:moveTo>
                <a:lnTo>
                  <a:pt x="68" y="52"/>
                </a:lnTo>
                <a:lnTo>
                  <a:pt x="89" y="0"/>
                </a:lnTo>
                <a:lnTo>
                  <a:pt x="110" y="52"/>
                </a:lnTo>
                <a:lnTo>
                  <a:pt x="178" y="52"/>
                </a:lnTo>
                <a:lnTo>
                  <a:pt x="123" y="84"/>
                </a:lnTo>
                <a:lnTo>
                  <a:pt x="144" y="135"/>
                </a:lnTo>
                <a:lnTo>
                  <a:pt x="89" y="104"/>
                </a:lnTo>
                <a:lnTo>
                  <a:pt x="34" y="135"/>
                </a:lnTo>
                <a:lnTo>
                  <a:pt x="55" y="84"/>
                </a:lnTo>
                <a:lnTo>
                  <a:pt x="0" y="5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62" name="Freeform 563">
            <a:extLst>
              <a:ext uri="{FF2B5EF4-FFF2-40B4-BE49-F238E27FC236}">
                <a16:creationId xmlns:a16="http://schemas.microsoft.com/office/drawing/2014/main" id="{9C29EE1A-C457-CD25-E050-1EAC4B5F59F8}"/>
              </a:ext>
            </a:extLst>
          </p:cNvPr>
          <p:cNvSpPr>
            <a:spLocks/>
          </p:cNvSpPr>
          <p:nvPr/>
        </p:nvSpPr>
        <p:spPr bwMode="auto">
          <a:xfrm>
            <a:off x="5952879" y="4625279"/>
            <a:ext cx="254484" cy="222031"/>
          </a:xfrm>
          <a:custGeom>
            <a:avLst/>
            <a:gdLst>
              <a:gd name="T0" fmla="*/ 0 w 178"/>
              <a:gd name="T1" fmla="*/ 52 h 135"/>
              <a:gd name="T2" fmla="*/ 68 w 178"/>
              <a:gd name="T3" fmla="*/ 52 h 135"/>
              <a:gd name="T4" fmla="*/ 89 w 178"/>
              <a:gd name="T5" fmla="*/ 0 h 135"/>
              <a:gd name="T6" fmla="*/ 110 w 178"/>
              <a:gd name="T7" fmla="*/ 52 h 135"/>
              <a:gd name="T8" fmla="*/ 178 w 178"/>
              <a:gd name="T9" fmla="*/ 52 h 135"/>
              <a:gd name="T10" fmla="*/ 123 w 178"/>
              <a:gd name="T11" fmla="*/ 84 h 135"/>
              <a:gd name="T12" fmla="*/ 144 w 178"/>
              <a:gd name="T13" fmla="*/ 135 h 135"/>
              <a:gd name="T14" fmla="*/ 89 w 178"/>
              <a:gd name="T15" fmla="*/ 104 h 135"/>
              <a:gd name="T16" fmla="*/ 34 w 178"/>
              <a:gd name="T17" fmla="*/ 135 h 135"/>
              <a:gd name="T18" fmla="*/ 55 w 178"/>
              <a:gd name="T19" fmla="*/ 84 h 135"/>
              <a:gd name="T20" fmla="*/ 0 w 178"/>
              <a:gd name="T21" fmla="*/ 52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5">
                <a:moveTo>
                  <a:pt x="0" y="52"/>
                </a:moveTo>
                <a:lnTo>
                  <a:pt x="68" y="52"/>
                </a:lnTo>
                <a:lnTo>
                  <a:pt x="89" y="0"/>
                </a:lnTo>
                <a:lnTo>
                  <a:pt x="110" y="52"/>
                </a:lnTo>
                <a:lnTo>
                  <a:pt x="178" y="52"/>
                </a:lnTo>
                <a:lnTo>
                  <a:pt x="123" y="84"/>
                </a:lnTo>
                <a:lnTo>
                  <a:pt x="144" y="135"/>
                </a:lnTo>
                <a:lnTo>
                  <a:pt x="89" y="104"/>
                </a:lnTo>
                <a:lnTo>
                  <a:pt x="34" y="135"/>
                </a:lnTo>
                <a:lnTo>
                  <a:pt x="55" y="84"/>
                </a:lnTo>
                <a:lnTo>
                  <a:pt x="0" y="5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63" name="Freeform 564">
            <a:extLst>
              <a:ext uri="{FF2B5EF4-FFF2-40B4-BE49-F238E27FC236}">
                <a16:creationId xmlns:a16="http://schemas.microsoft.com/office/drawing/2014/main" id="{4A5E4390-BC2F-4F7A-D857-6E5844C122E2}"/>
              </a:ext>
            </a:extLst>
          </p:cNvPr>
          <p:cNvSpPr>
            <a:spLocks/>
          </p:cNvSpPr>
          <p:nvPr/>
        </p:nvSpPr>
        <p:spPr bwMode="auto">
          <a:xfrm>
            <a:off x="6223089" y="4625279"/>
            <a:ext cx="248765" cy="222031"/>
          </a:xfrm>
          <a:custGeom>
            <a:avLst/>
            <a:gdLst>
              <a:gd name="T0" fmla="*/ 0 w 174"/>
              <a:gd name="T1" fmla="*/ 52 h 135"/>
              <a:gd name="T2" fmla="*/ 66 w 174"/>
              <a:gd name="T3" fmla="*/ 52 h 135"/>
              <a:gd name="T4" fmla="*/ 87 w 174"/>
              <a:gd name="T5" fmla="*/ 0 h 135"/>
              <a:gd name="T6" fmla="*/ 108 w 174"/>
              <a:gd name="T7" fmla="*/ 52 h 135"/>
              <a:gd name="T8" fmla="*/ 174 w 174"/>
              <a:gd name="T9" fmla="*/ 52 h 135"/>
              <a:gd name="T10" fmla="*/ 120 w 174"/>
              <a:gd name="T11" fmla="*/ 84 h 135"/>
              <a:gd name="T12" fmla="*/ 141 w 174"/>
              <a:gd name="T13" fmla="*/ 135 h 135"/>
              <a:gd name="T14" fmla="*/ 87 w 174"/>
              <a:gd name="T15" fmla="*/ 104 h 135"/>
              <a:gd name="T16" fmla="*/ 33 w 174"/>
              <a:gd name="T17" fmla="*/ 135 h 135"/>
              <a:gd name="T18" fmla="*/ 54 w 174"/>
              <a:gd name="T19" fmla="*/ 84 h 135"/>
              <a:gd name="T20" fmla="*/ 0 w 174"/>
              <a:gd name="T21" fmla="*/ 52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4" h="135">
                <a:moveTo>
                  <a:pt x="0" y="52"/>
                </a:moveTo>
                <a:lnTo>
                  <a:pt x="66" y="52"/>
                </a:lnTo>
                <a:lnTo>
                  <a:pt x="87" y="0"/>
                </a:lnTo>
                <a:lnTo>
                  <a:pt x="108" y="52"/>
                </a:lnTo>
                <a:lnTo>
                  <a:pt x="174" y="52"/>
                </a:lnTo>
                <a:lnTo>
                  <a:pt x="120" y="84"/>
                </a:lnTo>
                <a:lnTo>
                  <a:pt x="141" y="135"/>
                </a:lnTo>
                <a:lnTo>
                  <a:pt x="87" y="104"/>
                </a:lnTo>
                <a:lnTo>
                  <a:pt x="33" y="135"/>
                </a:lnTo>
                <a:lnTo>
                  <a:pt x="54" y="84"/>
                </a:lnTo>
                <a:lnTo>
                  <a:pt x="0" y="5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64" name="Freeform 565">
            <a:extLst>
              <a:ext uri="{FF2B5EF4-FFF2-40B4-BE49-F238E27FC236}">
                <a16:creationId xmlns:a16="http://schemas.microsoft.com/office/drawing/2014/main" id="{B35EA91E-4124-2410-ACFE-8AE7C8AB3F77}"/>
              </a:ext>
            </a:extLst>
          </p:cNvPr>
          <p:cNvSpPr>
            <a:spLocks/>
          </p:cNvSpPr>
          <p:nvPr/>
        </p:nvSpPr>
        <p:spPr bwMode="auto">
          <a:xfrm>
            <a:off x="6223089" y="4625279"/>
            <a:ext cx="248765" cy="222031"/>
          </a:xfrm>
          <a:custGeom>
            <a:avLst/>
            <a:gdLst>
              <a:gd name="T0" fmla="*/ 0 w 174"/>
              <a:gd name="T1" fmla="*/ 52 h 135"/>
              <a:gd name="T2" fmla="*/ 66 w 174"/>
              <a:gd name="T3" fmla="*/ 52 h 135"/>
              <a:gd name="T4" fmla="*/ 87 w 174"/>
              <a:gd name="T5" fmla="*/ 0 h 135"/>
              <a:gd name="T6" fmla="*/ 108 w 174"/>
              <a:gd name="T7" fmla="*/ 52 h 135"/>
              <a:gd name="T8" fmla="*/ 174 w 174"/>
              <a:gd name="T9" fmla="*/ 52 h 135"/>
              <a:gd name="T10" fmla="*/ 120 w 174"/>
              <a:gd name="T11" fmla="*/ 84 h 135"/>
              <a:gd name="T12" fmla="*/ 141 w 174"/>
              <a:gd name="T13" fmla="*/ 135 h 135"/>
              <a:gd name="T14" fmla="*/ 87 w 174"/>
              <a:gd name="T15" fmla="*/ 104 h 135"/>
              <a:gd name="T16" fmla="*/ 33 w 174"/>
              <a:gd name="T17" fmla="*/ 135 h 135"/>
              <a:gd name="T18" fmla="*/ 54 w 174"/>
              <a:gd name="T19" fmla="*/ 84 h 135"/>
              <a:gd name="T20" fmla="*/ 0 w 174"/>
              <a:gd name="T21" fmla="*/ 52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4" h="135">
                <a:moveTo>
                  <a:pt x="0" y="52"/>
                </a:moveTo>
                <a:lnTo>
                  <a:pt x="66" y="52"/>
                </a:lnTo>
                <a:lnTo>
                  <a:pt x="87" y="0"/>
                </a:lnTo>
                <a:lnTo>
                  <a:pt x="108" y="52"/>
                </a:lnTo>
                <a:lnTo>
                  <a:pt x="174" y="52"/>
                </a:lnTo>
                <a:lnTo>
                  <a:pt x="120" y="84"/>
                </a:lnTo>
                <a:lnTo>
                  <a:pt x="141" y="135"/>
                </a:lnTo>
                <a:lnTo>
                  <a:pt x="87" y="104"/>
                </a:lnTo>
                <a:lnTo>
                  <a:pt x="33" y="135"/>
                </a:lnTo>
                <a:lnTo>
                  <a:pt x="54" y="84"/>
                </a:lnTo>
                <a:lnTo>
                  <a:pt x="0" y="5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65" name="Freeform 566">
            <a:extLst>
              <a:ext uri="{FF2B5EF4-FFF2-40B4-BE49-F238E27FC236}">
                <a16:creationId xmlns:a16="http://schemas.microsoft.com/office/drawing/2014/main" id="{433B87E0-6EA0-A004-162F-1BEE04C39B55}"/>
              </a:ext>
            </a:extLst>
          </p:cNvPr>
          <p:cNvSpPr>
            <a:spLocks/>
          </p:cNvSpPr>
          <p:nvPr/>
        </p:nvSpPr>
        <p:spPr bwMode="auto">
          <a:xfrm>
            <a:off x="6487580" y="4625279"/>
            <a:ext cx="254484" cy="222031"/>
          </a:xfrm>
          <a:custGeom>
            <a:avLst/>
            <a:gdLst>
              <a:gd name="T0" fmla="*/ 0 w 178"/>
              <a:gd name="T1" fmla="*/ 52 h 135"/>
              <a:gd name="T2" fmla="*/ 68 w 178"/>
              <a:gd name="T3" fmla="*/ 52 h 135"/>
              <a:gd name="T4" fmla="*/ 89 w 178"/>
              <a:gd name="T5" fmla="*/ 0 h 135"/>
              <a:gd name="T6" fmla="*/ 110 w 178"/>
              <a:gd name="T7" fmla="*/ 52 h 135"/>
              <a:gd name="T8" fmla="*/ 178 w 178"/>
              <a:gd name="T9" fmla="*/ 52 h 135"/>
              <a:gd name="T10" fmla="*/ 123 w 178"/>
              <a:gd name="T11" fmla="*/ 84 h 135"/>
              <a:gd name="T12" fmla="*/ 144 w 178"/>
              <a:gd name="T13" fmla="*/ 135 h 135"/>
              <a:gd name="T14" fmla="*/ 89 w 178"/>
              <a:gd name="T15" fmla="*/ 104 h 135"/>
              <a:gd name="T16" fmla="*/ 34 w 178"/>
              <a:gd name="T17" fmla="*/ 135 h 135"/>
              <a:gd name="T18" fmla="*/ 55 w 178"/>
              <a:gd name="T19" fmla="*/ 84 h 135"/>
              <a:gd name="T20" fmla="*/ 0 w 178"/>
              <a:gd name="T21" fmla="*/ 52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5">
                <a:moveTo>
                  <a:pt x="0" y="52"/>
                </a:moveTo>
                <a:lnTo>
                  <a:pt x="68" y="52"/>
                </a:lnTo>
                <a:lnTo>
                  <a:pt x="89" y="0"/>
                </a:lnTo>
                <a:lnTo>
                  <a:pt x="110" y="52"/>
                </a:lnTo>
                <a:lnTo>
                  <a:pt x="178" y="52"/>
                </a:lnTo>
                <a:lnTo>
                  <a:pt x="123" y="84"/>
                </a:lnTo>
                <a:lnTo>
                  <a:pt x="144" y="135"/>
                </a:lnTo>
                <a:lnTo>
                  <a:pt x="89" y="104"/>
                </a:lnTo>
                <a:lnTo>
                  <a:pt x="34" y="135"/>
                </a:lnTo>
                <a:lnTo>
                  <a:pt x="55" y="84"/>
                </a:lnTo>
                <a:lnTo>
                  <a:pt x="0" y="5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66" name="Freeform 567">
            <a:extLst>
              <a:ext uri="{FF2B5EF4-FFF2-40B4-BE49-F238E27FC236}">
                <a16:creationId xmlns:a16="http://schemas.microsoft.com/office/drawing/2014/main" id="{2940CB36-A118-776D-AE14-744698858486}"/>
              </a:ext>
            </a:extLst>
          </p:cNvPr>
          <p:cNvSpPr>
            <a:spLocks/>
          </p:cNvSpPr>
          <p:nvPr/>
        </p:nvSpPr>
        <p:spPr bwMode="auto">
          <a:xfrm>
            <a:off x="6487580" y="4625279"/>
            <a:ext cx="254484" cy="222031"/>
          </a:xfrm>
          <a:custGeom>
            <a:avLst/>
            <a:gdLst>
              <a:gd name="T0" fmla="*/ 0 w 178"/>
              <a:gd name="T1" fmla="*/ 52 h 135"/>
              <a:gd name="T2" fmla="*/ 68 w 178"/>
              <a:gd name="T3" fmla="*/ 52 h 135"/>
              <a:gd name="T4" fmla="*/ 89 w 178"/>
              <a:gd name="T5" fmla="*/ 0 h 135"/>
              <a:gd name="T6" fmla="*/ 110 w 178"/>
              <a:gd name="T7" fmla="*/ 52 h 135"/>
              <a:gd name="T8" fmla="*/ 178 w 178"/>
              <a:gd name="T9" fmla="*/ 52 h 135"/>
              <a:gd name="T10" fmla="*/ 123 w 178"/>
              <a:gd name="T11" fmla="*/ 84 h 135"/>
              <a:gd name="T12" fmla="*/ 144 w 178"/>
              <a:gd name="T13" fmla="*/ 135 h 135"/>
              <a:gd name="T14" fmla="*/ 89 w 178"/>
              <a:gd name="T15" fmla="*/ 104 h 135"/>
              <a:gd name="T16" fmla="*/ 34 w 178"/>
              <a:gd name="T17" fmla="*/ 135 h 135"/>
              <a:gd name="T18" fmla="*/ 55 w 178"/>
              <a:gd name="T19" fmla="*/ 84 h 135"/>
              <a:gd name="T20" fmla="*/ 0 w 178"/>
              <a:gd name="T21" fmla="*/ 52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5">
                <a:moveTo>
                  <a:pt x="0" y="52"/>
                </a:moveTo>
                <a:lnTo>
                  <a:pt x="68" y="52"/>
                </a:lnTo>
                <a:lnTo>
                  <a:pt x="89" y="0"/>
                </a:lnTo>
                <a:lnTo>
                  <a:pt x="110" y="52"/>
                </a:lnTo>
                <a:lnTo>
                  <a:pt x="178" y="52"/>
                </a:lnTo>
                <a:lnTo>
                  <a:pt x="123" y="84"/>
                </a:lnTo>
                <a:lnTo>
                  <a:pt x="144" y="135"/>
                </a:lnTo>
                <a:lnTo>
                  <a:pt x="89" y="104"/>
                </a:lnTo>
                <a:lnTo>
                  <a:pt x="34" y="135"/>
                </a:lnTo>
                <a:lnTo>
                  <a:pt x="55" y="84"/>
                </a:lnTo>
                <a:lnTo>
                  <a:pt x="0" y="5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67" name="Freeform 568">
            <a:extLst>
              <a:ext uri="{FF2B5EF4-FFF2-40B4-BE49-F238E27FC236}">
                <a16:creationId xmlns:a16="http://schemas.microsoft.com/office/drawing/2014/main" id="{BC65A31F-FA70-7C6F-5714-0C92A92890F0}"/>
              </a:ext>
            </a:extLst>
          </p:cNvPr>
          <p:cNvSpPr>
            <a:spLocks/>
          </p:cNvSpPr>
          <p:nvPr/>
        </p:nvSpPr>
        <p:spPr bwMode="auto">
          <a:xfrm>
            <a:off x="6756360" y="4625279"/>
            <a:ext cx="255914" cy="222031"/>
          </a:xfrm>
          <a:custGeom>
            <a:avLst/>
            <a:gdLst>
              <a:gd name="T0" fmla="*/ 0 w 179"/>
              <a:gd name="T1" fmla="*/ 52 h 135"/>
              <a:gd name="T2" fmla="*/ 69 w 179"/>
              <a:gd name="T3" fmla="*/ 52 h 135"/>
              <a:gd name="T4" fmla="*/ 90 w 179"/>
              <a:gd name="T5" fmla="*/ 0 h 135"/>
              <a:gd name="T6" fmla="*/ 111 w 179"/>
              <a:gd name="T7" fmla="*/ 52 h 135"/>
              <a:gd name="T8" fmla="*/ 179 w 179"/>
              <a:gd name="T9" fmla="*/ 52 h 135"/>
              <a:gd name="T10" fmla="*/ 124 w 179"/>
              <a:gd name="T11" fmla="*/ 84 h 135"/>
              <a:gd name="T12" fmla="*/ 145 w 179"/>
              <a:gd name="T13" fmla="*/ 135 h 135"/>
              <a:gd name="T14" fmla="*/ 90 w 179"/>
              <a:gd name="T15" fmla="*/ 104 h 135"/>
              <a:gd name="T16" fmla="*/ 35 w 179"/>
              <a:gd name="T17" fmla="*/ 135 h 135"/>
              <a:gd name="T18" fmla="*/ 56 w 179"/>
              <a:gd name="T19" fmla="*/ 84 h 135"/>
              <a:gd name="T20" fmla="*/ 0 w 179"/>
              <a:gd name="T21" fmla="*/ 52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9" h="135">
                <a:moveTo>
                  <a:pt x="0" y="52"/>
                </a:moveTo>
                <a:lnTo>
                  <a:pt x="69" y="52"/>
                </a:lnTo>
                <a:lnTo>
                  <a:pt x="90" y="0"/>
                </a:lnTo>
                <a:lnTo>
                  <a:pt x="111" y="52"/>
                </a:lnTo>
                <a:lnTo>
                  <a:pt x="179" y="52"/>
                </a:lnTo>
                <a:lnTo>
                  <a:pt x="124" y="84"/>
                </a:lnTo>
                <a:lnTo>
                  <a:pt x="145" y="135"/>
                </a:lnTo>
                <a:lnTo>
                  <a:pt x="90" y="104"/>
                </a:lnTo>
                <a:lnTo>
                  <a:pt x="35" y="135"/>
                </a:lnTo>
                <a:lnTo>
                  <a:pt x="56" y="84"/>
                </a:lnTo>
                <a:lnTo>
                  <a:pt x="0" y="5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68" name="Freeform 569">
            <a:extLst>
              <a:ext uri="{FF2B5EF4-FFF2-40B4-BE49-F238E27FC236}">
                <a16:creationId xmlns:a16="http://schemas.microsoft.com/office/drawing/2014/main" id="{873F87A0-BD92-A153-1F69-3C09D5BEA437}"/>
              </a:ext>
            </a:extLst>
          </p:cNvPr>
          <p:cNvSpPr>
            <a:spLocks/>
          </p:cNvSpPr>
          <p:nvPr/>
        </p:nvSpPr>
        <p:spPr bwMode="auto">
          <a:xfrm>
            <a:off x="6756360" y="4625279"/>
            <a:ext cx="255914" cy="222031"/>
          </a:xfrm>
          <a:custGeom>
            <a:avLst/>
            <a:gdLst>
              <a:gd name="T0" fmla="*/ 0 w 179"/>
              <a:gd name="T1" fmla="*/ 52 h 135"/>
              <a:gd name="T2" fmla="*/ 69 w 179"/>
              <a:gd name="T3" fmla="*/ 52 h 135"/>
              <a:gd name="T4" fmla="*/ 90 w 179"/>
              <a:gd name="T5" fmla="*/ 0 h 135"/>
              <a:gd name="T6" fmla="*/ 111 w 179"/>
              <a:gd name="T7" fmla="*/ 52 h 135"/>
              <a:gd name="T8" fmla="*/ 179 w 179"/>
              <a:gd name="T9" fmla="*/ 52 h 135"/>
              <a:gd name="T10" fmla="*/ 124 w 179"/>
              <a:gd name="T11" fmla="*/ 84 h 135"/>
              <a:gd name="T12" fmla="*/ 145 w 179"/>
              <a:gd name="T13" fmla="*/ 135 h 135"/>
              <a:gd name="T14" fmla="*/ 90 w 179"/>
              <a:gd name="T15" fmla="*/ 104 h 135"/>
              <a:gd name="T16" fmla="*/ 35 w 179"/>
              <a:gd name="T17" fmla="*/ 135 h 135"/>
              <a:gd name="T18" fmla="*/ 56 w 179"/>
              <a:gd name="T19" fmla="*/ 84 h 135"/>
              <a:gd name="T20" fmla="*/ 0 w 179"/>
              <a:gd name="T21" fmla="*/ 52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9" h="135">
                <a:moveTo>
                  <a:pt x="0" y="52"/>
                </a:moveTo>
                <a:lnTo>
                  <a:pt x="69" y="52"/>
                </a:lnTo>
                <a:lnTo>
                  <a:pt x="90" y="0"/>
                </a:lnTo>
                <a:lnTo>
                  <a:pt x="111" y="52"/>
                </a:lnTo>
                <a:lnTo>
                  <a:pt x="179" y="52"/>
                </a:lnTo>
                <a:lnTo>
                  <a:pt x="124" y="84"/>
                </a:lnTo>
                <a:lnTo>
                  <a:pt x="145" y="135"/>
                </a:lnTo>
                <a:lnTo>
                  <a:pt x="90" y="104"/>
                </a:lnTo>
                <a:lnTo>
                  <a:pt x="35" y="135"/>
                </a:lnTo>
                <a:lnTo>
                  <a:pt x="56" y="84"/>
                </a:lnTo>
                <a:lnTo>
                  <a:pt x="0" y="5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69" name="Rectangle 500">
            <a:extLst>
              <a:ext uri="{FF2B5EF4-FFF2-40B4-BE49-F238E27FC236}">
                <a16:creationId xmlns:a16="http://schemas.microsoft.com/office/drawing/2014/main" id="{E13E19B4-2048-E70C-86C1-45C1509D1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055" y="5161099"/>
            <a:ext cx="3062386" cy="521363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Delay in availability of Test data for Digital Factoring</a:t>
            </a:r>
          </a:p>
        </p:txBody>
      </p:sp>
      <p:sp>
        <p:nvSpPr>
          <p:cNvPr id="170" name="Rectangle 523">
            <a:extLst>
              <a:ext uri="{FF2B5EF4-FFF2-40B4-BE49-F238E27FC236}">
                <a16:creationId xmlns:a16="http://schemas.microsoft.com/office/drawing/2014/main" id="{12FD43B4-7C79-ED6C-CDD0-22E45FE5F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6208" y="5115678"/>
            <a:ext cx="4508518" cy="599429"/>
          </a:xfrm>
          <a:prstGeom prst="rect">
            <a:avLst/>
          </a:prstGeom>
          <a:solidFill>
            <a:srgbClr val="ECEAE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Gilbert Motors to ensure test data for Digital Factoring is available at right time before the testing phase</a:t>
            </a:r>
          </a:p>
        </p:txBody>
      </p:sp>
      <p:sp>
        <p:nvSpPr>
          <p:cNvPr id="171" name="Rectangle 514">
            <a:extLst>
              <a:ext uri="{FF2B5EF4-FFF2-40B4-BE49-F238E27FC236}">
                <a16:creationId xmlns:a16="http://schemas.microsoft.com/office/drawing/2014/main" id="{F613536B-BDAC-20CD-060F-5B7830782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0940" y="5128816"/>
            <a:ext cx="1634129" cy="521363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72" name="Freeform 540">
            <a:extLst>
              <a:ext uri="{FF2B5EF4-FFF2-40B4-BE49-F238E27FC236}">
                <a16:creationId xmlns:a16="http://schemas.microsoft.com/office/drawing/2014/main" id="{74C4B879-88F7-9566-76A1-34C573FFB432}"/>
              </a:ext>
            </a:extLst>
          </p:cNvPr>
          <p:cNvSpPr>
            <a:spLocks/>
          </p:cNvSpPr>
          <p:nvPr/>
        </p:nvSpPr>
        <p:spPr bwMode="auto">
          <a:xfrm>
            <a:off x="4011027" y="5201182"/>
            <a:ext cx="254484" cy="226965"/>
          </a:xfrm>
          <a:custGeom>
            <a:avLst/>
            <a:gdLst>
              <a:gd name="T0" fmla="*/ 0 w 178"/>
              <a:gd name="T1" fmla="*/ 53 h 138"/>
              <a:gd name="T2" fmla="*/ 68 w 178"/>
              <a:gd name="T3" fmla="*/ 53 h 138"/>
              <a:gd name="T4" fmla="*/ 89 w 178"/>
              <a:gd name="T5" fmla="*/ 0 h 138"/>
              <a:gd name="T6" fmla="*/ 111 w 178"/>
              <a:gd name="T7" fmla="*/ 53 h 138"/>
              <a:gd name="T8" fmla="*/ 178 w 178"/>
              <a:gd name="T9" fmla="*/ 53 h 138"/>
              <a:gd name="T10" fmla="*/ 123 w 178"/>
              <a:gd name="T11" fmla="*/ 85 h 138"/>
              <a:gd name="T12" fmla="*/ 145 w 178"/>
              <a:gd name="T13" fmla="*/ 138 h 138"/>
              <a:gd name="T14" fmla="*/ 89 w 178"/>
              <a:gd name="T15" fmla="*/ 105 h 138"/>
              <a:gd name="T16" fmla="*/ 34 w 178"/>
              <a:gd name="T17" fmla="*/ 138 h 138"/>
              <a:gd name="T18" fmla="*/ 55 w 178"/>
              <a:gd name="T19" fmla="*/ 85 h 138"/>
              <a:gd name="T20" fmla="*/ 0 w 178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8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1" y="53"/>
                </a:lnTo>
                <a:lnTo>
                  <a:pt x="178" y="53"/>
                </a:lnTo>
                <a:lnTo>
                  <a:pt x="123" y="85"/>
                </a:lnTo>
                <a:lnTo>
                  <a:pt x="145" y="138"/>
                </a:lnTo>
                <a:lnTo>
                  <a:pt x="89" y="105"/>
                </a:lnTo>
                <a:lnTo>
                  <a:pt x="34" y="138"/>
                </a:lnTo>
                <a:lnTo>
                  <a:pt x="55" y="85"/>
                </a:lnTo>
                <a:lnTo>
                  <a:pt x="0" y="53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73" name="Freeform 541">
            <a:extLst>
              <a:ext uri="{FF2B5EF4-FFF2-40B4-BE49-F238E27FC236}">
                <a16:creationId xmlns:a16="http://schemas.microsoft.com/office/drawing/2014/main" id="{2542FA6B-548B-3563-EB1E-FBD53299B027}"/>
              </a:ext>
            </a:extLst>
          </p:cNvPr>
          <p:cNvSpPr>
            <a:spLocks/>
          </p:cNvSpPr>
          <p:nvPr/>
        </p:nvSpPr>
        <p:spPr bwMode="auto">
          <a:xfrm>
            <a:off x="4011027" y="5201182"/>
            <a:ext cx="254484" cy="226965"/>
          </a:xfrm>
          <a:custGeom>
            <a:avLst/>
            <a:gdLst>
              <a:gd name="T0" fmla="*/ 0 w 178"/>
              <a:gd name="T1" fmla="*/ 53 h 138"/>
              <a:gd name="T2" fmla="*/ 68 w 178"/>
              <a:gd name="T3" fmla="*/ 53 h 138"/>
              <a:gd name="T4" fmla="*/ 89 w 178"/>
              <a:gd name="T5" fmla="*/ 0 h 138"/>
              <a:gd name="T6" fmla="*/ 111 w 178"/>
              <a:gd name="T7" fmla="*/ 53 h 138"/>
              <a:gd name="T8" fmla="*/ 178 w 178"/>
              <a:gd name="T9" fmla="*/ 53 h 138"/>
              <a:gd name="T10" fmla="*/ 123 w 178"/>
              <a:gd name="T11" fmla="*/ 85 h 138"/>
              <a:gd name="T12" fmla="*/ 145 w 178"/>
              <a:gd name="T13" fmla="*/ 138 h 138"/>
              <a:gd name="T14" fmla="*/ 89 w 178"/>
              <a:gd name="T15" fmla="*/ 105 h 138"/>
              <a:gd name="T16" fmla="*/ 34 w 178"/>
              <a:gd name="T17" fmla="*/ 138 h 138"/>
              <a:gd name="T18" fmla="*/ 55 w 178"/>
              <a:gd name="T19" fmla="*/ 85 h 138"/>
              <a:gd name="T20" fmla="*/ 0 w 178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8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1" y="53"/>
                </a:lnTo>
                <a:lnTo>
                  <a:pt x="178" y="53"/>
                </a:lnTo>
                <a:lnTo>
                  <a:pt x="123" y="85"/>
                </a:lnTo>
                <a:lnTo>
                  <a:pt x="145" y="138"/>
                </a:lnTo>
                <a:lnTo>
                  <a:pt x="89" y="105"/>
                </a:lnTo>
                <a:lnTo>
                  <a:pt x="34" y="138"/>
                </a:lnTo>
                <a:lnTo>
                  <a:pt x="55" y="85"/>
                </a:lnTo>
                <a:lnTo>
                  <a:pt x="0" y="53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74" name="Freeform 542">
            <a:extLst>
              <a:ext uri="{FF2B5EF4-FFF2-40B4-BE49-F238E27FC236}">
                <a16:creationId xmlns:a16="http://schemas.microsoft.com/office/drawing/2014/main" id="{A0799A92-97A5-DE8A-D0E0-F3CB97FCF541}"/>
              </a:ext>
            </a:extLst>
          </p:cNvPr>
          <p:cNvSpPr>
            <a:spLocks/>
          </p:cNvSpPr>
          <p:nvPr/>
        </p:nvSpPr>
        <p:spPr bwMode="auto">
          <a:xfrm>
            <a:off x="4281237" y="5201182"/>
            <a:ext cx="254484" cy="226965"/>
          </a:xfrm>
          <a:custGeom>
            <a:avLst/>
            <a:gdLst>
              <a:gd name="T0" fmla="*/ 0 w 178"/>
              <a:gd name="T1" fmla="*/ 53 h 138"/>
              <a:gd name="T2" fmla="*/ 68 w 178"/>
              <a:gd name="T3" fmla="*/ 53 h 138"/>
              <a:gd name="T4" fmla="*/ 89 w 178"/>
              <a:gd name="T5" fmla="*/ 0 h 138"/>
              <a:gd name="T6" fmla="*/ 110 w 178"/>
              <a:gd name="T7" fmla="*/ 53 h 138"/>
              <a:gd name="T8" fmla="*/ 178 w 178"/>
              <a:gd name="T9" fmla="*/ 53 h 138"/>
              <a:gd name="T10" fmla="*/ 123 w 178"/>
              <a:gd name="T11" fmla="*/ 85 h 138"/>
              <a:gd name="T12" fmla="*/ 144 w 178"/>
              <a:gd name="T13" fmla="*/ 138 h 138"/>
              <a:gd name="T14" fmla="*/ 89 w 178"/>
              <a:gd name="T15" fmla="*/ 105 h 138"/>
              <a:gd name="T16" fmla="*/ 34 w 178"/>
              <a:gd name="T17" fmla="*/ 138 h 138"/>
              <a:gd name="T18" fmla="*/ 55 w 178"/>
              <a:gd name="T19" fmla="*/ 85 h 138"/>
              <a:gd name="T20" fmla="*/ 0 w 178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8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0" y="53"/>
                </a:lnTo>
                <a:lnTo>
                  <a:pt x="178" y="53"/>
                </a:lnTo>
                <a:lnTo>
                  <a:pt x="123" y="85"/>
                </a:lnTo>
                <a:lnTo>
                  <a:pt x="144" y="138"/>
                </a:lnTo>
                <a:lnTo>
                  <a:pt x="89" y="105"/>
                </a:lnTo>
                <a:lnTo>
                  <a:pt x="34" y="138"/>
                </a:lnTo>
                <a:lnTo>
                  <a:pt x="55" y="85"/>
                </a:lnTo>
                <a:lnTo>
                  <a:pt x="0" y="53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75" name="Freeform 543">
            <a:extLst>
              <a:ext uri="{FF2B5EF4-FFF2-40B4-BE49-F238E27FC236}">
                <a16:creationId xmlns:a16="http://schemas.microsoft.com/office/drawing/2014/main" id="{726A1BC8-03FB-358B-0842-A174D1CAEDED}"/>
              </a:ext>
            </a:extLst>
          </p:cNvPr>
          <p:cNvSpPr>
            <a:spLocks/>
          </p:cNvSpPr>
          <p:nvPr/>
        </p:nvSpPr>
        <p:spPr bwMode="auto">
          <a:xfrm>
            <a:off x="4281237" y="5201182"/>
            <a:ext cx="254484" cy="226965"/>
          </a:xfrm>
          <a:custGeom>
            <a:avLst/>
            <a:gdLst>
              <a:gd name="T0" fmla="*/ 0 w 178"/>
              <a:gd name="T1" fmla="*/ 53 h 138"/>
              <a:gd name="T2" fmla="*/ 68 w 178"/>
              <a:gd name="T3" fmla="*/ 53 h 138"/>
              <a:gd name="T4" fmla="*/ 89 w 178"/>
              <a:gd name="T5" fmla="*/ 0 h 138"/>
              <a:gd name="T6" fmla="*/ 110 w 178"/>
              <a:gd name="T7" fmla="*/ 53 h 138"/>
              <a:gd name="T8" fmla="*/ 178 w 178"/>
              <a:gd name="T9" fmla="*/ 53 h 138"/>
              <a:gd name="T10" fmla="*/ 123 w 178"/>
              <a:gd name="T11" fmla="*/ 85 h 138"/>
              <a:gd name="T12" fmla="*/ 144 w 178"/>
              <a:gd name="T13" fmla="*/ 138 h 138"/>
              <a:gd name="T14" fmla="*/ 89 w 178"/>
              <a:gd name="T15" fmla="*/ 105 h 138"/>
              <a:gd name="T16" fmla="*/ 34 w 178"/>
              <a:gd name="T17" fmla="*/ 138 h 138"/>
              <a:gd name="T18" fmla="*/ 55 w 178"/>
              <a:gd name="T19" fmla="*/ 85 h 138"/>
              <a:gd name="T20" fmla="*/ 0 w 178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8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0" y="53"/>
                </a:lnTo>
                <a:lnTo>
                  <a:pt x="178" y="53"/>
                </a:lnTo>
                <a:lnTo>
                  <a:pt x="123" y="85"/>
                </a:lnTo>
                <a:lnTo>
                  <a:pt x="144" y="138"/>
                </a:lnTo>
                <a:lnTo>
                  <a:pt x="89" y="105"/>
                </a:lnTo>
                <a:lnTo>
                  <a:pt x="34" y="138"/>
                </a:lnTo>
                <a:lnTo>
                  <a:pt x="55" y="85"/>
                </a:lnTo>
                <a:lnTo>
                  <a:pt x="0" y="53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76" name="Freeform 544">
            <a:extLst>
              <a:ext uri="{FF2B5EF4-FFF2-40B4-BE49-F238E27FC236}">
                <a16:creationId xmlns:a16="http://schemas.microsoft.com/office/drawing/2014/main" id="{D84A7722-FDF8-09A5-32F9-ADE3815B0086}"/>
              </a:ext>
            </a:extLst>
          </p:cNvPr>
          <p:cNvSpPr>
            <a:spLocks/>
          </p:cNvSpPr>
          <p:nvPr/>
        </p:nvSpPr>
        <p:spPr bwMode="auto">
          <a:xfrm>
            <a:off x="4551447" y="5201182"/>
            <a:ext cx="248765" cy="226965"/>
          </a:xfrm>
          <a:custGeom>
            <a:avLst/>
            <a:gdLst>
              <a:gd name="T0" fmla="*/ 0 w 174"/>
              <a:gd name="T1" fmla="*/ 53 h 138"/>
              <a:gd name="T2" fmla="*/ 66 w 174"/>
              <a:gd name="T3" fmla="*/ 53 h 138"/>
              <a:gd name="T4" fmla="*/ 87 w 174"/>
              <a:gd name="T5" fmla="*/ 0 h 138"/>
              <a:gd name="T6" fmla="*/ 108 w 174"/>
              <a:gd name="T7" fmla="*/ 53 h 138"/>
              <a:gd name="T8" fmla="*/ 174 w 174"/>
              <a:gd name="T9" fmla="*/ 53 h 138"/>
              <a:gd name="T10" fmla="*/ 120 w 174"/>
              <a:gd name="T11" fmla="*/ 85 h 138"/>
              <a:gd name="T12" fmla="*/ 141 w 174"/>
              <a:gd name="T13" fmla="*/ 138 h 138"/>
              <a:gd name="T14" fmla="*/ 87 w 174"/>
              <a:gd name="T15" fmla="*/ 105 h 138"/>
              <a:gd name="T16" fmla="*/ 33 w 174"/>
              <a:gd name="T17" fmla="*/ 138 h 138"/>
              <a:gd name="T18" fmla="*/ 54 w 174"/>
              <a:gd name="T19" fmla="*/ 85 h 138"/>
              <a:gd name="T20" fmla="*/ 0 w 174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4" h="138">
                <a:moveTo>
                  <a:pt x="0" y="53"/>
                </a:moveTo>
                <a:lnTo>
                  <a:pt x="66" y="53"/>
                </a:lnTo>
                <a:lnTo>
                  <a:pt x="87" y="0"/>
                </a:lnTo>
                <a:lnTo>
                  <a:pt x="108" y="53"/>
                </a:lnTo>
                <a:lnTo>
                  <a:pt x="174" y="53"/>
                </a:lnTo>
                <a:lnTo>
                  <a:pt x="120" y="85"/>
                </a:lnTo>
                <a:lnTo>
                  <a:pt x="141" y="138"/>
                </a:lnTo>
                <a:lnTo>
                  <a:pt x="87" y="105"/>
                </a:lnTo>
                <a:lnTo>
                  <a:pt x="33" y="138"/>
                </a:lnTo>
                <a:lnTo>
                  <a:pt x="54" y="85"/>
                </a:lnTo>
                <a:lnTo>
                  <a:pt x="0" y="53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77" name="Freeform 545">
            <a:extLst>
              <a:ext uri="{FF2B5EF4-FFF2-40B4-BE49-F238E27FC236}">
                <a16:creationId xmlns:a16="http://schemas.microsoft.com/office/drawing/2014/main" id="{4BEA294E-DDEB-EB52-3D13-A6076791053B}"/>
              </a:ext>
            </a:extLst>
          </p:cNvPr>
          <p:cNvSpPr>
            <a:spLocks/>
          </p:cNvSpPr>
          <p:nvPr/>
        </p:nvSpPr>
        <p:spPr bwMode="auto">
          <a:xfrm>
            <a:off x="4551447" y="5201182"/>
            <a:ext cx="248765" cy="226965"/>
          </a:xfrm>
          <a:custGeom>
            <a:avLst/>
            <a:gdLst>
              <a:gd name="T0" fmla="*/ 0 w 174"/>
              <a:gd name="T1" fmla="*/ 53 h 138"/>
              <a:gd name="T2" fmla="*/ 66 w 174"/>
              <a:gd name="T3" fmla="*/ 53 h 138"/>
              <a:gd name="T4" fmla="*/ 87 w 174"/>
              <a:gd name="T5" fmla="*/ 0 h 138"/>
              <a:gd name="T6" fmla="*/ 108 w 174"/>
              <a:gd name="T7" fmla="*/ 53 h 138"/>
              <a:gd name="T8" fmla="*/ 174 w 174"/>
              <a:gd name="T9" fmla="*/ 53 h 138"/>
              <a:gd name="T10" fmla="*/ 120 w 174"/>
              <a:gd name="T11" fmla="*/ 85 h 138"/>
              <a:gd name="T12" fmla="*/ 141 w 174"/>
              <a:gd name="T13" fmla="*/ 138 h 138"/>
              <a:gd name="T14" fmla="*/ 87 w 174"/>
              <a:gd name="T15" fmla="*/ 105 h 138"/>
              <a:gd name="T16" fmla="*/ 33 w 174"/>
              <a:gd name="T17" fmla="*/ 138 h 138"/>
              <a:gd name="T18" fmla="*/ 54 w 174"/>
              <a:gd name="T19" fmla="*/ 85 h 138"/>
              <a:gd name="T20" fmla="*/ 0 w 174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4" h="138">
                <a:moveTo>
                  <a:pt x="0" y="53"/>
                </a:moveTo>
                <a:lnTo>
                  <a:pt x="66" y="53"/>
                </a:lnTo>
                <a:lnTo>
                  <a:pt x="87" y="0"/>
                </a:lnTo>
                <a:lnTo>
                  <a:pt x="108" y="53"/>
                </a:lnTo>
                <a:lnTo>
                  <a:pt x="174" y="53"/>
                </a:lnTo>
                <a:lnTo>
                  <a:pt x="120" y="85"/>
                </a:lnTo>
                <a:lnTo>
                  <a:pt x="141" y="138"/>
                </a:lnTo>
                <a:lnTo>
                  <a:pt x="87" y="105"/>
                </a:lnTo>
                <a:lnTo>
                  <a:pt x="33" y="138"/>
                </a:lnTo>
                <a:lnTo>
                  <a:pt x="54" y="85"/>
                </a:lnTo>
                <a:lnTo>
                  <a:pt x="0" y="53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78" name="Freeform 546">
            <a:extLst>
              <a:ext uri="{FF2B5EF4-FFF2-40B4-BE49-F238E27FC236}">
                <a16:creationId xmlns:a16="http://schemas.microsoft.com/office/drawing/2014/main" id="{E479F0E3-3DC7-61C3-FE2A-4F062EED7F75}"/>
              </a:ext>
            </a:extLst>
          </p:cNvPr>
          <p:cNvSpPr>
            <a:spLocks/>
          </p:cNvSpPr>
          <p:nvPr/>
        </p:nvSpPr>
        <p:spPr bwMode="auto">
          <a:xfrm>
            <a:off x="4815939" y="5201182"/>
            <a:ext cx="254484" cy="226965"/>
          </a:xfrm>
          <a:custGeom>
            <a:avLst/>
            <a:gdLst>
              <a:gd name="T0" fmla="*/ 0 w 178"/>
              <a:gd name="T1" fmla="*/ 53 h 138"/>
              <a:gd name="T2" fmla="*/ 68 w 178"/>
              <a:gd name="T3" fmla="*/ 53 h 138"/>
              <a:gd name="T4" fmla="*/ 89 w 178"/>
              <a:gd name="T5" fmla="*/ 0 h 138"/>
              <a:gd name="T6" fmla="*/ 110 w 178"/>
              <a:gd name="T7" fmla="*/ 53 h 138"/>
              <a:gd name="T8" fmla="*/ 178 w 178"/>
              <a:gd name="T9" fmla="*/ 53 h 138"/>
              <a:gd name="T10" fmla="*/ 123 w 178"/>
              <a:gd name="T11" fmla="*/ 85 h 138"/>
              <a:gd name="T12" fmla="*/ 144 w 178"/>
              <a:gd name="T13" fmla="*/ 138 h 138"/>
              <a:gd name="T14" fmla="*/ 89 w 178"/>
              <a:gd name="T15" fmla="*/ 105 h 138"/>
              <a:gd name="T16" fmla="*/ 34 w 178"/>
              <a:gd name="T17" fmla="*/ 138 h 138"/>
              <a:gd name="T18" fmla="*/ 55 w 178"/>
              <a:gd name="T19" fmla="*/ 85 h 138"/>
              <a:gd name="T20" fmla="*/ 0 w 178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8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0" y="53"/>
                </a:lnTo>
                <a:lnTo>
                  <a:pt x="178" y="53"/>
                </a:lnTo>
                <a:lnTo>
                  <a:pt x="123" y="85"/>
                </a:lnTo>
                <a:lnTo>
                  <a:pt x="144" y="138"/>
                </a:lnTo>
                <a:lnTo>
                  <a:pt x="89" y="105"/>
                </a:lnTo>
                <a:lnTo>
                  <a:pt x="34" y="138"/>
                </a:lnTo>
                <a:lnTo>
                  <a:pt x="55" y="85"/>
                </a:lnTo>
                <a:lnTo>
                  <a:pt x="0" y="53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79" name="Freeform 547">
            <a:extLst>
              <a:ext uri="{FF2B5EF4-FFF2-40B4-BE49-F238E27FC236}">
                <a16:creationId xmlns:a16="http://schemas.microsoft.com/office/drawing/2014/main" id="{3F44F281-8FCB-CC5A-6509-3DE38EDE3FB4}"/>
              </a:ext>
            </a:extLst>
          </p:cNvPr>
          <p:cNvSpPr>
            <a:spLocks/>
          </p:cNvSpPr>
          <p:nvPr/>
        </p:nvSpPr>
        <p:spPr bwMode="auto">
          <a:xfrm>
            <a:off x="4815939" y="5201182"/>
            <a:ext cx="254484" cy="226965"/>
          </a:xfrm>
          <a:custGeom>
            <a:avLst/>
            <a:gdLst>
              <a:gd name="T0" fmla="*/ 0 w 178"/>
              <a:gd name="T1" fmla="*/ 53 h 138"/>
              <a:gd name="T2" fmla="*/ 68 w 178"/>
              <a:gd name="T3" fmla="*/ 53 h 138"/>
              <a:gd name="T4" fmla="*/ 89 w 178"/>
              <a:gd name="T5" fmla="*/ 0 h 138"/>
              <a:gd name="T6" fmla="*/ 110 w 178"/>
              <a:gd name="T7" fmla="*/ 53 h 138"/>
              <a:gd name="T8" fmla="*/ 178 w 178"/>
              <a:gd name="T9" fmla="*/ 53 h 138"/>
              <a:gd name="T10" fmla="*/ 123 w 178"/>
              <a:gd name="T11" fmla="*/ 85 h 138"/>
              <a:gd name="T12" fmla="*/ 144 w 178"/>
              <a:gd name="T13" fmla="*/ 138 h 138"/>
              <a:gd name="T14" fmla="*/ 89 w 178"/>
              <a:gd name="T15" fmla="*/ 105 h 138"/>
              <a:gd name="T16" fmla="*/ 34 w 178"/>
              <a:gd name="T17" fmla="*/ 138 h 138"/>
              <a:gd name="T18" fmla="*/ 55 w 178"/>
              <a:gd name="T19" fmla="*/ 85 h 138"/>
              <a:gd name="T20" fmla="*/ 0 w 178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8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0" y="53"/>
                </a:lnTo>
                <a:lnTo>
                  <a:pt x="178" y="53"/>
                </a:lnTo>
                <a:lnTo>
                  <a:pt x="123" y="85"/>
                </a:lnTo>
                <a:lnTo>
                  <a:pt x="144" y="138"/>
                </a:lnTo>
                <a:lnTo>
                  <a:pt x="89" y="105"/>
                </a:lnTo>
                <a:lnTo>
                  <a:pt x="34" y="138"/>
                </a:lnTo>
                <a:lnTo>
                  <a:pt x="55" y="85"/>
                </a:lnTo>
                <a:lnTo>
                  <a:pt x="0" y="53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80" name="Freeform 548">
            <a:extLst>
              <a:ext uri="{FF2B5EF4-FFF2-40B4-BE49-F238E27FC236}">
                <a16:creationId xmlns:a16="http://schemas.microsoft.com/office/drawing/2014/main" id="{18F0DF3A-B8A3-D28C-3D1C-42A8C4685625}"/>
              </a:ext>
            </a:extLst>
          </p:cNvPr>
          <p:cNvSpPr>
            <a:spLocks/>
          </p:cNvSpPr>
          <p:nvPr/>
        </p:nvSpPr>
        <p:spPr bwMode="auto">
          <a:xfrm>
            <a:off x="5084719" y="5201182"/>
            <a:ext cx="254484" cy="226965"/>
          </a:xfrm>
          <a:custGeom>
            <a:avLst/>
            <a:gdLst>
              <a:gd name="T0" fmla="*/ 0 w 178"/>
              <a:gd name="T1" fmla="*/ 53 h 138"/>
              <a:gd name="T2" fmla="*/ 68 w 178"/>
              <a:gd name="T3" fmla="*/ 53 h 138"/>
              <a:gd name="T4" fmla="*/ 89 w 178"/>
              <a:gd name="T5" fmla="*/ 0 h 138"/>
              <a:gd name="T6" fmla="*/ 111 w 178"/>
              <a:gd name="T7" fmla="*/ 53 h 138"/>
              <a:gd name="T8" fmla="*/ 178 w 178"/>
              <a:gd name="T9" fmla="*/ 53 h 138"/>
              <a:gd name="T10" fmla="*/ 123 w 178"/>
              <a:gd name="T11" fmla="*/ 85 h 138"/>
              <a:gd name="T12" fmla="*/ 145 w 178"/>
              <a:gd name="T13" fmla="*/ 138 h 138"/>
              <a:gd name="T14" fmla="*/ 89 w 178"/>
              <a:gd name="T15" fmla="*/ 105 h 138"/>
              <a:gd name="T16" fmla="*/ 34 w 178"/>
              <a:gd name="T17" fmla="*/ 138 h 138"/>
              <a:gd name="T18" fmla="*/ 56 w 178"/>
              <a:gd name="T19" fmla="*/ 85 h 138"/>
              <a:gd name="T20" fmla="*/ 0 w 178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8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1" y="53"/>
                </a:lnTo>
                <a:lnTo>
                  <a:pt x="178" y="53"/>
                </a:lnTo>
                <a:lnTo>
                  <a:pt x="123" y="85"/>
                </a:lnTo>
                <a:lnTo>
                  <a:pt x="145" y="138"/>
                </a:lnTo>
                <a:lnTo>
                  <a:pt x="89" y="105"/>
                </a:lnTo>
                <a:lnTo>
                  <a:pt x="34" y="138"/>
                </a:lnTo>
                <a:lnTo>
                  <a:pt x="56" y="85"/>
                </a:lnTo>
                <a:lnTo>
                  <a:pt x="0" y="53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81" name="Freeform 549">
            <a:extLst>
              <a:ext uri="{FF2B5EF4-FFF2-40B4-BE49-F238E27FC236}">
                <a16:creationId xmlns:a16="http://schemas.microsoft.com/office/drawing/2014/main" id="{1B9A6061-B7B7-92BC-6EE3-D89709FDC433}"/>
              </a:ext>
            </a:extLst>
          </p:cNvPr>
          <p:cNvSpPr>
            <a:spLocks/>
          </p:cNvSpPr>
          <p:nvPr/>
        </p:nvSpPr>
        <p:spPr bwMode="auto">
          <a:xfrm>
            <a:off x="5084719" y="5201182"/>
            <a:ext cx="254484" cy="226965"/>
          </a:xfrm>
          <a:custGeom>
            <a:avLst/>
            <a:gdLst>
              <a:gd name="T0" fmla="*/ 0 w 178"/>
              <a:gd name="T1" fmla="*/ 53 h 138"/>
              <a:gd name="T2" fmla="*/ 68 w 178"/>
              <a:gd name="T3" fmla="*/ 53 h 138"/>
              <a:gd name="T4" fmla="*/ 89 w 178"/>
              <a:gd name="T5" fmla="*/ 0 h 138"/>
              <a:gd name="T6" fmla="*/ 111 w 178"/>
              <a:gd name="T7" fmla="*/ 53 h 138"/>
              <a:gd name="T8" fmla="*/ 178 w 178"/>
              <a:gd name="T9" fmla="*/ 53 h 138"/>
              <a:gd name="T10" fmla="*/ 123 w 178"/>
              <a:gd name="T11" fmla="*/ 85 h 138"/>
              <a:gd name="T12" fmla="*/ 145 w 178"/>
              <a:gd name="T13" fmla="*/ 138 h 138"/>
              <a:gd name="T14" fmla="*/ 89 w 178"/>
              <a:gd name="T15" fmla="*/ 105 h 138"/>
              <a:gd name="T16" fmla="*/ 34 w 178"/>
              <a:gd name="T17" fmla="*/ 138 h 138"/>
              <a:gd name="T18" fmla="*/ 56 w 178"/>
              <a:gd name="T19" fmla="*/ 85 h 138"/>
              <a:gd name="T20" fmla="*/ 0 w 178"/>
              <a:gd name="T21" fmla="*/ 53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8">
                <a:moveTo>
                  <a:pt x="0" y="53"/>
                </a:moveTo>
                <a:lnTo>
                  <a:pt x="68" y="53"/>
                </a:lnTo>
                <a:lnTo>
                  <a:pt x="89" y="0"/>
                </a:lnTo>
                <a:lnTo>
                  <a:pt x="111" y="53"/>
                </a:lnTo>
                <a:lnTo>
                  <a:pt x="178" y="53"/>
                </a:lnTo>
                <a:lnTo>
                  <a:pt x="123" y="85"/>
                </a:lnTo>
                <a:lnTo>
                  <a:pt x="145" y="138"/>
                </a:lnTo>
                <a:lnTo>
                  <a:pt x="89" y="105"/>
                </a:lnTo>
                <a:lnTo>
                  <a:pt x="34" y="138"/>
                </a:lnTo>
                <a:lnTo>
                  <a:pt x="56" y="85"/>
                </a:lnTo>
                <a:lnTo>
                  <a:pt x="0" y="53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82" name="Rectangle 516">
            <a:extLst>
              <a:ext uri="{FF2B5EF4-FFF2-40B4-BE49-F238E27FC236}">
                <a16:creationId xmlns:a16="http://schemas.microsoft.com/office/drawing/2014/main" id="{AE1DA205-4080-0933-F81C-97C22A5FF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8294" y="5131717"/>
            <a:ext cx="1632699" cy="521363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83" name="Freeform 560">
            <a:extLst>
              <a:ext uri="{FF2B5EF4-FFF2-40B4-BE49-F238E27FC236}">
                <a16:creationId xmlns:a16="http://schemas.microsoft.com/office/drawing/2014/main" id="{DE3A3ED0-CB84-3E44-25E2-3D5B50535E9A}"/>
              </a:ext>
            </a:extLst>
          </p:cNvPr>
          <p:cNvSpPr>
            <a:spLocks/>
          </p:cNvSpPr>
          <p:nvPr/>
        </p:nvSpPr>
        <p:spPr bwMode="auto">
          <a:xfrm>
            <a:off x="5682668" y="5245200"/>
            <a:ext cx="255914" cy="222031"/>
          </a:xfrm>
          <a:custGeom>
            <a:avLst/>
            <a:gdLst>
              <a:gd name="T0" fmla="*/ 0 w 179"/>
              <a:gd name="T1" fmla="*/ 52 h 135"/>
              <a:gd name="T2" fmla="*/ 69 w 179"/>
              <a:gd name="T3" fmla="*/ 52 h 135"/>
              <a:gd name="T4" fmla="*/ 89 w 179"/>
              <a:gd name="T5" fmla="*/ 0 h 135"/>
              <a:gd name="T6" fmla="*/ 111 w 179"/>
              <a:gd name="T7" fmla="*/ 52 h 135"/>
              <a:gd name="T8" fmla="*/ 179 w 179"/>
              <a:gd name="T9" fmla="*/ 52 h 135"/>
              <a:gd name="T10" fmla="*/ 124 w 179"/>
              <a:gd name="T11" fmla="*/ 84 h 135"/>
              <a:gd name="T12" fmla="*/ 145 w 179"/>
              <a:gd name="T13" fmla="*/ 135 h 135"/>
              <a:gd name="T14" fmla="*/ 89 w 179"/>
              <a:gd name="T15" fmla="*/ 104 h 135"/>
              <a:gd name="T16" fmla="*/ 34 w 179"/>
              <a:gd name="T17" fmla="*/ 135 h 135"/>
              <a:gd name="T18" fmla="*/ 56 w 179"/>
              <a:gd name="T19" fmla="*/ 84 h 135"/>
              <a:gd name="T20" fmla="*/ 0 w 179"/>
              <a:gd name="T21" fmla="*/ 52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9" h="135">
                <a:moveTo>
                  <a:pt x="0" y="52"/>
                </a:moveTo>
                <a:lnTo>
                  <a:pt x="69" y="52"/>
                </a:lnTo>
                <a:lnTo>
                  <a:pt x="89" y="0"/>
                </a:lnTo>
                <a:lnTo>
                  <a:pt x="111" y="52"/>
                </a:lnTo>
                <a:lnTo>
                  <a:pt x="179" y="52"/>
                </a:lnTo>
                <a:lnTo>
                  <a:pt x="124" y="84"/>
                </a:lnTo>
                <a:lnTo>
                  <a:pt x="145" y="135"/>
                </a:lnTo>
                <a:lnTo>
                  <a:pt x="89" y="104"/>
                </a:lnTo>
                <a:lnTo>
                  <a:pt x="34" y="135"/>
                </a:lnTo>
                <a:lnTo>
                  <a:pt x="56" y="84"/>
                </a:lnTo>
                <a:lnTo>
                  <a:pt x="0" y="5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84" name="Freeform 561">
            <a:extLst>
              <a:ext uri="{FF2B5EF4-FFF2-40B4-BE49-F238E27FC236}">
                <a16:creationId xmlns:a16="http://schemas.microsoft.com/office/drawing/2014/main" id="{97F469B5-0F3B-83EA-7546-C150D691947F}"/>
              </a:ext>
            </a:extLst>
          </p:cNvPr>
          <p:cNvSpPr>
            <a:spLocks/>
          </p:cNvSpPr>
          <p:nvPr/>
        </p:nvSpPr>
        <p:spPr bwMode="auto">
          <a:xfrm>
            <a:off x="5682668" y="5245200"/>
            <a:ext cx="255914" cy="222031"/>
          </a:xfrm>
          <a:custGeom>
            <a:avLst/>
            <a:gdLst>
              <a:gd name="T0" fmla="*/ 0 w 179"/>
              <a:gd name="T1" fmla="*/ 52 h 135"/>
              <a:gd name="T2" fmla="*/ 69 w 179"/>
              <a:gd name="T3" fmla="*/ 52 h 135"/>
              <a:gd name="T4" fmla="*/ 89 w 179"/>
              <a:gd name="T5" fmla="*/ 0 h 135"/>
              <a:gd name="T6" fmla="*/ 111 w 179"/>
              <a:gd name="T7" fmla="*/ 52 h 135"/>
              <a:gd name="T8" fmla="*/ 179 w 179"/>
              <a:gd name="T9" fmla="*/ 52 h 135"/>
              <a:gd name="T10" fmla="*/ 124 w 179"/>
              <a:gd name="T11" fmla="*/ 84 h 135"/>
              <a:gd name="T12" fmla="*/ 145 w 179"/>
              <a:gd name="T13" fmla="*/ 135 h 135"/>
              <a:gd name="T14" fmla="*/ 89 w 179"/>
              <a:gd name="T15" fmla="*/ 104 h 135"/>
              <a:gd name="T16" fmla="*/ 34 w 179"/>
              <a:gd name="T17" fmla="*/ 135 h 135"/>
              <a:gd name="T18" fmla="*/ 56 w 179"/>
              <a:gd name="T19" fmla="*/ 84 h 135"/>
              <a:gd name="T20" fmla="*/ 0 w 179"/>
              <a:gd name="T21" fmla="*/ 52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9" h="135">
                <a:moveTo>
                  <a:pt x="0" y="52"/>
                </a:moveTo>
                <a:lnTo>
                  <a:pt x="69" y="52"/>
                </a:lnTo>
                <a:lnTo>
                  <a:pt x="89" y="0"/>
                </a:lnTo>
                <a:lnTo>
                  <a:pt x="111" y="52"/>
                </a:lnTo>
                <a:lnTo>
                  <a:pt x="179" y="52"/>
                </a:lnTo>
                <a:lnTo>
                  <a:pt x="124" y="84"/>
                </a:lnTo>
                <a:lnTo>
                  <a:pt x="145" y="135"/>
                </a:lnTo>
                <a:lnTo>
                  <a:pt x="89" y="104"/>
                </a:lnTo>
                <a:lnTo>
                  <a:pt x="34" y="135"/>
                </a:lnTo>
                <a:lnTo>
                  <a:pt x="56" y="84"/>
                </a:lnTo>
                <a:lnTo>
                  <a:pt x="0" y="5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85" name="Freeform 562">
            <a:extLst>
              <a:ext uri="{FF2B5EF4-FFF2-40B4-BE49-F238E27FC236}">
                <a16:creationId xmlns:a16="http://schemas.microsoft.com/office/drawing/2014/main" id="{F56E27B2-7857-54CD-4744-CB1D8287EDC2}"/>
              </a:ext>
            </a:extLst>
          </p:cNvPr>
          <p:cNvSpPr>
            <a:spLocks/>
          </p:cNvSpPr>
          <p:nvPr/>
        </p:nvSpPr>
        <p:spPr bwMode="auto">
          <a:xfrm>
            <a:off x="5952879" y="5245200"/>
            <a:ext cx="254484" cy="222031"/>
          </a:xfrm>
          <a:custGeom>
            <a:avLst/>
            <a:gdLst>
              <a:gd name="T0" fmla="*/ 0 w 178"/>
              <a:gd name="T1" fmla="*/ 52 h 135"/>
              <a:gd name="T2" fmla="*/ 68 w 178"/>
              <a:gd name="T3" fmla="*/ 52 h 135"/>
              <a:gd name="T4" fmla="*/ 89 w 178"/>
              <a:gd name="T5" fmla="*/ 0 h 135"/>
              <a:gd name="T6" fmla="*/ 110 w 178"/>
              <a:gd name="T7" fmla="*/ 52 h 135"/>
              <a:gd name="T8" fmla="*/ 178 w 178"/>
              <a:gd name="T9" fmla="*/ 52 h 135"/>
              <a:gd name="T10" fmla="*/ 123 w 178"/>
              <a:gd name="T11" fmla="*/ 84 h 135"/>
              <a:gd name="T12" fmla="*/ 144 w 178"/>
              <a:gd name="T13" fmla="*/ 135 h 135"/>
              <a:gd name="T14" fmla="*/ 89 w 178"/>
              <a:gd name="T15" fmla="*/ 104 h 135"/>
              <a:gd name="T16" fmla="*/ 34 w 178"/>
              <a:gd name="T17" fmla="*/ 135 h 135"/>
              <a:gd name="T18" fmla="*/ 55 w 178"/>
              <a:gd name="T19" fmla="*/ 84 h 135"/>
              <a:gd name="T20" fmla="*/ 0 w 178"/>
              <a:gd name="T21" fmla="*/ 52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5">
                <a:moveTo>
                  <a:pt x="0" y="52"/>
                </a:moveTo>
                <a:lnTo>
                  <a:pt x="68" y="52"/>
                </a:lnTo>
                <a:lnTo>
                  <a:pt x="89" y="0"/>
                </a:lnTo>
                <a:lnTo>
                  <a:pt x="110" y="52"/>
                </a:lnTo>
                <a:lnTo>
                  <a:pt x="178" y="52"/>
                </a:lnTo>
                <a:lnTo>
                  <a:pt x="123" y="84"/>
                </a:lnTo>
                <a:lnTo>
                  <a:pt x="144" y="135"/>
                </a:lnTo>
                <a:lnTo>
                  <a:pt x="89" y="104"/>
                </a:lnTo>
                <a:lnTo>
                  <a:pt x="34" y="135"/>
                </a:lnTo>
                <a:lnTo>
                  <a:pt x="55" y="84"/>
                </a:lnTo>
                <a:lnTo>
                  <a:pt x="0" y="5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86" name="Freeform 563">
            <a:extLst>
              <a:ext uri="{FF2B5EF4-FFF2-40B4-BE49-F238E27FC236}">
                <a16:creationId xmlns:a16="http://schemas.microsoft.com/office/drawing/2014/main" id="{8229B752-B3F0-01A8-D16C-76C6FAE34720}"/>
              </a:ext>
            </a:extLst>
          </p:cNvPr>
          <p:cNvSpPr>
            <a:spLocks/>
          </p:cNvSpPr>
          <p:nvPr/>
        </p:nvSpPr>
        <p:spPr bwMode="auto">
          <a:xfrm>
            <a:off x="5952879" y="5245200"/>
            <a:ext cx="254484" cy="222031"/>
          </a:xfrm>
          <a:custGeom>
            <a:avLst/>
            <a:gdLst>
              <a:gd name="T0" fmla="*/ 0 w 178"/>
              <a:gd name="T1" fmla="*/ 52 h 135"/>
              <a:gd name="T2" fmla="*/ 68 w 178"/>
              <a:gd name="T3" fmla="*/ 52 h 135"/>
              <a:gd name="T4" fmla="*/ 89 w 178"/>
              <a:gd name="T5" fmla="*/ 0 h 135"/>
              <a:gd name="T6" fmla="*/ 110 w 178"/>
              <a:gd name="T7" fmla="*/ 52 h 135"/>
              <a:gd name="T8" fmla="*/ 178 w 178"/>
              <a:gd name="T9" fmla="*/ 52 h 135"/>
              <a:gd name="T10" fmla="*/ 123 w 178"/>
              <a:gd name="T11" fmla="*/ 84 h 135"/>
              <a:gd name="T12" fmla="*/ 144 w 178"/>
              <a:gd name="T13" fmla="*/ 135 h 135"/>
              <a:gd name="T14" fmla="*/ 89 w 178"/>
              <a:gd name="T15" fmla="*/ 104 h 135"/>
              <a:gd name="T16" fmla="*/ 34 w 178"/>
              <a:gd name="T17" fmla="*/ 135 h 135"/>
              <a:gd name="T18" fmla="*/ 55 w 178"/>
              <a:gd name="T19" fmla="*/ 84 h 135"/>
              <a:gd name="T20" fmla="*/ 0 w 178"/>
              <a:gd name="T21" fmla="*/ 52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5">
                <a:moveTo>
                  <a:pt x="0" y="52"/>
                </a:moveTo>
                <a:lnTo>
                  <a:pt x="68" y="52"/>
                </a:lnTo>
                <a:lnTo>
                  <a:pt x="89" y="0"/>
                </a:lnTo>
                <a:lnTo>
                  <a:pt x="110" y="52"/>
                </a:lnTo>
                <a:lnTo>
                  <a:pt x="178" y="52"/>
                </a:lnTo>
                <a:lnTo>
                  <a:pt x="123" y="84"/>
                </a:lnTo>
                <a:lnTo>
                  <a:pt x="144" y="135"/>
                </a:lnTo>
                <a:lnTo>
                  <a:pt x="89" y="104"/>
                </a:lnTo>
                <a:lnTo>
                  <a:pt x="34" y="135"/>
                </a:lnTo>
                <a:lnTo>
                  <a:pt x="55" y="84"/>
                </a:lnTo>
                <a:lnTo>
                  <a:pt x="0" y="5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87" name="Freeform 564">
            <a:extLst>
              <a:ext uri="{FF2B5EF4-FFF2-40B4-BE49-F238E27FC236}">
                <a16:creationId xmlns:a16="http://schemas.microsoft.com/office/drawing/2014/main" id="{5F4A4C0F-818B-299D-6CCA-B64F6CE1E15E}"/>
              </a:ext>
            </a:extLst>
          </p:cNvPr>
          <p:cNvSpPr>
            <a:spLocks/>
          </p:cNvSpPr>
          <p:nvPr/>
        </p:nvSpPr>
        <p:spPr bwMode="auto">
          <a:xfrm>
            <a:off x="6223089" y="5245200"/>
            <a:ext cx="248765" cy="222031"/>
          </a:xfrm>
          <a:custGeom>
            <a:avLst/>
            <a:gdLst>
              <a:gd name="T0" fmla="*/ 0 w 174"/>
              <a:gd name="T1" fmla="*/ 52 h 135"/>
              <a:gd name="T2" fmla="*/ 66 w 174"/>
              <a:gd name="T3" fmla="*/ 52 h 135"/>
              <a:gd name="T4" fmla="*/ 87 w 174"/>
              <a:gd name="T5" fmla="*/ 0 h 135"/>
              <a:gd name="T6" fmla="*/ 108 w 174"/>
              <a:gd name="T7" fmla="*/ 52 h 135"/>
              <a:gd name="T8" fmla="*/ 174 w 174"/>
              <a:gd name="T9" fmla="*/ 52 h 135"/>
              <a:gd name="T10" fmla="*/ 120 w 174"/>
              <a:gd name="T11" fmla="*/ 84 h 135"/>
              <a:gd name="T12" fmla="*/ 141 w 174"/>
              <a:gd name="T13" fmla="*/ 135 h 135"/>
              <a:gd name="T14" fmla="*/ 87 w 174"/>
              <a:gd name="T15" fmla="*/ 104 h 135"/>
              <a:gd name="T16" fmla="*/ 33 w 174"/>
              <a:gd name="T17" fmla="*/ 135 h 135"/>
              <a:gd name="T18" fmla="*/ 54 w 174"/>
              <a:gd name="T19" fmla="*/ 84 h 135"/>
              <a:gd name="T20" fmla="*/ 0 w 174"/>
              <a:gd name="T21" fmla="*/ 52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4" h="135">
                <a:moveTo>
                  <a:pt x="0" y="52"/>
                </a:moveTo>
                <a:lnTo>
                  <a:pt x="66" y="52"/>
                </a:lnTo>
                <a:lnTo>
                  <a:pt x="87" y="0"/>
                </a:lnTo>
                <a:lnTo>
                  <a:pt x="108" y="52"/>
                </a:lnTo>
                <a:lnTo>
                  <a:pt x="174" y="52"/>
                </a:lnTo>
                <a:lnTo>
                  <a:pt x="120" y="84"/>
                </a:lnTo>
                <a:lnTo>
                  <a:pt x="141" y="135"/>
                </a:lnTo>
                <a:lnTo>
                  <a:pt x="87" y="104"/>
                </a:lnTo>
                <a:lnTo>
                  <a:pt x="33" y="135"/>
                </a:lnTo>
                <a:lnTo>
                  <a:pt x="54" y="84"/>
                </a:lnTo>
                <a:lnTo>
                  <a:pt x="0" y="5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88" name="Freeform 565">
            <a:extLst>
              <a:ext uri="{FF2B5EF4-FFF2-40B4-BE49-F238E27FC236}">
                <a16:creationId xmlns:a16="http://schemas.microsoft.com/office/drawing/2014/main" id="{7481DE4B-75F3-4CF9-1025-D2634F850675}"/>
              </a:ext>
            </a:extLst>
          </p:cNvPr>
          <p:cNvSpPr>
            <a:spLocks/>
          </p:cNvSpPr>
          <p:nvPr/>
        </p:nvSpPr>
        <p:spPr bwMode="auto">
          <a:xfrm>
            <a:off x="6223089" y="5245200"/>
            <a:ext cx="248765" cy="222031"/>
          </a:xfrm>
          <a:custGeom>
            <a:avLst/>
            <a:gdLst>
              <a:gd name="T0" fmla="*/ 0 w 174"/>
              <a:gd name="T1" fmla="*/ 52 h 135"/>
              <a:gd name="T2" fmla="*/ 66 w 174"/>
              <a:gd name="T3" fmla="*/ 52 h 135"/>
              <a:gd name="T4" fmla="*/ 87 w 174"/>
              <a:gd name="T5" fmla="*/ 0 h 135"/>
              <a:gd name="T6" fmla="*/ 108 w 174"/>
              <a:gd name="T7" fmla="*/ 52 h 135"/>
              <a:gd name="T8" fmla="*/ 174 w 174"/>
              <a:gd name="T9" fmla="*/ 52 h 135"/>
              <a:gd name="T10" fmla="*/ 120 w 174"/>
              <a:gd name="T11" fmla="*/ 84 h 135"/>
              <a:gd name="T12" fmla="*/ 141 w 174"/>
              <a:gd name="T13" fmla="*/ 135 h 135"/>
              <a:gd name="T14" fmla="*/ 87 w 174"/>
              <a:gd name="T15" fmla="*/ 104 h 135"/>
              <a:gd name="T16" fmla="*/ 33 w 174"/>
              <a:gd name="T17" fmla="*/ 135 h 135"/>
              <a:gd name="T18" fmla="*/ 54 w 174"/>
              <a:gd name="T19" fmla="*/ 84 h 135"/>
              <a:gd name="T20" fmla="*/ 0 w 174"/>
              <a:gd name="T21" fmla="*/ 52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4" h="135">
                <a:moveTo>
                  <a:pt x="0" y="52"/>
                </a:moveTo>
                <a:lnTo>
                  <a:pt x="66" y="52"/>
                </a:lnTo>
                <a:lnTo>
                  <a:pt x="87" y="0"/>
                </a:lnTo>
                <a:lnTo>
                  <a:pt x="108" y="52"/>
                </a:lnTo>
                <a:lnTo>
                  <a:pt x="174" y="52"/>
                </a:lnTo>
                <a:lnTo>
                  <a:pt x="120" y="84"/>
                </a:lnTo>
                <a:lnTo>
                  <a:pt x="141" y="135"/>
                </a:lnTo>
                <a:lnTo>
                  <a:pt x="87" y="104"/>
                </a:lnTo>
                <a:lnTo>
                  <a:pt x="33" y="135"/>
                </a:lnTo>
                <a:lnTo>
                  <a:pt x="54" y="84"/>
                </a:lnTo>
                <a:lnTo>
                  <a:pt x="0" y="5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89" name="Freeform 566">
            <a:extLst>
              <a:ext uri="{FF2B5EF4-FFF2-40B4-BE49-F238E27FC236}">
                <a16:creationId xmlns:a16="http://schemas.microsoft.com/office/drawing/2014/main" id="{B0E12B18-8571-86D1-3674-7B94F45D5337}"/>
              </a:ext>
            </a:extLst>
          </p:cNvPr>
          <p:cNvSpPr>
            <a:spLocks/>
          </p:cNvSpPr>
          <p:nvPr/>
        </p:nvSpPr>
        <p:spPr bwMode="auto">
          <a:xfrm>
            <a:off x="6487580" y="5245200"/>
            <a:ext cx="254484" cy="222031"/>
          </a:xfrm>
          <a:custGeom>
            <a:avLst/>
            <a:gdLst>
              <a:gd name="T0" fmla="*/ 0 w 178"/>
              <a:gd name="T1" fmla="*/ 52 h 135"/>
              <a:gd name="T2" fmla="*/ 68 w 178"/>
              <a:gd name="T3" fmla="*/ 52 h 135"/>
              <a:gd name="T4" fmla="*/ 89 w 178"/>
              <a:gd name="T5" fmla="*/ 0 h 135"/>
              <a:gd name="T6" fmla="*/ 110 w 178"/>
              <a:gd name="T7" fmla="*/ 52 h 135"/>
              <a:gd name="T8" fmla="*/ 178 w 178"/>
              <a:gd name="T9" fmla="*/ 52 h 135"/>
              <a:gd name="T10" fmla="*/ 123 w 178"/>
              <a:gd name="T11" fmla="*/ 84 h 135"/>
              <a:gd name="T12" fmla="*/ 144 w 178"/>
              <a:gd name="T13" fmla="*/ 135 h 135"/>
              <a:gd name="T14" fmla="*/ 89 w 178"/>
              <a:gd name="T15" fmla="*/ 104 h 135"/>
              <a:gd name="T16" fmla="*/ 34 w 178"/>
              <a:gd name="T17" fmla="*/ 135 h 135"/>
              <a:gd name="T18" fmla="*/ 55 w 178"/>
              <a:gd name="T19" fmla="*/ 84 h 135"/>
              <a:gd name="T20" fmla="*/ 0 w 178"/>
              <a:gd name="T21" fmla="*/ 52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5">
                <a:moveTo>
                  <a:pt x="0" y="52"/>
                </a:moveTo>
                <a:lnTo>
                  <a:pt x="68" y="52"/>
                </a:lnTo>
                <a:lnTo>
                  <a:pt x="89" y="0"/>
                </a:lnTo>
                <a:lnTo>
                  <a:pt x="110" y="52"/>
                </a:lnTo>
                <a:lnTo>
                  <a:pt x="178" y="52"/>
                </a:lnTo>
                <a:lnTo>
                  <a:pt x="123" y="84"/>
                </a:lnTo>
                <a:lnTo>
                  <a:pt x="144" y="135"/>
                </a:lnTo>
                <a:lnTo>
                  <a:pt x="89" y="104"/>
                </a:lnTo>
                <a:lnTo>
                  <a:pt x="34" y="135"/>
                </a:lnTo>
                <a:lnTo>
                  <a:pt x="55" y="84"/>
                </a:lnTo>
                <a:lnTo>
                  <a:pt x="0" y="52"/>
                </a:lnTo>
                <a:close/>
              </a:path>
            </a:pathLst>
          </a:custGeom>
          <a:solidFill>
            <a:srgbClr val="FFA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90" name="Freeform 567">
            <a:extLst>
              <a:ext uri="{FF2B5EF4-FFF2-40B4-BE49-F238E27FC236}">
                <a16:creationId xmlns:a16="http://schemas.microsoft.com/office/drawing/2014/main" id="{CD980FB1-0212-23F1-5790-D53A8F12253A}"/>
              </a:ext>
            </a:extLst>
          </p:cNvPr>
          <p:cNvSpPr>
            <a:spLocks/>
          </p:cNvSpPr>
          <p:nvPr/>
        </p:nvSpPr>
        <p:spPr bwMode="auto">
          <a:xfrm>
            <a:off x="6487580" y="5245200"/>
            <a:ext cx="254484" cy="222031"/>
          </a:xfrm>
          <a:custGeom>
            <a:avLst/>
            <a:gdLst>
              <a:gd name="T0" fmla="*/ 0 w 178"/>
              <a:gd name="T1" fmla="*/ 52 h 135"/>
              <a:gd name="T2" fmla="*/ 68 w 178"/>
              <a:gd name="T3" fmla="*/ 52 h 135"/>
              <a:gd name="T4" fmla="*/ 89 w 178"/>
              <a:gd name="T5" fmla="*/ 0 h 135"/>
              <a:gd name="T6" fmla="*/ 110 w 178"/>
              <a:gd name="T7" fmla="*/ 52 h 135"/>
              <a:gd name="T8" fmla="*/ 178 w 178"/>
              <a:gd name="T9" fmla="*/ 52 h 135"/>
              <a:gd name="T10" fmla="*/ 123 w 178"/>
              <a:gd name="T11" fmla="*/ 84 h 135"/>
              <a:gd name="T12" fmla="*/ 144 w 178"/>
              <a:gd name="T13" fmla="*/ 135 h 135"/>
              <a:gd name="T14" fmla="*/ 89 w 178"/>
              <a:gd name="T15" fmla="*/ 104 h 135"/>
              <a:gd name="T16" fmla="*/ 34 w 178"/>
              <a:gd name="T17" fmla="*/ 135 h 135"/>
              <a:gd name="T18" fmla="*/ 55 w 178"/>
              <a:gd name="T19" fmla="*/ 84 h 135"/>
              <a:gd name="T20" fmla="*/ 0 w 178"/>
              <a:gd name="T21" fmla="*/ 52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8" h="135">
                <a:moveTo>
                  <a:pt x="0" y="52"/>
                </a:moveTo>
                <a:lnTo>
                  <a:pt x="68" y="52"/>
                </a:lnTo>
                <a:lnTo>
                  <a:pt x="89" y="0"/>
                </a:lnTo>
                <a:lnTo>
                  <a:pt x="110" y="52"/>
                </a:lnTo>
                <a:lnTo>
                  <a:pt x="178" y="52"/>
                </a:lnTo>
                <a:lnTo>
                  <a:pt x="123" y="84"/>
                </a:lnTo>
                <a:lnTo>
                  <a:pt x="144" y="135"/>
                </a:lnTo>
                <a:lnTo>
                  <a:pt x="89" y="104"/>
                </a:lnTo>
                <a:lnTo>
                  <a:pt x="34" y="135"/>
                </a:lnTo>
                <a:lnTo>
                  <a:pt x="55" y="84"/>
                </a:lnTo>
                <a:lnTo>
                  <a:pt x="0" y="5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91" name="Freeform 568">
            <a:extLst>
              <a:ext uri="{FF2B5EF4-FFF2-40B4-BE49-F238E27FC236}">
                <a16:creationId xmlns:a16="http://schemas.microsoft.com/office/drawing/2014/main" id="{87E487FF-2D85-49B5-7E61-91A3660A3D0C}"/>
              </a:ext>
            </a:extLst>
          </p:cNvPr>
          <p:cNvSpPr>
            <a:spLocks/>
          </p:cNvSpPr>
          <p:nvPr/>
        </p:nvSpPr>
        <p:spPr bwMode="auto">
          <a:xfrm>
            <a:off x="6756360" y="5245200"/>
            <a:ext cx="255914" cy="222031"/>
          </a:xfrm>
          <a:custGeom>
            <a:avLst/>
            <a:gdLst>
              <a:gd name="T0" fmla="*/ 0 w 179"/>
              <a:gd name="T1" fmla="*/ 52 h 135"/>
              <a:gd name="T2" fmla="*/ 69 w 179"/>
              <a:gd name="T3" fmla="*/ 52 h 135"/>
              <a:gd name="T4" fmla="*/ 90 w 179"/>
              <a:gd name="T5" fmla="*/ 0 h 135"/>
              <a:gd name="T6" fmla="*/ 111 w 179"/>
              <a:gd name="T7" fmla="*/ 52 h 135"/>
              <a:gd name="T8" fmla="*/ 179 w 179"/>
              <a:gd name="T9" fmla="*/ 52 h 135"/>
              <a:gd name="T10" fmla="*/ 124 w 179"/>
              <a:gd name="T11" fmla="*/ 84 h 135"/>
              <a:gd name="T12" fmla="*/ 145 w 179"/>
              <a:gd name="T13" fmla="*/ 135 h 135"/>
              <a:gd name="T14" fmla="*/ 90 w 179"/>
              <a:gd name="T15" fmla="*/ 104 h 135"/>
              <a:gd name="T16" fmla="*/ 35 w 179"/>
              <a:gd name="T17" fmla="*/ 135 h 135"/>
              <a:gd name="T18" fmla="*/ 56 w 179"/>
              <a:gd name="T19" fmla="*/ 84 h 135"/>
              <a:gd name="T20" fmla="*/ 0 w 179"/>
              <a:gd name="T21" fmla="*/ 52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9" h="135">
                <a:moveTo>
                  <a:pt x="0" y="52"/>
                </a:moveTo>
                <a:lnTo>
                  <a:pt x="69" y="52"/>
                </a:lnTo>
                <a:lnTo>
                  <a:pt x="90" y="0"/>
                </a:lnTo>
                <a:lnTo>
                  <a:pt x="111" y="52"/>
                </a:lnTo>
                <a:lnTo>
                  <a:pt x="179" y="52"/>
                </a:lnTo>
                <a:lnTo>
                  <a:pt x="124" y="84"/>
                </a:lnTo>
                <a:lnTo>
                  <a:pt x="145" y="135"/>
                </a:lnTo>
                <a:lnTo>
                  <a:pt x="90" y="104"/>
                </a:lnTo>
                <a:lnTo>
                  <a:pt x="35" y="135"/>
                </a:lnTo>
                <a:lnTo>
                  <a:pt x="56" y="84"/>
                </a:lnTo>
                <a:lnTo>
                  <a:pt x="0" y="5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92" name="Freeform 569">
            <a:extLst>
              <a:ext uri="{FF2B5EF4-FFF2-40B4-BE49-F238E27FC236}">
                <a16:creationId xmlns:a16="http://schemas.microsoft.com/office/drawing/2014/main" id="{2749DEC3-5C82-0E36-F6BE-90BAF2B48955}"/>
              </a:ext>
            </a:extLst>
          </p:cNvPr>
          <p:cNvSpPr>
            <a:spLocks/>
          </p:cNvSpPr>
          <p:nvPr/>
        </p:nvSpPr>
        <p:spPr bwMode="auto">
          <a:xfrm>
            <a:off x="6756360" y="5245200"/>
            <a:ext cx="255914" cy="222031"/>
          </a:xfrm>
          <a:custGeom>
            <a:avLst/>
            <a:gdLst>
              <a:gd name="T0" fmla="*/ 0 w 179"/>
              <a:gd name="T1" fmla="*/ 52 h 135"/>
              <a:gd name="T2" fmla="*/ 69 w 179"/>
              <a:gd name="T3" fmla="*/ 52 h 135"/>
              <a:gd name="T4" fmla="*/ 90 w 179"/>
              <a:gd name="T5" fmla="*/ 0 h 135"/>
              <a:gd name="T6" fmla="*/ 111 w 179"/>
              <a:gd name="T7" fmla="*/ 52 h 135"/>
              <a:gd name="T8" fmla="*/ 179 w 179"/>
              <a:gd name="T9" fmla="*/ 52 h 135"/>
              <a:gd name="T10" fmla="*/ 124 w 179"/>
              <a:gd name="T11" fmla="*/ 84 h 135"/>
              <a:gd name="T12" fmla="*/ 145 w 179"/>
              <a:gd name="T13" fmla="*/ 135 h 135"/>
              <a:gd name="T14" fmla="*/ 90 w 179"/>
              <a:gd name="T15" fmla="*/ 104 h 135"/>
              <a:gd name="T16" fmla="*/ 35 w 179"/>
              <a:gd name="T17" fmla="*/ 135 h 135"/>
              <a:gd name="T18" fmla="*/ 56 w 179"/>
              <a:gd name="T19" fmla="*/ 84 h 135"/>
              <a:gd name="T20" fmla="*/ 0 w 179"/>
              <a:gd name="T21" fmla="*/ 52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9" h="135">
                <a:moveTo>
                  <a:pt x="0" y="52"/>
                </a:moveTo>
                <a:lnTo>
                  <a:pt x="69" y="52"/>
                </a:lnTo>
                <a:lnTo>
                  <a:pt x="90" y="0"/>
                </a:lnTo>
                <a:lnTo>
                  <a:pt x="111" y="52"/>
                </a:lnTo>
                <a:lnTo>
                  <a:pt x="179" y="52"/>
                </a:lnTo>
                <a:lnTo>
                  <a:pt x="124" y="84"/>
                </a:lnTo>
                <a:lnTo>
                  <a:pt x="145" y="135"/>
                </a:lnTo>
                <a:lnTo>
                  <a:pt x="90" y="104"/>
                </a:lnTo>
                <a:lnTo>
                  <a:pt x="35" y="135"/>
                </a:lnTo>
                <a:lnTo>
                  <a:pt x="56" y="84"/>
                </a:lnTo>
                <a:lnTo>
                  <a:pt x="0" y="52"/>
                </a:lnTo>
                <a:close/>
              </a:path>
            </a:pathLst>
          </a:custGeom>
          <a:noFill/>
          <a:ln w="11113" cap="flat">
            <a:solidFill>
              <a:srgbClr val="FFA5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93" name="Freeform 314">
            <a:extLst>
              <a:ext uri="{FF2B5EF4-FFF2-40B4-BE49-F238E27FC236}">
                <a16:creationId xmlns:a16="http://schemas.microsoft.com/office/drawing/2014/main" id="{53EDF5B5-04DB-EE36-F40F-25A8713E6985}"/>
              </a:ext>
            </a:extLst>
          </p:cNvPr>
          <p:cNvSpPr>
            <a:spLocks/>
          </p:cNvSpPr>
          <p:nvPr/>
        </p:nvSpPr>
        <p:spPr bwMode="auto">
          <a:xfrm>
            <a:off x="399808" y="1392034"/>
            <a:ext cx="361829" cy="264793"/>
          </a:xfrm>
          <a:custGeom>
            <a:avLst/>
            <a:gdLst>
              <a:gd name="T0" fmla="*/ 220 w 220"/>
              <a:gd name="T1" fmla="*/ 0 h 161"/>
              <a:gd name="T2" fmla="*/ 220 w 220"/>
              <a:gd name="T3" fmla="*/ 81 h 161"/>
              <a:gd name="T4" fmla="*/ 110 w 220"/>
              <a:gd name="T5" fmla="*/ 161 h 161"/>
              <a:gd name="T6" fmla="*/ 0 w 220"/>
              <a:gd name="T7" fmla="*/ 81 h 161"/>
              <a:gd name="T8" fmla="*/ 0 w 220"/>
              <a:gd name="T9" fmla="*/ 0 h 161"/>
              <a:gd name="T10" fmla="*/ 220 w 220"/>
              <a:gd name="T11" fmla="*/ 0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0" h="161">
                <a:moveTo>
                  <a:pt x="220" y="0"/>
                </a:moveTo>
                <a:lnTo>
                  <a:pt x="220" y="81"/>
                </a:lnTo>
                <a:lnTo>
                  <a:pt x="110" y="161"/>
                </a:lnTo>
                <a:lnTo>
                  <a:pt x="0" y="81"/>
                </a:lnTo>
                <a:lnTo>
                  <a:pt x="0" y="0"/>
                </a:lnTo>
                <a:lnTo>
                  <a:pt x="220" y="0"/>
                </a:lnTo>
                <a:close/>
              </a:path>
            </a:pathLst>
          </a:custGeom>
          <a:solidFill>
            <a:srgbClr val="00729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94" name="Rectangle 315">
            <a:extLst>
              <a:ext uri="{FF2B5EF4-FFF2-40B4-BE49-F238E27FC236}">
                <a16:creationId xmlns:a16="http://schemas.microsoft.com/office/drawing/2014/main" id="{9DDA8007-64F6-1CBD-3F4F-F8B638DAD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671" y="1401901"/>
            <a:ext cx="99024" cy="2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rgbClr val="FFFFFF"/>
                </a:solidFill>
                <a:latin typeface="+mn-lt"/>
                <a:cs typeface="Arial" panose="020B0604020202020204" pitchFamily="34" charset="0"/>
              </a:rPr>
              <a:t>1</a:t>
            </a:r>
            <a:endParaRPr lang="en-US" altLang="en-US" sz="200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95" name="Freeform 318">
            <a:extLst>
              <a:ext uri="{FF2B5EF4-FFF2-40B4-BE49-F238E27FC236}">
                <a16:creationId xmlns:a16="http://schemas.microsoft.com/office/drawing/2014/main" id="{98B331E7-A6C8-E219-6C6E-601809FCDEAB}"/>
              </a:ext>
            </a:extLst>
          </p:cNvPr>
          <p:cNvSpPr>
            <a:spLocks/>
          </p:cNvSpPr>
          <p:nvPr/>
        </p:nvSpPr>
        <p:spPr bwMode="auto">
          <a:xfrm>
            <a:off x="399808" y="2010432"/>
            <a:ext cx="361829" cy="256569"/>
          </a:xfrm>
          <a:custGeom>
            <a:avLst/>
            <a:gdLst>
              <a:gd name="T0" fmla="*/ 220 w 220"/>
              <a:gd name="T1" fmla="*/ 0 h 156"/>
              <a:gd name="T2" fmla="*/ 220 w 220"/>
              <a:gd name="T3" fmla="*/ 78 h 156"/>
              <a:gd name="T4" fmla="*/ 110 w 220"/>
              <a:gd name="T5" fmla="*/ 156 h 156"/>
              <a:gd name="T6" fmla="*/ 0 w 220"/>
              <a:gd name="T7" fmla="*/ 78 h 156"/>
              <a:gd name="T8" fmla="*/ 0 w 220"/>
              <a:gd name="T9" fmla="*/ 0 h 156"/>
              <a:gd name="T10" fmla="*/ 220 w 220"/>
              <a:gd name="T11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0" h="156">
                <a:moveTo>
                  <a:pt x="220" y="0"/>
                </a:moveTo>
                <a:lnTo>
                  <a:pt x="220" y="78"/>
                </a:lnTo>
                <a:lnTo>
                  <a:pt x="110" y="156"/>
                </a:lnTo>
                <a:lnTo>
                  <a:pt x="0" y="78"/>
                </a:lnTo>
                <a:lnTo>
                  <a:pt x="0" y="0"/>
                </a:lnTo>
                <a:lnTo>
                  <a:pt x="220" y="0"/>
                </a:lnTo>
                <a:close/>
              </a:path>
            </a:pathLst>
          </a:custGeom>
          <a:solidFill>
            <a:srgbClr val="00729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96" name="Rectangle 319">
            <a:extLst>
              <a:ext uri="{FF2B5EF4-FFF2-40B4-BE49-F238E27FC236}">
                <a16:creationId xmlns:a16="http://schemas.microsoft.com/office/drawing/2014/main" id="{4E2E699C-FB94-6D09-3971-82A9FE03B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671" y="2015366"/>
            <a:ext cx="99024" cy="2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rgbClr val="FFFFFF"/>
                </a:solidFill>
                <a:latin typeface="+mn-lt"/>
                <a:cs typeface="Arial" panose="020B0604020202020204" pitchFamily="34" charset="0"/>
              </a:rPr>
              <a:t>2</a:t>
            </a:r>
            <a:endParaRPr lang="en-US" altLang="en-US" sz="200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97" name="Freeform 322">
            <a:extLst>
              <a:ext uri="{FF2B5EF4-FFF2-40B4-BE49-F238E27FC236}">
                <a16:creationId xmlns:a16="http://schemas.microsoft.com/office/drawing/2014/main" id="{EDF0FA74-732E-53B0-BE43-F671C536FA56}"/>
              </a:ext>
            </a:extLst>
          </p:cNvPr>
          <p:cNvSpPr>
            <a:spLocks/>
          </p:cNvSpPr>
          <p:nvPr/>
        </p:nvSpPr>
        <p:spPr bwMode="auto">
          <a:xfrm>
            <a:off x="399808" y="2627185"/>
            <a:ext cx="361829" cy="258214"/>
          </a:xfrm>
          <a:custGeom>
            <a:avLst/>
            <a:gdLst>
              <a:gd name="T0" fmla="*/ 220 w 220"/>
              <a:gd name="T1" fmla="*/ 0 h 157"/>
              <a:gd name="T2" fmla="*/ 220 w 220"/>
              <a:gd name="T3" fmla="*/ 78 h 157"/>
              <a:gd name="T4" fmla="*/ 110 w 220"/>
              <a:gd name="T5" fmla="*/ 157 h 157"/>
              <a:gd name="T6" fmla="*/ 0 w 220"/>
              <a:gd name="T7" fmla="*/ 78 h 157"/>
              <a:gd name="T8" fmla="*/ 0 w 220"/>
              <a:gd name="T9" fmla="*/ 0 h 157"/>
              <a:gd name="T10" fmla="*/ 220 w 220"/>
              <a:gd name="T1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0" h="157">
                <a:moveTo>
                  <a:pt x="220" y="0"/>
                </a:moveTo>
                <a:lnTo>
                  <a:pt x="220" y="78"/>
                </a:lnTo>
                <a:lnTo>
                  <a:pt x="110" y="157"/>
                </a:lnTo>
                <a:lnTo>
                  <a:pt x="0" y="78"/>
                </a:lnTo>
                <a:lnTo>
                  <a:pt x="0" y="0"/>
                </a:lnTo>
                <a:lnTo>
                  <a:pt x="220" y="0"/>
                </a:lnTo>
                <a:close/>
              </a:path>
            </a:pathLst>
          </a:custGeom>
          <a:solidFill>
            <a:srgbClr val="00729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198" name="Rectangle 323">
            <a:extLst>
              <a:ext uri="{FF2B5EF4-FFF2-40B4-BE49-F238E27FC236}">
                <a16:creationId xmlns:a16="http://schemas.microsoft.com/office/drawing/2014/main" id="{02B26E3D-FBF8-8B71-F40E-A49E815EB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671" y="2630474"/>
            <a:ext cx="99024" cy="2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rgbClr val="FFFFFF"/>
                </a:solidFill>
                <a:latin typeface="+mn-lt"/>
                <a:cs typeface="Arial" panose="020B0604020202020204" pitchFamily="34" charset="0"/>
              </a:rPr>
              <a:t>3</a:t>
            </a:r>
            <a:endParaRPr lang="en-US" altLang="en-US" sz="200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99" name="Freeform 326">
            <a:extLst>
              <a:ext uri="{FF2B5EF4-FFF2-40B4-BE49-F238E27FC236}">
                <a16:creationId xmlns:a16="http://schemas.microsoft.com/office/drawing/2014/main" id="{1FA39773-4020-6A7B-E6FF-1128ABB9A00F}"/>
              </a:ext>
            </a:extLst>
          </p:cNvPr>
          <p:cNvSpPr>
            <a:spLocks/>
          </p:cNvSpPr>
          <p:nvPr/>
        </p:nvSpPr>
        <p:spPr bwMode="auto">
          <a:xfrm>
            <a:off x="399808" y="3281033"/>
            <a:ext cx="361829" cy="263148"/>
          </a:xfrm>
          <a:custGeom>
            <a:avLst/>
            <a:gdLst>
              <a:gd name="T0" fmla="*/ 220 w 220"/>
              <a:gd name="T1" fmla="*/ 0 h 160"/>
              <a:gd name="T2" fmla="*/ 220 w 220"/>
              <a:gd name="T3" fmla="*/ 80 h 160"/>
              <a:gd name="T4" fmla="*/ 110 w 220"/>
              <a:gd name="T5" fmla="*/ 160 h 160"/>
              <a:gd name="T6" fmla="*/ 0 w 220"/>
              <a:gd name="T7" fmla="*/ 80 h 160"/>
              <a:gd name="T8" fmla="*/ 0 w 220"/>
              <a:gd name="T9" fmla="*/ 0 h 160"/>
              <a:gd name="T10" fmla="*/ 220 w 220"/>
              <a:gd name="T11" fmla="*/ 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0" h="160">
                <a:moveTo>
                  <a:pt x="220" y="0"/>
                </a:moveTo>
                <a:lnTo>
                  <a:pt x="220" y="80"/>
                </a:lnTo>
                <a:lnTo>
                  <a:pt x="110" y="160"/>
                </a:lnTo>
                <a:lnTo>
                  <a:pt x="0" y="80"/>
                </a:lnTo>
                <a:lnTo>
                  <a:pt x="0" y="0"/>
                </a:lnTo>
                <a:lnTo>
                  <a:pt x="220" y="0"/>
                </a:lnTo>
                <a:close/>
              </a:path>
            </a:pathLst>
          </a:custGeom>
          <a:solidFill>
            <a:srgbClr val="00729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200" name="Rectangle 327">
            <a:extLst>
              <a:ext uri="{FF2B5EF4-FFF2-40B4-BE49-F238E27FC236}">
                <a16:creationId xmlns:a16="http://schemas.microsoft.com/office/drawing/2014/main" id="{F5896676-D439-62C3-F944-41416E2A4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671" y="3287612"/>
            <a:ext cx="99024" cy="2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rgbClr val="FFFFFF"/>
                </a:solidFill>
                <a:latin typeface="+mn-lt"/>
                <a:cs typeface="Arial" panose="020B0604020202020204" pitchFamily="34" charset="0"/>
              </a:rPr>
              <a:t>4</a:t>
            </a:r>
            <a:endParaRPr lang="en-US" altLang="en-US" sz="200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01" name="Freeform 330">
            <a:extLst>
              <a:ext uri="{FF2B5EF4-FFF2-40B4-BE49-F238E27FC236}">
                <a16:creationId xmlns:a16="http://schemas.microsoft.com/office/drawing/2014/main" id="{F68D9AB5-999C-FC79-6C80-0181FA11396A}"/>
              </a:ext>
            </a:extLst>
          </p:cNvPr>
          <p:cNvSpPr>
            <a:spLocks/>
          </p:cNvSpPr>
          <p:nvPr/>
        </p:nvSpPr>
        <p:spPr bwMode="auto">
          <a:xfrm>
            <a:off x="399808" y="3897786"/>
            <a:ext cx="361829" cy="258214"/>
          </a:xfrm>
          <a:custGeom>
            <a:avLst/>
            <a:gdLst>
              <a:gd name="T0" fmla="*/ 220 w 220"/>
              <a:gd name="T1" fmla="*/ 0 h 157"/>
              <a:gd name="T2" fmla="*/ 220 w 220"/>
              <a:gd name="T3" fmla="*/ 79 h 157"/>
              <a:gd name="T4" fmla="*/ 110 w 220"/>
              <a:gd name="T5" fmla="*/ 157 h 157"/>
              <a:gd name="T6" fmla="*/ 0 w 220"/>
              <a:gd name="T7" fmla="*/ 79 h 157"/>
              <a:gd name="T8" fmla="*/ 0 w 220"/>
              <a:gd name="T9" fmla="*/ 0 h 157"/>
              <a:gd name="T10" fmla="*/ 220 w 220"/>
              <a:gd name="T1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0" h="157">
                <a:moveTo>
                  <a:pt x="220" y="0"/>
                </a:moveTo>
                <a:lnTo>
                  <a:pt x="220" y="79"/>
                </a:lnTo>
                <a:lnTo>
                  <a:pt x="110" y="157"/>
                </a:lnTo>
                <a:lnTo>
                  <a:pt x="0" y="79"/>
                </a:lnTo>
                <a:lnTo>
                  <a:pt x="0" y="0"/>
                </a:lnTo>
                <a:lnTo>
                  <a:pt x="220" y="0"/>
                </a:lnTo>
                <a:close/>
              </a:path>
            </a:pathLst>
          </a:custGeom>
          <a:solidFill>
            <a:srgbClr val="00729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202" name="Rectangle 331">
            <a:extLst>
              <a:ext uri="{FF2B5EF4-FFF2-40B4-BE49-F238E27FC236}">
                <a16:creationId xmlns:a16="http://schemas.microsoft.com/office/drawing/2014/main" id="{7AEACD25-B591-BE41-A337-134313F84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671" y="3902720"/>
            <a:ext cx="99024" cy="2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rgbClr val="FFFFFF"/>
                </a:solidFill>
                <a:latin typeface="+mn-lt"/>
                <a:cs typeface="Arial" panose="020B0604020202020204" pitchFamily="34" charset="0"/>
              </a:rPr>
              <a:t>5</a:t>
            </a:r>
            <a:endParaRPr lang="en-US" altLang="en-US" sz="200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03" name="Freeform 334">
            <a:extLst>
              <a:ext uri="{FF2B5EF4-FFF2-40B4-BE49-F238E27FC236}">
                <a16:creationId xmlns:a16="http://schemas.microsoft.com/office/drawing/2014/main" id="{782CAD9C-C553-9317-BC3F-3D68C59D4ACE}"/>
              </a:ext>
            </a:extLst>
          </p:cNvPr>
          <p:cNvSpPr>
            <a:spLocks/>
          </p:cNvSpPr>
          <p:nvPr/>
        </p:nvSpPr>
        <p:spPr bwMode="auto">
          <a:xfrm>
            <a:off x="399808" y="4509606"/>
            <a:ext cx="361829" cy="263148"/>
          </a:xfrm>
          <a:custGeom>
            <a:avLst/>
            <a:gdLst>
              <a:gd name="T0" fmla="*/ 220 w 220"/>
              <a:gd name="T1" fmla="*/ 0 h 160"/>
              <a:gd name="T2" fmla="*/ 220 w 220"/>
              <a:gd name="T3" fmla="*/ 80 h 160"/>
              <a:gd name="T4" fmla="*/ 110 w 220"/>
              <a:gd name="T5" fmla="*/ 160 h 160"/>
              <a:gd name="T6" fmla="*/ 0 w 220"/>
              <a:gd name="T7" fmla="*/ 80 h 160"/>
              <a:gd name="T8" fmla="*/ 0 w 220"/>
              <a:gd name="T9" fmla="*/ 0 h 160"/>
              <a:gd name="T10" fmla="*/ 220 w 220"/>
              <a:gd name="T11" fmla="*/ 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0" h="160">
                <a:moveTo>
                  <a:pt x="220" y="0"/>
                </a:moveTo>
                <a:lnTo>
                  <a:pt x="220" y="80"/>
                </a:lnTo>
                <a:lnTo>
                  <a:pt x="110" y="160"/>
                </a:lnTo>
                <a:lnTo>
                  <a:pt x="0" y="80"/>
                </a:lnTo>
                <a:lnTo>
                  <a:pt x="0" y="0"/>
                </a:lnTo>
                <a:lnTo>
                  <a:pt x="220" y="0"/>
                </a:lnTo>
                <a:close/>
              </a:path>
            </a:pathLst>
          </a:custGeom>
          <a:solidFill>
            <a:srgbClr val="00729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204" name="Rectangle 335">
            <a:extLst>
              <a:ext uri="{FF2B5EF4-FFF2-40B4-BE49-F238E27FC236}">
                <a16:creationId xmlns:a16="http://schemas.microsoft.com/office/drawing/2014/main" id="{3C9170B5-2D49-BB3C-270F-046A10052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671" y="4517829"/>
            <a:ext cx="99024" cy="2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rgbClr val="FFFFFF"/>
                </a:solidFill>
                <a:latin typeface="+mn-lt"/>
                <a:cs typeface="Arial" panose="020B0604020202020204" pitchFamily="34" charset="0"/>
              </a:rPr>
              <a:t>6</a:t>
            </a:r>
            <a:endParaRPr lang="en-US" altLang="en-US" sz="200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05" name="Rectangle 508">
            <a:extLst>
              <a:ext uri="{FF2B5EF4-FFF2-40B4-BE49-F238E27FC236}">
                <a16:creationId xmlns:a16="http://schemas.microsoft.com/office/drawing/2014/main" id="{C104A519-A292-4EEF-871C-C2FC45124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053" y="5141893"/>
            <a:ext cx="99024" cy="2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rgbClr val="FFFFFF"/>
                </a:solidFill>
                <a:latin typeface="+mn-lt"/>
                <a:cs typeface="Arial" panose="020B0604020202020204" pitchFamily="34" charset="0"/>
              </a:rPr>
              <a:t>7</a:t>
            </a:r>
            <a:endParaRPr lang="en-US" altLang="en-US" sz="200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06" name="Freeform 334">
            <a:extLst>
              <a:ext uri="{FF2B5EF4-FFF2-40B4-BE49-F238E27FC236}">
                <a16:creationId xmlns:a16="http://schemas.microsoft.com/office/drawing/2014/main" id="{C0BB31AF-25C3-7858-C9DC-FD6D05840A1D}"/>
              </a:ext>
            </a:extLst>
          </p:cNvPr>
          <p:cNvSpPr>
            <a:spLocks/>
          </p:cNvSpPr>
          <p:nvPr/>
        </p:nvSpPr>
        <p:spPr bwMode="auto">
          <a:xfrm>
            <a:off x="399808" y="5129527"/>
            <a:ext cx="361829" cy="263148"/>
          </a:xfrm>
          <a:custGeom>
            <a:avLst/>
            <a:gdLst>
              <a:gd name="T0" fmla="*/ 220 w 220"/>
              <a:gd name="T1" fmla="*/ 0 h 160"/>
              <a:gd name="T2" fmla="*/ 220 w 220"/>
              <a:gd name="T3" fmla="*/ 80 h 160"/>
              <a:gd name="T4" fmla="*/ 110 w 220"/>
              <a:gd name="T5" fmla="*/ 160 h 160"/>
              <a:gd name="T6" fmla="*/ 0 w 220"/>
              <a:gd name="T7" fmla="*/ 80 h 160"/>
              <a:gd name="T8" fmla="*/ 0 w 220"/>
              <a:gd name="T9" fmla="*/ 0 h 160"/>
              <a:gd name="T10" fmla="*/ 220 w 220"/>
              <a:gd name="T11" fmla="*/ 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0" h="160">
                <a:moveTo>
                  <a:pt x="220" y="0"/>
                </a:moveTo>
                <a:lnTo>
                  <a:pt x="220" y="80"/>
                </a:lnTo>
                <a:lnTo>
                  <a:pt x="110" y="160"/>
                </a:lnTo>
                <a:lnTo>
                  <a:pt x="0" y="80"/>
                </a:lnTo>
                <a:lnTo>
                  <a:pt x="0" y="0"/>
                </a:lnTo>
                <a:lnTo>
                  <a:pt x="220" y="0"/>
                </a:lnTo>
                <a:close/>
              </a:path>
            </a:pathLst>
          </a:custGeom>
          <a:solidFill>
            <a:srgbClr val="00729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207" name="Rectangle 335">
            <a:extLst>
              <a:ext uri="{FF2B5EF4-FFF2-40B4-BE49-F238E27FC236}">
                <a16:creationId xmlns:a16="http://schemas.microsoft.com/office/drawing/2014/main" id="{CB4FB32E-07EA-848D-BCEC-37E352334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671" y="5137750"/>
            <a:ext cx="99024" cy="2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rgbClr val="FFFFFF"/>
                </a:solidFill>
                <a:latin typeface="+mn-lt"/>
                <a:cs typeface="Arial" panose="020B0604020202020204" pitchFamily="34" charset="0"/>
              </a:rPr>
              <a:t>7</a:t>
            </a:r>
            <a:endParaRPr lang="en-US" altLang="en-US" sz="200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186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20AE8D-0C71-4AC4-6E34-75CFF27E677A}"/>
              </a:ext>
            </a:extLst>
          </p:cNvPr>
          <p:cNvSpPr/>
          <p:nvPr/>
        </p:nvSpPr>
        <p:spPr>
          <a:xfrm>
            <a:off x="-1594" y="31489"/>
            <a:ext cx="12192000" cy="1138518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14E2AB7-03AB-494C-9504-BD842DA0F9C1}"/>
              </a:ext>
            </a:extLst>
          </p:cNvPr>
          <p:cNvSpPr txBox="1">
            <a:spLocks/>
          </p:cNvSpPr>
          <p:nvPr/>
        </p:nvSpPr>
        <p:spPr>
          <a:xfrm>
            <a:off x="300311" y="341572"/>
            <a:ext cx="9869897" cy="71671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>
                <a:solidFill>
                  <a:schemeClr val="tx1">
                    <a:lumMod val="95000"/>
                  </a:schemeClr>
                </a:solidFill>
              </a:rPr>
              <a:t>Commercials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6EAE617-70B9-985D-B31A-450EE758D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6305" y="74045"/>
            <a:ext cx="3070440" cy="84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C664D17-2567-13CF-7E85-51EE6E136814}"/>
              </a:ext>
            </a:extLst>
          </p:cNvPr>
          <p:cNvSpPr/>
          <p:nvPr/>
        </p:nvSpPr>
        <p:spPr>
          <a:xfrm>
            <a:off x="139920" y="1005691"/>
            <a:ext cx="12050486" cy="84564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spcBef>
                <a:spcPts val="600"/>
              </a:spcBef>
              <a:buClr>
                <a:srgbClr val="0098C7"/>
              </a:buClr>
              <a:defRPr/>
            </a:pPr>
            <a:r>
              <a:rPr lang="en-US" sz="1400" b="1" kern="0" dirty="0">
                <a:solidFill>
                  <a:prstClr val="white"/>
                </a:solidFill>
                <a:ea typeface="Verdana" panose="020B0604030504040204" pitchFamily="34" charset="0"/>
                <a:cs typeface="Arial" pitchFamily="34" charset="0"/>
              </a:rPr>
              <a:t>Pricing for Proposed Solution, Based on the Scope and Assumptions outlined &amp; GM has secured funding for entire digitalization’s,  </a:t>
            </a:r>
          </a:p>
          <a:p>
            <a:pPr marL="0" lvl="1" algn="ctr">
              <a:spcBef>
                <a:spcPts val="600"/>
              </a:spcBef>
              <a:buClr>
                <a:srgbClr val="0098C7"/>
              </a:buClr>
              <a:defRPr/>
            </a:pPr>
            <a:r>
              <a:rPr lang="en-US" sz="1400" b="1" kern="0" dirty="0">
                <a:solidFill>
                  <a:prstClr val="white"/>
                </a:solidFill>
                <a:ea typeface="Verdana" panose="020B0604030504040204" pitchFamily="34" charset="0"/>
                <a:cs typeface="Arial" pitchFamily="34" charset="0"/>
              </a:rPr>
              <a:t>Vendor’s proposes Fee as outlined below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91940E3-1650-02D2-538A-53CB794819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063048"/>
              </p:ext>
            </p:extLst>
          </p:nvPr>
        </p:nvGraphicFramePr>
        <p:xfrm>
          <a:off x="4088523" y="1862038"/>
          <a:ext cx="4225160" cy="2011680"/>
        </p:xfrm>
        <a:graphic>
          <a:graphicData uri="http://schemas.openxmlformats.org/drawingml/2006/table">
            <a:tbl>
              <a:tblPr/>
              <a:tblGrid>
                <a:gridCol w="914519">
                  <a:extLst>
                    <a:ext uri="{9D8B030D-6E8A-4147-A177-3AD203B41FA5}">
                      <a16:colId xmlns:a16="http://schemas.microsoft.com/office/drawing/2014/main" val="353936074"/>
                    </a:ext>
                  </a:extLst>
                </a:gridCol>
                <a:gridCol w="1501683">
                  <a:extLst>
                    <a:ext uri="{9D8B030D-6E8A-4147-A177-3AD203B41FA5}">
                      <a16:colId xmlns:a16="http://schemas.microsoft.com/office/drawing/2014/main" val="3406456418"/>
                    </a:ext>
                  </a:extLst>
                </a:gridCol>
                <a:gridCol w="1808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332">
                <a:tc>
                  <a:txBody>
                    <a:bodyPr/>
                    <a:lstStyle>
                      <a:lvl1pPr marL="0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519455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038910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558365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2077821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597276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3116731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636188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4155643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indent="0" algn="ctr" fontAlgn="b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Phase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Value Per Phase (US$)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519455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038910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558365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2077821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597276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3116731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636188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4155643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indent="0" algn="ctr" fontAlgn="b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No. of Features delivered*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555">
                <a:tc>
                  <a:txBody>
                    <a:bodyPr/>
                    <a:lstStyle>
                      <a:lvl1pPr marL="0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519455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038910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558365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2077821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597276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3116731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636188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4155643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lvl="5" indent="0" algn="ctr" defTabSz="1038910" rtl="0" eaLnBrk="1" latinLnBrk="0" hangingPunct="1"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Phase -I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5" indent="0" algn="ctr" defTabSz="1038910" rtl="0" eaLnBrk="1" latinLnBrk="0" hangingPunct="1"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$273,949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>
                      <a:lvl1pPr marL="0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519455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038910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558365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2077821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597276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3116731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636188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4155643" algn="l" defTabSz="1038910" rtl="0" eaLnBrk="1" latinLnBrk="0" hangingPunct="1">
                        <a:defRPr sz="20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indent="0" algn="ctr" fontAlgn="b"/>
                      <a:r>
                        <a:rPr lang="en-IN" sz="1200" b="0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Verdana" panose="020B0604030504040204" pitchFamily="34" charset="0"/>
                          <a:cs typeface="+mn-cs"/>
                        </a:rPr>
                        <a:t>TBU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555">
                <a:tc>
                  <a:txBody>
                    <a:bodyPr/>
                    <a:lstStyle/>
                    <a:p>
                      <a:pPr marL="0" lvl="5" indent="0" algn="ctr" defTabSz="1038910" rtl="0" eaLnBrk="1" latinLnBrk="0" hangingPunct="1"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Phase -II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5" indent="0" algn="ctr" defTabSz="1038910" rtl="0" eaLnBrk="1" latinLnBrk="0" hangingPunct="1"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$99,464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/>
                      <a:r>
                        <a:rPr lang="en-IN" sz="1200" b="0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Verdana" panose="020B0604030504040204" pitchFamily="34" charset="0"/>
                          <a:cs typeface="+mn-cs"/>
                        </a:rPr>
                        <a:t>TBU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435589"/>
                  </a:ext>
                </a:extLst>
              </a:tr>
              <a:tr h="323555">
                <a:tc>
                  <a:txBody>
                    <a:bodyPr/>
                    <a:lstStyle/>
                    <a:p>
                      <a:pPr marL="0" lvl="5" indent="0" algn="ctr" defTabSz="1038910" rtl="0" eaLnBrk="1" latinLnBrk="0" hangingPunct="1"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Phase-III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5" indent="0" algn="ctr" defTabSz="103891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$99,464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Verdana" panose="020B0604030504040204" pitchFamily="34" charset="0"/>
                          <a:cs typeface="+mn-cs"/>
                        </a:rPr>
                        <a:t>TBU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462278"/>
                  </a:ext>
                </a:extLst>
              </a:tr>
              <a:tr h="323555">
                <a:tc>
                  <a:txBody>
                    <a:bodyPr/>
                    <a:lstStyle/>
                    <a:p>
                      <a:pPr marL="0" lvl="5" indent="0" algn="ctr" defTabSz="1038910" rtl="0" eaLnBrk="1" latinLnBrk="0" hangingPunct="1"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Phase-IV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5" indent="0" algn="ctr" defTabSz="1038910" rtl="0" eaLnBrk="1" latinLnBrk="0" hangingPunct="1"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151,049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/>
                      <a:r>
                        <a:rPr lang="en-IN" sz="1200" b="0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Verdana" panose="020B0604030504040204" pitchFamily="34" charset="0"/>
                          <a:cs typeface="+mn-cs"/>
                        </a:rPr>
                        <a:t>TBU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183964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DE7843DD-FC76-292C-7F22-C760DACAF945}"/>
              </a:ext>
            </a:extLst>
          </p:cNvPr>
          <p:cNvGrpSpPr/>
          <p:nvPr/>
        </p:nvGrpSpPr>
        <p:grpSpPr>
          <a:xfrm>
            <a:off x="404806" y="3823484"/>
            <a:ext cx="11379201" cy="2214552"/>
            <a:chOff x="6261067" y="845875"/>
            <a:chExt cx="5600701" cy="2296374"/>
          </a:xfrm>
        </p:grpSpPr>
        <p:sp>
          <p:nvSpPr>
            <p:cNvPr id="9" name="Freeform 75">
              <a:extLst>
                <a:ext uri="{FF2B5EF4-FFF2-40B4-BE49-F238E27FC236}">
                  <a16:creationId xmlns:a16="http://schemas.microsoft.com/office/drawing/2014/main" id="{3826D350-6455-130F-D103-DC4A79E8D35D}"/>
                </a:ext>
              </a:extLst>
            </p:cNvPr>
            <p:cNvSpPr>
              <a:spLocks/>
            </p:cNvSpPr>
            <p:nvPr/>
          </p:nvSpPr>
          <p:spPr bwMode="gray">
            <a:xfrm>
              <a:off x="6261067" y="1077615"/>
              <a:ext cx="5600701" cy="20646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91440" rIns="45720" bIns="91440" numCol="1" anchor="t" anchorCtr="0" compatLnSpc="1">
              <a:prstTxWarp prst="textNoShape">
                <a:avLst/>
              </a:prstTxWarp>
            </a:bodyPr>
            <a:lstStyle/>
            <a:p>
              <a:pPr marL="282575" lvl="1" indent="-282575" defTabSz="779202">
                <a:spcBef>
                  <a:spcPts val="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§"/>
                <a:defRPr/>
              </a:pPr>
              <a:r>
                <a:rPr lang="en-IN" sz="1200" b="1" i="0" dirty="0">
                  <a:solidFill>
                    <a:schemeClr val="tx1">
                      <a:lumMod val="95000"/>
                    </a:schemeClr>
                  </a:solidFill>
                  <a:effectLst/>
                  <a:latin typeface="Söhne"/>
                </a:rPr>
                <a:t>Validity:</a:t>
              </a:r>
              <a:r>
                <a:rPr lang="en-IN" sz="1200" b="0" i="0" dirty="0">
                  <a:solidFill>
                    <a:schemeClr val="tx1">
                      <a:lumMod val="95000"/>
                    </a:schemeClr>
                  </a:solidFill>
                  <a:effectLst/>
                  <a:latin typeface="Söhne"/>
                </a:rPr>
                <a:t> Prices quoted in this proposal are valid </a:t>
              </a:r>
              <a:r>
                <a:rPr lang="en-US" sz="1200" dirty="0">
                  <a:solidFill>
                    <a:schemeClr val="tx1">
                      <a:lumMod val="95000"/>
                    </a:schemeClr>
                  </a:solidFill>
                </a:rPr>
                <a:t>a period of 30 days from the date of submission</a:t>
              </a:r>
            </a:p>
            <a:p>
              <a:pPr marL="282575" lvl="1" indent="-282575" defTabSz="779202">
                <a:spcBef>
                  <a:spcPts val="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§"/>
                <a:defRPr/>
              </a:pPr>
              <a:r>
                <a:rPr lang="en-IN" sz="1200" b="1" i="0" dirty="0">
                  <a:solidFill>
                    <a:schemeClr val="tx1">
                      <a:lumMod val="95000"/>
                    </a:schemeClr>
                  </a:solidFill>
                  <a:effectLst/>
                  <a:latin typeface="Söhne"/>
                </a:rPr>
                <a:t>Taxes:</a:t>
              </a:r>
              <a:r>
                <a:rPr lang="en-IN" sz="1200" b="0" i="0" dirty="0">
                  <a:solidFill>
                    <a:schemeClr val="tx1">
                      <a:lumMod val="95000"/>
                    </a:schemeClr>
                  </a:solidFill>
                  <a:effectLst/>
                  <a:latin typeface="Söhne"/>
                </a:rPr>
                <a:t> All prices are exclusive of applicable taxes, which will be added at the time of invoicing.</a:t>
              </a:r>
            </a:p>
            <a:p>
              <a:pPr marL="282575" lvl="1" indent="-282575" defTabSz="779202">
                <a:spcBef>
                  <a:spcPts val="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§"/>
                <a:defRPr/>
              </a:pPr>
              <a:r>
                <a:rPr lang="en-IN" sz="1200" b="1" i="0" dirty="0">
                  <a:solidFill>
                    <a:schemeClr val="tx1">
                      <a:lumMod val="95000"/>
                    </a:schemeClr>
                  </a:solidFill>
                  <a:effectLst/>
                  <a:latin typeface="Söhne"/>
                </a:rPr>
                <a:t>Escalation:</a:t>
              </a:r>
              <a:r>
                <a:rPr lang="en-IN" sz="1200" b="0" i="0" dirty="0">
                  <a:solidFill>
                    <a:schemeClr val="tx1">
                      <a:lumMod val="95000"/>
                    </a:schemeClr>
                  </a:solidFill>
                  <a:effectLst/>
                  <a:latin typeface="Söhne"/>
                </a:rPr>
                <a:t> Pricing may be subject to periodic review and adjustment, with prior notice to the client.</a:t>
              </a:r>
            </a:p>
            <a:p>
              <a:pPr marL="282575" lvl="1" indent="-282575" defTabSz="779202">
                <a:spcBef>
                  <a:spcPts val="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§"/>
                <a:defRPr/>
              </a:pPr>
              <a:r>
                <a:rPr lang="en-IN" sz="1200" b="1" i="0" dirty="0">
                  <a:solidFill>
                    <a:schemeClr val="tx1">
                      <a:lumMod val="95000"/>
                    </a:schemeClr>
                  </a:solidFill>
                  <a:effectLst/>
                  <a:latin typeface="Söhne"/>
                </a:rPr>
                <a:t>Payment Schedule:</a:t>
              </a:r>
              <a:r>
                <a:rPr lang="en-IN" sz="1200" b="0" i="0" dirty="0">
                  <a:solidFill>
                    <a:schemeClr val="tx1">
                      <a:lumMod val="95000"/>
                    </a:schemeClr>
                  </a:solidFill>
                  <a:effectLst/>
                  <a:latin typeface="Söhne"/>
                </a:rPr>
                <a:t> A detailed payment schedule will be provided upon agreement, outlining milestone payments or invoicing intervals.</a:t>
              </a:r>
            </a:p>
          </p:txBody>
        </p:sp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1AB24A28-30F8-5193-67D5-0BD0E2BA4E54}"/>
                </a:ext>
              </a:extLst>
            </p:cNvPr>
            <p:cNvSpPr/>
            <p:nvPr/>
          </p:nvSpPr>
          <p:spPr>
            <a:xfrm>
              <a:off x="6261067" y="845875"/>
              <a:ext cx="5600701" cy="231740"/>
            </a:xfrm>
            <a:prstGeom prst="round2SameRect">
              <a:avLst/>
            </a:prstGeom>
            <a:solidFill>
              <a:schemeClr val="accent1">
                <a:lumMod val="75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defTabSz="778177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IN" sz="1200" b="1" dirty="0">
                  <a:solidFill>
                    <a:schemeClr val="tx1">
                      <a:lumMod val="95000"/>
                    </a:schemeClr>
                  </a:solidFill>
                  <a:latin typeface="Söhne"/>
                </a:rPr>
                <a:t>Terms and Conditions:</a:t>
              </a:r>
              <a:endParaRPr lang="en-US" sz="1200" b="1" dirty="0">
                <a:solidFill>
                  <a:schemeClr val="tx1">
                    <a:lumMod val="95000"/>
                  </a:schemeClr>
                </a:solidFill>
                <a:latin typeface="Söhne"/>
              </a:endParaRPr>
            </a:p>
          </p:txBody>
        </p:sp>
      </p:grp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93B3BD77-F590-F90D-3E68-A100F53AA4E9}"/>
              </a:ext>
            </a:extLst>
          </p:cNvPr>
          <p:cNvSpPr/>
          <p:nvPr/>
        </p:nvSpPr>
        <p:spPr>
          <a:xfrm>
            <a:off x="404806" y="5006662"/>
            <a:ext cx="11379600" cy="256002"/>
          </a:xfrm>
          <a:prstGeom prst="round2Same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defTabSz="77817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1200" b="1" i="0" dirty="0">
                <a:solidFill>
                  <a:schemeClr val="tx1">
                    <a:lumMod val="95000"/>
                  </a:schemeClr>
                </a:solidFill>
                <a:effectLst/>
                <a:latin typeface="Söhne"/>
              </a:rPr>
              <a:t>Proposal Exclusions</a:t>
            </a:r>
            <a:endParaRPr lang="en-US" sz="1200" b="1" i="0" dirty="0">
              <a:solidFill>
                <a:schemeClr val="tx1">
                  <a:lumMod val="95000"/>
                </a:schemeClr>
              </a:solidFill>
              <a:effectLst/>
            </a:endParaRPr>
          </a:p>
        </p:txBody>
      </p:sp>
      <p:sp>
        <p:nvSpPr>
          <p:cNvPr id="12" name="Freeform 75">
            <a:extLst>
              <a:ext uri="{FF2B5EF4-FFF2-40B4-BE49-F238E27FC236}">
                <a16:creationId xmlns:a16="http://schemas.microsoft.com/office/drawing/2014/main" id="{0959D50B-B095-493F-37BD-2E20843DFDF0}"/>
              </a:ext>
            </a:extLst>
          </p:cNvPr>
          <p:cNvSpPr>
            <a:spLocks/>
          </p:cNvSpPr>
          <p:nvPr/>
        </p:nvSpPr>
        <p:spPr bwMode="gray">
          <a:xfrm>
            <a:off x="404807" y="5262664"/>
            <a:ext cx="11379200" cy="83026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91440" rIns="45720" bIns="91440" numCol="1" anchor="t" anchorCtr="0" compatLnSpc="1">
            <a:prstTxWarp prst="textNoShape">
              <a:avLst/>
            </a:prstTxWarp>
          </a:bodyPr>
          <a:lstStyle/>
          <a:p>
            <a:pPr marL="282575" lvl="1" indent="-282575" defTabSz="779202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IN" sz="1200" b="1" dirty="0">
                <a:solidFill>
                  <a:schemeClr val="tx1">
                    <a:lumMod val="95000"/>
                  </a:schemeClr>
                </a:solidFill>
                <a:latin typeface="Söhne"/>
              </a:rPr>
              <a:t>Licenses C</a:t>
            </a:r>
            <a:r>
              <a:rPr lang="en-IN" sz="1200" b="1" i="0" dirty="0">
                <a:solidFill>
                  <a:schemeClr val="tx1">
                    <a:lumMod val="95000"/>
                  </a:schemeClr>
                </a:solidFill>
                <a:effectLst/>
                <a:latin typeface="Söhne"/>
              </a:rPr>
              <a:t>osts:</a:t>
            </a:r>
            <a:r>
              <a:rPr lang="en-IN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Söhne"/>
              </a:rPr>
              <a:t> Licenses costs are not included in the proposed pricing. </a:t>
            </a:r>
          </a:p>
          <a:p>
            <a:pPr marL="282575" lvl="1" indent="-282575" defTabSz="779202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IN" sz="1200" b="1" i="0" dirty="0">
                <a:solidFill>
                  <a:schemeClr val="tx1">
                    <a:lumMod val="95000"/>
                  </a:schemeClr>
                </a:solidFill>
                <a:effectLst/>
                <a:latin typeface="Söhne"/>
              </a:rPr>
              <a:t>Third-party Fees:</a:t>
            </a:r>
            <a:r>
              <a:rPr lang="en-IN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Söhne"/>
              </a:rPr>
              <a:t> Any fees associated with third-party services or integrations are not included in this proposal.</a:t>
            </a:r>
          </a:p>
          <a:p>
            <a:pPr marL="282575" lvl="1" indent="-282575" defTabSz="779202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IN" sz="1200" b="1" i="0" dirty="0">
                <a:solidFill>
                  <a:schemeClr val="tx1">
                    <a:lumMod val="95000"/>
                  </a:schemeClr>
                </a:solidFill>
                <a:effectLst/>
                <a:latin typeface="Söhne"/>
              </a:rPr>
              <a:t>Travel Expenses:</a:t>
            </a:r>
            <a:r>
              <a:rPr lang="en-IN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Söhne"/>
              </a:rPr>
              <a:t> Travel expenses for on-site visits or training sessions are not included and will be billed separately</a:t>
            </a: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389BCC14-9CC6-0C91-6077-57F7780F3C1C}"/>
              </a:ext>
            </a:extLst>
          </p:cNvPr>
          <p:cNvSpPr/>
          <p:nvPr/>
        </p:nvSpPr>
        <p:spPr>
          <a:xfrm>
            <a:off x="387973" y="6038036"/>
            <a:ext cx="11472711" cy="256001"/>
          </a:xfrm>
          <a:prstGeom prst="round2Same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defTabSz="77817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1200" b="1" i="0" dirty="0">
                <a:solidFill>
                  <a:schemeClr val="tx1">
                    <a:lumMod val="95000"/>
                  </a:schemeClr>
                </a:solidFill>
                <a:effectLst/>
                <a:latin typeface="Söhne"/>
              </a:rPr>
              <a:t>Acceptance Criteria:</a:t>
            </a:r>
            <a:endParaRPr lang="en-US" sz="1200" b="1" i="0" dirty="0">
              <a:solidFill>
                <a:schemeClr val="tx1">
                  <a:lumMod val="95000"/>
                </a:schemeClr>
              </a:solidFill>
              <a:effectLst/>
            </a:endParaRPr>
          </a:p>
        </p:txBody>
      </p:sp>
      <p:sp>
        <p:nvSpPr>
          <p:cNvPr id="14" name="Freeform 75">
            <a:extLst>
              <a:ext uri="{FF2B5EF4-FFF2-40B4-BE49-F238E27FC236}">
                <a16:creationId xmlns:a16="http://schemas.microsoft.com/office/drawing/2014/main" id="{185C5428-FE59-937F-317E-A26559545547}"/>
              </a:ext>
            </a:extLst>
          </p:cNvPr>
          <p:cNvSpPr>
            <a:spLocks/>
          </p:cNvSpPr>
          <p:nvPr/>
        </p:nvSpPr>
        <p:spPr bwMode="gray">
          <a:xfrm>
            <a:off x="404806" y="6274823"/>
            <a:ext cx="11399221" cy="54307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91440" rIns="45720" bIns="91440" numCol="1" anchor="t" anchorCtr="0" compatLnSpc="1">
            <a:prstTxWarp prst="textNoShape">
              <a:avLst/>
            </a:prstTxWarp>
          </a:bodyPr>
          <a:lstStyle/>
          <a:p>
            <a:pPr marL="282575" lvl="1" indent="-282575" defTabSz="779202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IN" sz="1200" b="1" i="0" dirty="0">
                <a:solidFill>
                  <a:schemeClr val="tx1">
                    <a:lumMod val="95000"/>
                  </a:schemeClr>
                </a:solidFill>
                <a:effectLst/>
                <a:latin typeface="Söhne"/>
              </a:rPr>
              <a:t>The proposed pricing </a:t>
            </a:r>
            <a:r>
              <a:rPr lang="en-IN" sz="1200" b="0" i="0" dirty="0">
                <a:solidFill>
                  <a:schemeClr val="tx1">
                    <a:lumMod val="95000"/>
                  </a:schemeClr>
                </a:solidFill>
                <a:effectLst/>
                <a:latin typeface="Söhne"/>
              </a:rPr>
              <a:t>is contingent upon acceptance of all terms and conditions outlined in this proposal. Any deviations from these terms may result in adjustments to the pricing structure.. </a:t>
            </a:r>
          </a:p>
        </p:txBody>
      </p:sp>
    </p:spTree>
    <p:extLst>
      <p:ext uri="{BB962C8B-B14F-4D97-AF65-F5344CB8AC3E}">
        <p14:creationId xmlns:p14="http://schemas.microsoft.com/office/powerpoint/2010/main" val="2355126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AE7807-E8D2-8C9A-8F68-79324F9D0291}"/>
              </a:ext>
            </a:extLst>
          </p:cNvPr>
          <p:cNvSpPr/>
          <p:nvPr/>
        </p:nvSpPr>
        <p:spPr>
          <a:xfrm>
            <a:off x="1739545" y="4330741"/>
            <a:ext cx="10051263" cy="2947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D5BEA1-EDCA-1775-0DB1-E3308E9713C5}"/>
              </a:ext>
            </a:extLst>
          </p:cNvPr>
          <p:cNvSpPr/>
          <p:nvPr/>
        </p:nvSpPr>
        <p:spPr>
          <a:xfrm>
            <a:off x="1740605" y="3588342"/>
            <a:ext cx="10051263" cy="6768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6140D-7B30-F5AC-42FC-631B78346613}"/>
              </a:ext>
            </a:extLst>
          </p:cNvPr>
          <p:cNvSpPr/>
          <p:nvPr/>
        </p:nvSpPr>
        <p:spPr>
          <a:xfrm>
            <a:off x="1739545" y="2343972"/>
            <a:ext cx="10051263" cy="1187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97D713-BFBD-C043-A507-2F5D6AAD3975}"/>
              </a:ext>
            </a:extLst>
          </p:cNvPr>
          <p:cNvSpPr/>
          <p:nvPr/>
        </p:nvSpPr>
        <p:spPr>
          <a:xfrm>
            <a:off x="1759315" y="1925589"/>
            <a:ext cx="10051263" cy="343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AFA8E4-B962-3778-36C9-D2207292BE97}"/>
              </a:ext>
            </a:extLst>
          </p:cNvPr>
          <p:cNvSpPr/>
          <p:nvPr/>
        </p:nvSpPr>
        <p:spPr>
          <a:xfrm>
            <a:off x="1760812" y="1420094"/>
            <a:ext cx="10051263" cy="445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" name="Title 105">
            <a:extLst>
              <a:ext uri="{FF2B5EF4-FFF2-40B4-BE49-F238E27FC236}">
                <a16:creationId xmlns:a16="http://schemas.microsoft.com/office/drawing/2014/main" id="{1228EC29-04C4-ED7C-972A-D79BF2903239}"/>
              </a:ext>
            </a:extLst>
          </p:cNvPr>
          <p:cNvSpPr txBox="1">
            <a:spLocks/>
          </p:cNvSpPr>
          <p:nvPr/>
        </p:nvSpPr>
        <p:spPr>
          <a:xfrm>
            <a:off x="316349" y="326021"/>
            <a:ext cx="10947772" cy="423353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Indicative implementation plan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F14E2B-CB75-55A6-4B4F-FFAF832846C2}"/>
              </a:ext>
            </a:extLst>
          </p:cNvPr>
          <p:cNvSpPr/>
          <p:nvPr/>
        </p:nvSpPr>
        <p:spPr>
          <a:xfrm>
            <a:off x="1771445" y="1450104"/>
            <a:ext cx="10051263" cy="4452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B17F22EC-325E-5839-2CDD-5A7827E02E6B}"/>
              </a:ext>
            </a:extLst>
          </p:cNvPr>
          <p:cNvSpPr/>
          <p:nvPr/>
        </p:nvSpPr>
        <p:spPr>
          <a:xfrm>
            <a:off x="348009" y="1407572"/>
            <a:ext cx="1372793" cy="445232"/>
          </a:xfrm>
          <a:prstGeom prst="flowChartProcess">
            <a:avLst/>
          </a:prstGeom>
          <a:solidFill>
            <a:schemeClr val="accent3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  <a:ea typeface="+mn-ea"/>
                <a:cs typeface="+mn-cs"/>
              </a:rPr>
              <a:t>Analysis &amp; Design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0FBAB860-FF9D-A1A8-1098-1AFFF175BA0B}"/>
              </a:ext>
            </a:extLst>
          </p:cNvPr>
          <p:cNvSpPr/>
          <p:nvPr/>
        </p:nvSpPr>
        <p:spPr>
          <a:xfrm>
            <a:off x="348009" y="2351025"/>
            <a:ext cx="1372793" cy="1192600"/>
          </a:xfrm>
          <a:prstGeom prst="flowChartProcess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  <a:ea typeface="+mn-ea"/>
                <a:cs typeface="Arial" pitchFamily="34" charset="0"/>
              </a:rPr>
              <a:t>Develop, UT &amp; Deploy</a:t>
            </a:r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E19E79F7-F5B1-0107-7805-C5F6E25D15E6}"/>
              </a:ext>
            </a:extLst>
          </p:cNvPr>
          <p:cNvSpPr/>
          <p:nvPr/>
        </p:nvSpPr>
        <p:spPr>
          <a:xfrm>
            <a:off x="348009" y="1887965"/>
            <a:ext cx="1372793" cy="396000"/>
          </a:xfrm>
          <a:prstGeom prst="flowChartProcess">
            <a:avLst/>
          </a:prstGeom>
          <a:solidFill>
            <a:schemeClr val="accent3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  <a:ea typeface="+mn-ea"/>
                <a:cs typeface="+mn-cs"/>
              </a:rPr>
              <a:t>Environment Setup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574E10-2E6A-1262-68A1-967480C8FD18}"/>
              </a:ext>
            </a:extLst>
          </p:cNvPr>
          <p:cNvSpPr txBox="1"/>
          <p:nvPr/>
        </p:nvSpPr>
        <p:spPr>
          <a:xfrm>
            <a:off x="3701675" y="1929516"/>
            <a:ext cx="245986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  <a:ea typeface="Verdana"/>
                <a:cs typeface="+mn-cs"/>
              </a:rPr>
              <a:t>Conf</a:t>
            </a:r>
            <a:r>
              <a:rPr lang="en-US" sz="10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ea typeface="Verdana"/>
              </a:rPr>
              <a:t>iguration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/>
              <a:ea typeface="Verdana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  <a:ea typeface="Verdana"/>
                <a:cs typeface="+mn-cs"/>
              </a:rPr>
              <a:t>Sizing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Ubuntu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13B06D-B1FC-78B2-D83A-D6D2D3E19655}"/>
              </a:ext>
            </a:extLst>
          </p:cNvPr>
          <p:cNvSpPr txBox="1"/>
          <p:nvPr/>
        </p:nvSpPr>
        <p:spPr>
          <a:xfrm>
            <a:off x="3100552" y="1408386"/>
            <a:ext cx="56181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  <a:ea typeface="+mn-ea"/>
                <a:cs typeface="+mn-cs"/>
              </a:rPr>
              <a:t>Analyze ETL, Dashboards &amp; Data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IN" sz="10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</a:rPr>
              <a:t>Validate and agree on assumptions, dependencies</a:t>
            </a:r>
            <a:endParaRPr lang="en-US" sz="10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</a:endParaRP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0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</a:rPr>
              <a:t>Team Onboarding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163A9D-13F1-A361-2702-5CD1AEB1B287}"/>
              </a:ext>
            </a:extLst>
          </p:cNvPr>
          <p:cNvSpPr txBox="1"/>
          <p:nvPr/>
        </p:nvSpPr>
        <p:spPr>
          <a:xfrm>
            <a:off x="6264165" y="3563006"/>
            <a:ext cx="3089109" cy="701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  <a:ea typeface="+mn-ea"/>
                <a:cs typeface="+mn-cs"/>
              </a:rPr>
              <a:t>Test case creation 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  <a:ea typeface="+mn-ea"/>
                <a:cs typeface="+mn-cs"/>
              </a:rPr>
              <a:t>Test case execution after deployment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  <a:ea typeface="+mn-ea"/>
                <a:cs typeface="+mn-cs"/>
              </a:rPr>
              <a:t>Defect Management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  <a:ea typeface="+mn-ea"/>
                <a:cs typeface="+mn-cs"/>
              </a:rPr>
              <a:t>Test summary report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ACF75C-7AB0-4E86-513F-B6F3FB298CEB}"/>
              </a:ext>
            </a:extLst>
          </p:cNvPr>
          <p:cNvSpPr txBox="1"/>
          <p:nvPr/>
        </p:nvSpPr>
        <p:spPr>
          <a:xfrm>
            <a:off x="9207795" y="5123932"/>
            <a:ext cx="2497210" cy="5078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  <a:ea typeface="+mn-ea"/>
                <a:cs typeface="+mn-cs"/>
              </a:rPr>
              <a:t>Platform support till end of warranty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  <a:ea typeface="+mn-ea"/>
                <a:cs typeface="+mn-cs"/>
              </a:rPr>
              <a:t>Knowledge Transfer</a:t>
            </a:r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FD439C92-2759-1F87-CED2-9371A9EABE93}"/>
              </a:ext>
            </a:extLst>
          </p:cNvPr>
          <p:cNvSpPr/>
          <p:nvPr/>
        </p:nvSpPr>
        <p:spPr>
          <a:xfrm>
            <a:off x="366182" y="3593829"/>
            <a:ext cx="1346674" cy="647069"/>
          </a:xfrm>
          <a:prstGeom prst="flowChartProcess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  <a:ea typeface="+mn-ea"/>
                <a:cs typeface="+mn-cs"/>
              </a:rPr>
              <a:t>Testing &amp; Deployment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A10083B6-52E7-12D8-0C0E-0DAA3D916920}"/>
              </a:ext>
            </a:extLst>
          </p:cNvPr>
          <p:cNvSpPr/>
          <p:nvPr/>
        </p:nvSpPr>
        <p:spPr>
          <a:xfrm>
            <a:off x="369792" y="4334504"/>
            <a:ext cx="1343064" cy="280375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  <a:ea typeface="+mn-ea"/>
                <a:cs typeface="+mn-cs"/>
              </a:rPr>
              <a:t>UAT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53D80E-4B02-2160-C786-2AD98774325E}"/>
              </a:ext>
            </a:extLst>
          </p:cNvPr>
          <p:cNvSpPr/>
          <p:nvPr/>
        </p:nvSpPr>
        <p:spPr>
          <a:xfrm>
            <a:off x="1717616" y="4699690"/>
            <a:ext cx="10045799" cy="3813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</a:endParaRPr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3FBB0309-BAEB-8715-580A-AD4D4A04A624}"/>
              </a:ext>
            </a:extLst>
          </p:cNvPr>
          <p:cNvSpPr/>
          <p:nvPr/>
        </p:nvSpPr>
        <p:spPr>
          <a:xfrm>
            <a:off x="369276" y="4687759"/>
            <a:ext cx="1322658" cy="373285"/>
          </a:xfrm>
          <a:prstGeom prst="flowChartProcess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  <a:ea typeface="+mn-ea"/>
                <a:cs typeface="+mn-cs"/>
              </a:rPr>
              <a:t>Deployment &amp; Warranty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8CFFE3-2F3C-F9B9-19F6-05D4BF4E9CD4}"/>
              </a:ext>
            </a:extLst>
          </p:cNvPr>
          <p:cNvSpPr txBox="1"/>
          <p:nvPr/>
        </p:nvSpPr>
        <p:spPr>
          <a:xfrm>
            <a:off x="9612221" y="4284529"/>
            <a:ext cx="2212821" cy="378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  <a:ea typeface="+mn-ea"/>
                <a:cs typeface="+mn-cs"/>
              </a:rPr>
              <a:t>UAT Execution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  <a:ea typeface="+mn-ea"/>
                <a:cs typeface="+mn-cs"/>
              </a:rPr>
              <a:t>Defect management</a:t>
            </a:r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D44C29B6-BF97-096A-66BF-4EE75FA3734C}"/>
              </a:ext>
            </a:extLst>
          </p:cNvPr>
          <p:cNvSpPr/>
          <p:nvPr/>
        </p:nvSpPr>
        <p:spPr>
          <a:xfrm>
            <a:off x="97675" y="1390318"/>
            <a:ext cx="236607" cy="216251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Development</a:t>
            </a: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49D8FD7A-EBF3-5607-E143-013D523FD95A}"/>
              </a:ext>
            </a:extLst>
          </p:cNvPr>
          <p:cNvSpPr/>
          <p:nvPr/>
        </p:nvSpPr>
        <p:spPr>
          <a:xfrm>
            <a:off x="95898" y="4646952"/>
            <a:ext cx="238239" cy="434094"/>
          </a:xfrm>
          <a:prstGeom prst="rect">
            <a:avLst/>
          </a:prstGeom>
          <a:solidFill>
            <a:srgbClr val="33B5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Prod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BA1485-5AD8-B7D7-0546-5990811937D3}"/>
              </a:ext>
            </a:extLst>
          </p:cNvPr>
          <p:cNvSpPr txBox="1"/>
          <p:nvPr/>
        </p:nvSpPr>
        <p:spPr>
          <a:xfrm>
            <a:off x="5508126" y="2615542"/>
            <a:ext cx="40308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Collecting data from sources related to our KPI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A8C442-EA68-2406-4E6A-5F0B3DB7F07D}"/>
              </a:ext>
            </a:extLst>
          </p:cNvPr>
          <p:cNvSpPr txBox="1"/>
          <p:nvPr/>
        </p:nvSpPr>
        <p:spPr>
          <a:xfrm flipH="1">
            <a:off x="5833769" y="2839571"/>
            <a:ext cx="3790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Building model around collected data for each KPI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73CDCB-4F38-EB65-4B65-63AF207FD031}"/>
              </a:ext>
            </a:extLst>
          </p:cNvPr>
          <p:cNvSpPr txBox="1"/>
          <p:nvPr/>
        </p:nvSpPr>
        <p:spPr>
          <a:xfrm flipH="1">
            <a:off x="8270989" y="3180998"/>
            <a:ext cx="2730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Visualization to realize the KPI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A8F7B49-2A12-6362-8A4F-49445040C144}"/>
              </a:ext>
            </a:extLst>
          </p:cNvPr>
          <p:cNvSpPr/>
          <p:nvPr/>
        </p:nvSpPr>
        <p:spPr>
          <a:xfrm>
            <a:off x="1771445" y="1943377"/>
            <a:ext cx="10051263" cy="39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0A29AC-74FA-988F-D7DA-6D7AB45825F3}"/>
              </a:ext>
            </a:extLst>
          </p:cNvPr>
          <p:cNvSpPr/>
          <p:nvPr/>
        </p:nvSpPr>
        <p:spPr>
          <a:xfrm>
            <a:off x="1739546" y="3625567"/>
            <a:ext cx="10051263" cy="636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71405BD-B7EC-28B2-57E1-49D7151692CD}"/>
              </a:ext>
            </a:extLst>
          </p:cNvPr>
          <p:cNvSpPr/>
          <p:nvPr/>
        </p:nvSpPr>
        <p:spPr>
          <a:xfrm>
            <a:off x="1792723" y="1541973"/>
            <a:ext cx="1202120" cy="207454"/>
          </a:xfrm>
          <a:prstGeom prst="roundRect">
            <a:avLst/>
          </a:prstGeom>
          <a:solidFill>
            <a:schemeClr val="accent3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</a:rPr>
              <a:t>Kickoff/ A&amp;D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4C59301-895D-6EDC-7690-D3C675A5F06E}"/>
              </a:ext>
            </a:extLst>
          </p:cNvPr>
          <p:cNvSpPr/>
          <p:nvPr/>
        </p:nvSpPr>
        <p:spPr>
          <a:xfrm>
            <a:off x="2145497" y="2010589"/>
            <a:ext cx="1305134" cy="219353"/>
          </a:xfrm>
          <a:prstGeom prst="roundRect">
            <a:avLst/>
          </a:prstGeom>
          <a:solidFill>
            <a:schemeClr val="accent3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</a:rPr>
              <a:t>Installation/conf.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1016E50-E420-CADF-DBD4-588B5D6D9CE8}"/>
              </a:ext>
            </a:extLst>
          </p:cNvPr>
          <p:cNvSpPr/>
          <p:nvPr/>
        </p:nvSpPr>
        <p:spPr>
          <a:xfrm>
            <a:off x="2657828" y="2675488"/>
            <a:ext cx="2806234" cy="1980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Data collection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48E11C1-6B8F-6913-E0BE-2B4CAE7B41C3}"/>
              </a:ext>
            </a:extLst>
          </p:cNvPr>
          <p:cNvSpPr/>
          <p:nvPr/>
        </p:nvSpPr>
        <p:spPr>
          <a:xfrm>
            <a:off x="3585342" y="2921999"/>
            <a:ext cx="2180940" cy="1980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  <a:ea typeface="+mn-ea"/>
                <a:cs typeface="+mn-cs"/>
              </a:rPr>
              <a:t>Model building/ KPI derivation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CC6B760-E474-6AF4-66C5-351BC9A13B8F}"/>
              </a:ext>
            </a:extLst>
          </p:cNvPr>
          <p:cNvSpPr/>
          <p:nvPr/>
        </p:nvSpPr>
        <p:spPr>
          <a:xfrm>
            <a:off x="2667253" y="3690976"/>
            <a:ext cx="2646470" cy="209701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  <a:ea typeface="+mn-ea"/>
                <a:cs typeface="+mn-cs"/>
              </a:rPr>
              <a:t>Test Case Creation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FE49F48-46A5-B551-B1A6-2D07027091A0}"/>
              </a:ext>
            </a:extLst>
          </p:cNvPr>
          <p:cNvSpPr/>
          <p:nvPr/>
        </p:nvSpPr>
        <p:spPr>
          <a:xfrm>
            <a:off x="3809972" y="3994832"/>
            <a:ext cx="1992344" cy="1980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  <a:ea typeface="+mn-ea"/>
                <a:cs typeface="+mn-cs"/>
              </a:rPr>
              <a:t>Deploy </a:t>
            </a:r>
            <a:r>
              <a:rPr lang="en-US" sz="9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</a:rPr>
              <a:t>&amp;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  <a:ea typeface="+mn-ea"/>
                <a:cs typeface="+mn-cs"/>
              </a:rPr>
              <a:t>Execution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6CD9329-B29F-A219-562E-DDAE12F46CC3}"/>
              </a:ext>
            </a:extLst>
          </p:cNvPr>
          <p:cNvSpPr/>
          <p:nvPr/>
        </p:nvSpPr>
        <p:spPr>
          <a:xfrm>
            <a:off x="5998464" y="4362006"/>
            <a:ext cx="3311572" cy="187489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  <a:ea typeface="+mn-ea"/>
                <a:cs typeface="+mn-cs"/>
              </a:rPr>
              <a:t>UAT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7713AB2-C23C-5980-A970-79EBCDE989B0}"/>
              </a:ext>
            </a:extLst>
          </p:cNvPr>
          <p:cNvSpPr/>
          <p:nvPr/>
        </p:nvSpPr>
        <p:spPr>
          <a:xfrm>
            <a:off x="10466123" y="4782947"/>
            <a:ext cx="1267747" cy="197437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  <a:ea typeface="+mn-ea"/>
                <a:cs typeface="+mn-cs"/>
              </a:rPr>
              <a:t>Warranty Support</a:t>
            </a:r>
          </a:p>
        </p:txBody>
      </p:sp>
      <p:sp>
        <p:nvSpPr>
          <p:cNvPr id="36" name="Star: 5 Points 35">
            <a:extLst>
              <a:ext uri="{FF2B5EF4-FFF2-40B4-BE49-F238E27FC236}">
                <a16:creationId xmlns:a16="http://schemas.microsoft.com/office/drawing/2014/main" id="{FDE0C62B-EACE-F8F2-8627-B61EDE739834}"/>
              </a:ext>
            </a:extLst>
          </p:cNvPr>
          <p:cNvSpPr/>
          <p:nvPr/>
        </p:nvSpPr>
        <p:spPr>
          <a:xfrm>
            <a:off x="10249795" y="4831204"/>
            <a:ext cx="205267" cy="236586"/>
          </a:xfrm>
          <a:prstGeom prst="star5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7D78D-3459-32A4-2B82-A2D98B64B25E}"/>
              </a:ext>
            </a:extLst>
          </p:cNvPr>
          <p:cNvSpPr/>
          <p:nvPr/>
        </p:nvSpPr>
        <p:spPr>
          <a:xfrm>
            <a:off x="5766518" y="3201795"/>
            <a:ext cx="2523697" cy="21131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  <a:ea typeface="+mn-ea"/>
                <a:cs typeface="+mn-cs"/>
              </a:rPr>
              <a:t>Visualization building</a:t>
            </a:r>
          </a:p>
        </p:txBody>
      </p:sp>
      <p:sp>
        <p:nvSpPr>
          <p:cNvPr id="38" name="Rectangle 10">
            <a:extLst>
              <a:ext uri="{FF2B5EF4-FFF2-40B4-BE49-F238E27FC236}">
                <a16:creationId xmlns:a16="http://schemas.microsoft.com/office/drawing/2014/main" id="{C74C4D5D-2F14-9AA5-CD3E-95F52A4B16E2}"/>
              </a:ext>
            </a:extLst>
          </p:cNvPr>
          <p:cNvSpPr/>
          <p:nvPr/>
        </p:nvSpPr>
        <p:spPr>
          <a:xfrm flipH="1">
            <a:off x="95898" y="3584792"/>
            <a:ext cx="224090" cy="1022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SIT</a:t>
            </a:r>
          </a:p>
        </p:txBody>
      </p:sp>
      <p:graphicFrame>
        <p:nvGraphicFramePr>
          <p:cNvPr id="39" name="Table 17">
            <a:extLst>
              <a:ext uri="{FF2B5EF4-FFF2-40B4-BE49-F238E27FC236}">
                <a16:creationId xmlns:a16="http://schemas.microsoft.com/office/drawing/2014/main" id="{ED75FAF6-F5E6-0D76-B3BD-D8A354F54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479377"/>
              </p:ext>
            </p:extLst>
          </p:nvPr>
        </p:nvGraphicFramePr>
        <p:xfrm>
          <a:off x="1742294" y="1002824"/>
          <a:ext cx="10085304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442">
                  <a:extLst>
                    <a:ext uri="{9D8B030D-6E8A-4147-A177-3AD203B41FA5}">
                      <a16:colId xmlns:a16="http://schemas.microsoft.com/office/drawing/2014/main" val="434409578"/>
                    </a:ext>
                  </a:extLst>
                </a:gridCol>
                <a:gridCol w="840442">
                  <a:extLst>
                    <a:ext uri="{9D8B030D-6E8A-4147-A177-3AD203B41FA5}">
                      <a16:colId xmlns:a16="http://schemas.microsoft.com/office/drawing/2014/main" val="3127997644"/>
                    </a:ext>
                  </a:extLst>
                </a:gridCol>
                <a:gridCol w="840442">
                  <a:extLst>
                    <a:ext uri="{9D8B030D-6E8A-4147-A177-3AD203B41FA5}">
                      <a16:colId xmlns:a16="http://schemas.microsoft.com/office/drawing/2014/main" val="324618562"/>
                    </a:ext>
                  </a:extLst>
                </a:gridCol>
                <a:gridCol w="840442">
                  <a:extLst>
                    <a:ext uri="{9D8B030D-6E8A-4147-A177-3AD203B41FA5}">
                      <a16:colId xmlns:a16="http://schemas.microsoft.com/office/drawing/2014/main" val="1329557394"/>
                    </a:ext>
                  </a:extLst>
                </a:gridCol>
                <a:gridCol w="840442">
                  <a:extLst>
                    <a:ext uri="{9D8B030D-6E8A-4147-A177-3AD203B41FA5}">
                      <a16:colId xmlns:a16="http://schemas.microsoft.com/office/drawing/2014/main" val="3999899286"/>
                    </a:ext>
                  </a:extLst>
                </a:gridCol>
                <a:gridCol w="840442">
                  <a:extLst>
                    <a:ext uri="{9D8B030D-6E8A-4147-A177-3AD203B41FA5}">
                      <a16:colId xmlns:a16="http://schemas.microsoft.com/office/drawing/2014/main" val="1251569508"/>
                    </a:ext>
                  </a:extLst>
                </a:gridCol>
                <a:gridCol w="840442">
                  <a:extLst>
                    <a:ext uri="{9D8B030D-6E8A-4147-A177-3AD203B41FA5}">
                      <a16:colId xmlns:a16="http://schemas.microsoft.com/office/drawing/2014/main" val="2712906663"/>
                    </a:ext>
                  </a:extLst>
                </a:gridCol>
                <a:gridCol w="840442">
                  <a:extLst>
                    <a:ext uri="{9D8B030D-6E8A-4147-A177-3AD203B41FA5}">
                      <a16:colId xmlns:a16="http://schemas.microsoft.com/office/drawing/2014/main" val="3996063212"/>
                    </a:ext>
                  </a:extLst>
                </a:gridCol>
                <a:gridCol w="840442">
                  <a:extLst>
                    <a:ext uri="{9D8B030D-6E8A-4147-A177-3AD203B41FA5}">
                      <a16:colId xmlns:a16="http://schemas.microsoft.com/office/drawing/2014/main" val="4210462480"/>
                    </a:ext>
                  </a:extLst>
                </a:gridCol>
                <a:gridCol w="840442">
                  <a:extLst>
                    <a:ext uri="{9D8B030D-6E8A-4147-A177-3AD203B41FA5}">
                      <a16:colId xmlns:a16="http://schemas.microsoft.com/office/drawing/2014/main" val="3322931101"/>
                    </a:ext>
                  </a:extLst>
                </a:gridCol>
                <a:gridCol w="840442">
                  <a:extLst>
                    <a:ext uri="{9D8B030D-6E8A-4147-A177-3AD203B41FA5}">
                      <a16:colId xmlns:a16="http://schemas.microsoft.com/office/drawing/2014/main" val="260652606"/>
                    </a:ext>
                  </a:extLst>
                </a:gridCol>
                <a:gridCol w="840442">
                  <a:extLst>
                    <a:ext uri="{9D8B030D-6E8A-4147-A177-3AD203B41FA5}">
                      <a16:colId xmlns:a16="http://schemas.microsoft.com/office/drawing/2014/main" val="3330054221"/>
                    </a:ext>
                  </a:extLst>
                </a:gridCol>
              </a:tblGrid>
              <a:tr h="261652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00B0F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M0</a:t>
                      </a:r>
                    </a:p>
                  </a:txBody>
                  <a:tcPr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00B0F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M1</a:t>
                      </a:r>
                    </a:p>
                  </a:txBody>
                  <a:tcPr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00B0F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M2</a:t>
                      </a:r>
                    </a:p>
                  </a:txBody>
                  <a:tcPr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00B0F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M3</a:t>
                      </a:r>
                    </a:p>
                  </a:txBody>
                  <a:tcPr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00B0F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M4</a:t>
                      </a:r>
                    </a:p>
                  </a:txBody>
                  <a:tcPr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00B0F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M5</a:t>
                      </a:r>
                    </a:p>
                  </a:txBody>
                  <a:tcPr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00B0F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M6</a:t>
                      </a:r>
                    </a:p>
                  </a:txBody>
                  <a:tcPr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00B0F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M7</a:t>
                      </a:r>
                    </a:p>
                  </a:txBody>
                  <a:tcPr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00B0F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M8</a:t>
                      </a:r>
                    </a:p>
                  </a:txBody>
                  <a:tcPr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00B0F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M9</a:t>
                      </a:r>
                    </a:p>
                  </a:txBody>
                  <a:tcPr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00B0F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M10</a:t>
                      </a:r>
                    </a:p>
                  </a:txBody>
                  <a:tcPr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00B0F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M11</a:t>
                      </a:r>
                    </a:p>
                  </a:txBody>
                  <a:tcPr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250940"/>
                  </a:ext>
                </a:extLst>
              </a:tr>
            </a:tbl>
          </a:graphicData>
        </a:graphic>
      </p:graphicFrame>
      <p:sp>
        <p:nvSpPr>
          <p:cNvPr id="40" name="Star: 5 Points 39">
            <a:extLst>
              <a:ext uri="{FF2B5EF4-FFF2-40B4-BE49-F238E27FC236}">
                <a16:creationId xmlns:a16="http://schemas.microsoft.com/office/drawing/2014/main" id="{A3DAB7DE-C5CE-3ADA-CA45-E3A824BCD454}"/>
              </a:ext>
            </a:extLst>
          </p:cNvPr>
          <p:cNvSpPr/>
          <p:nvPr/>
        </p:nvSpPr>
        <p:spPr>
          <a:xfrm>
            <a:off x="9200718" y="4824109"/>
            <a:ext cx="205267" cy="236586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1" name="Star: 5 Points 40">
            <a:extLst>
              <a:ext uri="{FF2B5EF4-FFF2-40B4-BE49-F238E27FC236}">
                <a16:creationId xmlns:a16="http://schemas.microsoft.com/office/drawing/2014/main" id="{73F42EAF-D89B-D866-2402-421C17988EA1}"/>
              </a:ext>
            </a:extLst>
          </p:cNvPr>
          <p:cNvSpPr/>
          <p:nvPr/>
        </p:nvSpPr>
        <p:spPr>
          <a:xfrm>
            <a:off x="6599288" y="5848397"/>
            <a:ext cx="205267" cy="236586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10D4C7-0790-6ECD-A7BD-CCFBEAEA5C67}"/>
              </a:ext>
            </a:extLst>
          </p:cNvPr>
          <p:cNvSpPr txBox="1"/>
          <p:nvPr/>
        </p:nvSpPr>
        <p:spPr>
          <a:xfrm>
            <a:off x="6797649" y="5829791"/>
            <a:ext cx="18838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Critical apps deploy</a:t>
            </a:r>
          </a:p>
        </p:txBody>
      </p:sp>
      <p:sp>
        <p:nvSpPr>
          <p:cNvPr id="43" name="Star: 5 Points 42">
            <a:extLst>
              <a:ext uri="{FF2B5EF4-FFF2-40B4-BE49-F238E27FC236}">
                <a16:creationId xmlns:a16="http://schemas.microsoft.com/office/drawing/2014/main" id="{CEB57C1A-A513-54D1-6FCF-4B4147A7600B}"/>
              </a:ext>
            </a:extLst>
          </p:cNvPr>
          <p:cNvSpPr/>
          <p:nvPr/>
        </p:nvSpPr>
        <p:spPr>
          <a:xfrm>
            <a:off x="8817912" y="5844850"/>
            <a:ext cx="205267" cy="236586"/>
          </a:xfrm>
          <a:prstGeom prst="star5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8F78B5A-7371-B22B-E878-2D1CD3272D4C}"/>
              </a:ext>
            </a:extLst>
          </p:cNvPr>
          <p:cNvSpPr txBox="1"/>
          <p:nvPr/>
        </p:nvSpPr>
        <p:spPr>
          <a:xfrm>
            <a:off x="9027034" y="5836883"/>
            <a:ext cx="23022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Non-Critical apps deploy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A0FE3E9-150F-02F7-3EBF-E1778BF6BBAC}"/>
              </a:ext>
            </a:extLst>
          </p:cNvPr>
          <p:cNvCxnSpPr>
            <a:cxnSpLocks/>
          </p:cNvCxnSpPr>
          <p:nvPr/>
        </p:nvCxnSpPr>
        <p:spPr>
          <a:xfrm flipH="1">
            <a:off x="9367149" y="1253985"/>
            <a:ext cx="3697" cy="3848681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347140D-FBD6-AE4C-6DB8-9C776E640972}"/>
              </a:ext>
            </a:extLst>
          </p:cNvPr>
          <p:cNvCxnSpPr>
            <a:cxnSpLocks/>
          </p:cNvCxnSpPr>
          <p:nvPr/>
        </p:nvCxnSpPr>
        <p:spPr>
          <a:xfrm flipH="1">
            <a:off x="10444599" y="1268156"/>
            <a:ext cx="3697" cy="3848681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9245C93-8F85-F952-9F40-D24138871B03}"/>
              </a:ext>
            </a:extLst>
          </p:cNvPr>
          <p:cNvSpPr/>
          <p:nvPr/>
        </p:nvSpPr>
        <p:spPr>
          <a:xfrm>
            <a:off x="2660532" y="2424923"/>
            <a:ext cx="2234808" cy="19378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9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Development Activities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91FB582-3C6F-9E82-7718-EEDE4B5182EE}"/>
              </a:ext>
            </a:extLst>
          </p:cNvPr>
          <p:cNvCxnSpPr>
            <a:cxnSpLocks/>
          </p:cNvCxnSpPr>
          <p:nvPr/>
        </p:nvCxnSpPr>
        <p:spPr>
          <a:xfrm flipH="1">
            <a:off x="2629594" y="1268156"/>
            <a:ext cx="3697" cy="3848681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CD9A5DB-582C-0CF6-05DA-55E8D90F06E3}"/>
              </a:ext>
            </a:extLst>
          </p:cNvPr>
          <p:cNvSpPr/>
          <p:nvPr/>
        </p:nvSpPr>
        <p:spPr>
          <a:xfrm>
            <a:off x="9413994" y="4705799"/>
            <a:ext cx="903749" cy="196691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/>
                <a:ea typeface="+mn-ea"/>
                <a:cs typeface="+mn-cs"/>
              </a:rPr>
              <a:t>Hypercare</a:t>
            </a:r>
          </a:p>
        </p:txBody>
      </p:sp>
      <p:sp>
        <p:nvSpPr>
          <p:cNvPr id="50" name="Left Brace 49">
            <a:extLst>
              <a:ext uri="{FF2B5EF4-FFF2-40B4-BE49-F238E27FC236}">
                <a16:creationId xmlns:a16="http://schemas.microsoft.com/office/drawing/2014/main" id="{E0CA4B0B-9D1D-5EF6-F96D-3B060D51B992}"/>
              </a:ext>
            </a:extLst>
          </p:cNvPr>
          <p:cNvSpPr/>
          <p:nvPr/>
        </p:nvSpPr>
        <p:spPr>
          <a:xfrm>
            <a:off x="3067277" y="1456909"/>
            <a:ext cx="161592" cy="374678"/>
          </a:xfrm>
          <a:prstGeom prst="leftBrac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" name="Left Brace 50">
            <a:extLst>
              <a:ext uri="{FF2B5EF4-FFF2-40B4-BE49-F238E27FC236}">
                <a16:creationId xmlns:a16="http://schemas.microsoft.com/office/drawing/2014/main" id="{243A55F0-7E17-1A08-365E-CB49B6EA1940}"/>
              </a:ext>
            </a:extLst>
          </p:cNvPr>
          <p:cNvSpPr/>
          <p:nvPr/>
        </p:nvSpPr>
        <p:spPr>
          <a:xfrm>
            <a:off x="3581829" y="1928299"/>
            <a:ext cx="161592" cy="374678"/>
          </a:xfrm>
          <a:prstGeom prst="leftBrac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" name="Left Brace 51">
            <a:extLst>
              <a:ext uri="{FF2B5EF4-FFF2-40B4-BE49-F238E27FC236}">
                <a16:creationId xmlns:a16="http://schemas.microsoft.com/office/drawing/2014/main" id="{876F24C9-B040-196E-C549-4316E74E516A}"/>
              </a:ext>
            </a:extLst>
          </p:cNvPr>
          <p:cNvSpPr/>
          <p:nvPr/>
        </p:nvSpPr>
        <p:spPr>
          <a:xfrm>
            <a:off x="9471698" y="4321928"/>
            <a:ext cx="172518" cy="288337"/>
          </a:xfrm>
          <a:prstGeom prst="leftBrac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" name="Left Brace 52">
            <a:extLst>
              <a:ext uri="{FF2B5EF4-FFF2-40B4-BE49-F238E27FC236}">
                <a16:creationId xmlns:a16="http://schemas.microsoft.com/office/drawing/2014/main" id="{980D5244-F3FA-C89D-610F-8CC0089B9D20}"/>
              </a:ext>
            </a:extLst>
          </p:cNvPr>
          <p:cNvSpPr/>
          <p:nvPr/>
        </p:nvSpPr>
        <p:spPr>
          <a:xfrm>
            <a:off x="6080760" y="3611811"/>
            <a:ext cx="170544" cy="596616"/>
          </a:xfrm>
          <a:prstGeom prst="leftBrac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25082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A006E6-6890-0212-A99E-D494AFFE18F5}"/>
              </a:ext>
            </a:extLst>
          </p:cNvPr>
          <p:cNvSpPr/>
          <p:nvPr/>
        </p:nvSpPr>
        <p:spPr>
          <a:xfrm>
            <a:off x="10960319" y="1693832"/>
            <a:ext cx="1158584" cy="53108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55EAC21-C962-043C-69EE-FF075F495084}"/>
              </a:ext>
            </a:extLst>
          </p:cNvPr>
          <p:cNvSpPr/>
          <p:nvPr/>
        </p:nvSpPr>
        <p:spPr>
          <a:xfrm>
            <a:off x="4154555" y="1569313"/>
            <a:ext cx="1840728" cy="234253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7F5E6B3-5E35-5EDE-6EA7-148E23BB0020}"/>
              </a:ext>
            </a:extLst>
          </p:cNvPr>
          <p:cNvSpPr/>
          <p:nvPr/>
        </p:nvSpPr>
        <p:spPr>
          <a:xfrm>
            <a:off x="9621078" y="1453235"/>
            <a:ext cx="1276715" cy="305628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C0D247-1CEF-0DBF-CE63-031F7EA93261}"/>
              </a:ext>
            </a:extLst>
          </p:cNvPr>
          <p:cNvSpPr/>
          <p:nvPr/>
        </p:nvSpPr>
        <p:spPr>
          <a:xfrm>
            <a:off x="6424654" y="3196164"/>
            <a:ext cx="2767053" cy="16232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562284-C0B2-B763-1E81-1E70EF117013}"/>
              </a:ext>
            </a:extLst>
          </p:cNvPr>
          <p:cNvSpPr/>
          <p:nvPr/>
        </p:nvSpPr>
        <p:spPr>
          <a:xfrm>
            <a:off x="6424654" y="1390915"/>
            <a:ext cx="2767053" cy="16232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5F1E2AC-1F76-2A83-3270-2F10C9AD1EDB}"/>
              </a:ext>
            </a:extLst>
          </p:cNvPr>
          <p:cNvSpPr/>
          <p:nvPr/>
        </p:nvSpPr>
        <p:spPr>
          <a:xfrm>
            <a:off x="2005240" y="1569313"/>
            <a:ext cx="1890710" cy="237453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FC5CA10-467F-E660-E23D-2E874AD37D77}"/>
              </a:ext>
            </a:extLst>
          </p:cNvPr>
          <p:cNvSpPr/>
          <p:nvPr/>
        </p:nvSpPr>
        <p:spPr>
          <a:xfrm>
            <a:off x="262394" y="985962"/>
            <a:ext cx="1486894" cy="34190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Sources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7853FF0-19D3-35AC-90E7-A512A3746056}"/>
              </a:ext>
            </a:extLst>
          </p:cNvPr>
          <p:cNvSpPr/>
          <p:nvPr/>
        </p:nvSpPr>
        <p:spPr>
          <a:xfrm>
            <a:off x="2164079" y="985962"/>
            <a:ext cx="1573033" cy="34190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Ingestion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1EABACC-6879-1B12-B7FA-4A020BA483DA}"/>
              </a:ext>
            </a:extLst>
          </p:cNvPr>
          <p:cNvSpPr/>
          <p:nvPr/>
        </p:nvSpPr>
        <p:spPr>
          <a:xfrm>
            <a:off x="6392845" y="985962"/>
            <a:ext cx="2830667" cy="34190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Processing &amp; Transformation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570769E-9494-2387-6ABB-74ED0623FCF0}"/>
              </a:ext>
            </a:extLst>
          </p:cNvPr>
          <p:cNvSpPr/>
          <p:nvPr/>
        </p:nvSpPr>
        <p:spPr>
          <a:xfrm>
            <a:off x="9621078" y="978011"/>
            <a:ext cx="2308527" cy="34190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Analytics &amp; Report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: Single Corner Snipped 11">
            <a:extLst>
              <a:ext uri="{FF2B5EF4-FFF2-40B4-BE49-F238E27FC236}">
                <a16:creationId xmlns:a16="http://schemas.microsoft.com/office/drawing/2014/main" id="{B38106F7-2738-9989-BE2C-A3113EA2ABCA}"/>
              </a:ext>
            </a:extLst>
          </p:cNvPr>
          <p:cNvSpPr/>
          <p:nvPr/>
        </p:nvSpPr>
        <p:spPr>
          <a:xfrm>
            <a:off x="397565" y="1828800"/>
            <a:ext cx="1168842" cy="246490"/>
          </a:xfrm>
          <a:prstGeom prst="snip1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Single Corner Snipped 12">
            <a:extLst>
              <a:ext uri="{FF2B5EF4-FFF2-40B4-BE49-F238E27FC236}">
                <a16:creationId xmlns:a16="http://schemas.microsoft.com/office/drawing/2014/main" id="{60D13DEA-E41C-394A-98D3-C9E6247C195F}"/>
              </a:ext>
            </a:extLst>
          </p:cNvPr>
          <p:cNvSpPr/>
          <p:nvPr/>
        </p:nvSpPr>
        <p:spPr>
          <a:xfrm>
            <a:off x="413468" y="2329732"/>
            <a:ext cx="1168842" cy="246490"/>
          </a:xfrm>
          <a:prstGeom prst="snip1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Oracle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: Single Corner Snipped 13">
            <a:extLst>
              <a:ext uri="{FF2B5EF4-FFF2-40B4-BE49-F238E27FC236}">
                <a16:creationId xmlns:a16="http://schemas.microsoft.com/office/drawing/2014/main" id="{CA6DC04E-C045-6454-A9FC-FB898FB8F6B9}"/>
              </a:ext>
            </a:extLst>
          </p:cNvPr>
          <p:cNvSpPr/>
          <p:nvPr/>
        </p:nvSpPr>
        <p:spPr>
          <a:xfrm>
            <a:off x="397565" y="2830664"/>
            <a:ext cx="1168842" cy="373712"/>
          </a:xfrm>
          <a:prstGeom prst="snip1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External Application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: Single Corner Snipped 14">
            <a:extLst>
              <a:ext uri="{FF2B5EF4-FFF2-40B4-BE49-F238E27FC236}">
                <a16:creationId xmlns:a16="http://schemas.microsoft.com/office/drawing/2014/main" id="{F07DB831-71FD-616A-7AED-CA58A5A6C3A9}"/>
              </a:ext>
            </a:extLst>
          </p:cNvPr>
          <p:cNvSpPr/>
          <p:nvPr/>
        </p:nvSpPr>
        <p:spPr>
          <a:xfrm>
            <a:off x="413468" y="3458818"/>
            <a:ext cx="1168842" cy="373712"/>
          </a:xfrm>
          <a:prstGeom prst="snip1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Kafka Stream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7983DF1-7290-1E29-5C7A-4EF43B012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68" y="2955854"/>
            <a:ext cx="495343" cy="50296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082E8C7-6C32-4ECA-E2B9-48432CD5AD73}"/>
              </a:ext>
            </a:extLst>
          </p:cNvPr>
          <p:cNvSpPr txBox="1"/>
          <p:nvPr/>
        </p:nvSpPr>
        <p:spPr>
          <a:xfrm>
            <a:off x="2798859" y="2007282"/>
            <a:ext cx="787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ADF-Batch Ingestion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F04C23-C9AE-B7DC-8B32-A36807064EB2}"/>
              </a:ext>
            </a:extLst>
          </p:cNvPr>
          <p:cNvSpPr txBox="1"/>
          <p:nvPr/>
        </p:nvSpPr>
        <p:spPr>
          <a:xfrm>
            <a:off x="2807286" y="3028890"/>
            <a:ext cx="929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ADB-Spark Streaming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349D60E-C3BF-8ECB-A19C-0DC60B3CB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876" y="1952045"/>
            <a:ext cx="510584" cy="510584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86F6646-E9A8-9D3F-5AAC-2457AD382A12}"/>
              </a:ext>
            </a:extLst>
          </p:cNvPr>
          <p:cNvSpPr/>
          <p:nvPr/>
        </p:nvSpPr>
        <p:spPr>
          <a:xfrm>
            <a:off x="4154555" y="985962"/>
            <a:ext cx="1789044" cy="34190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Storage-Landing Area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FDF7037-A06C-181A-7DC9-1AF47CB30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781" y="2058017"/>
            <a:ext cx="533446" cy="518205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23DCC5B-E626-CB41-E02D-E490BDDAE90A}"/>
              </a:ext>
            </a:extLst>
          </p:cNvPr>
          <p:cNvCxnSpPr>
            <a:cxnSpLocks/>
            <a:stCxn id="12" idx="0"/>
          </p:cNvCxnSpPr>
          <p:nvPr/>
        </p:nvCxnSpPr>
        <p:spPr>
          <a:xfrm>
            <a:off x="1566407" y="1952045"/>
            <a:ext cx="4388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04AEDA4-4A18-B5A7-E922-04010DAC095F}"/>
              </a:ext>
            </a:extLst>
          </p:cNvPr>
          <p:cNvCxnSpPr>
            <a:cxnSpLocks/>
          </p:cNvCxnSpPr>
          <p:nvPr/>
        </p:nvCxnSpPr>
        <p:spPr>
          <a:xfrm>
            <a:off x="1582310" y="2459978"/>
            <a:ext cx="4388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EDA0176-934F-F47A-1020-4B96C63330EE}"/>
              </a:ext>
            </a:extLst>
          </p:cNvPr>
          <p:cNvCxnSpPr>
            <a:cxnSpLocks/>
          </p:cNvCxnSpPr>
          <p:nvPr/>
        </p:nvCxnSpPr>
        <p:spPr>
          <a:xfrm>
            <a:off x="1567733" y="3028890"/>
            <a:ext cx="4388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A68DEFB-647E-E916-03BD-50D2C87D2015}"/>
              </a:ext>
            </a:extLst>
          </p:cNvPr>
          <p:cNvCxnSpPr>
            <a:cxnSpLocks/>
          </p:cNvCxnSpPr>
          <p:nvPr/>
        </p:nvCxnSpPr>
        <p:spPr>
          <a:xfrm>
            <a:off x="1582310" y="3686755"/>
            <a:ext cx="4388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AEAE0A3-AF74-309C-2E73-25B4C51682A4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3857198" y="2317119"/>
            <a:ext cx="92158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0A10124-272B-B2E5-249C-7D5360D29672}"/>
              </a:ext>
            </a:extLst>
          </p:cNvPr>
          <p:cNvSpPr txBox="1"/>
          <p:nvPr/>
        </p:nvSpPr>
        <p:spPr>
          <a:xfrm>
            <a:off x="4661984" y="2618534"/>
            <a:ext cx="7858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ADLS Gen2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4B889EB-F783-D2E7-2ACF-59A16963E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475" y="1453235"/>
            <a:ext cx="495343" cy="50296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1A2A89D-47D6-E400-4862-25C48BDA68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9995" y="3478987"/>
            <a:ext cx="2324301" cy="46486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4AED091-7FE0-158A-40A3-A2C445AE0F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1151" y="2559000"/>
            <a:ext cx="624894" cy="32006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E444A43-40DF-DCFA-36FD-E67AB5029D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6052" y="2384558"/>
            <a:ext cx="845893" cy="57155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D96C284-1D88-DB78-8DE9-7692EA37A0D4}"/>
              </a:ext>
            </a:extLst>
          </p:cNvPr>
          <p:cNvSpPr txBox="1"/>
          <p:nvPr/>
        </p:nvSpPr>
        <p:spPr>
          <a:xfrm>
            <a:off x="7386815" y="2027584"/>
            <a:ext cx="1121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Azure DataBricks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737DFBC-488B-D4F0-EFE5-7AE84AC020DA}"/>
              </a:ext>
            </a:extLst>
          </p:cNvPr>
          <p:cNvCxnSpPr>
            <a:cxnSpLocks/>
          </p:cNvCxnSpPr>
          <p:nvPr/>
        </p:nvCxnSpPr>
        <p:spPr>
          <a:xfrm>
            <a:off x="7116417" y="3028890"/>
            <a:ext cx="0" cy="4500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76EF1E1-B605-E023-7CBA-949D4CA278B5}"/>
              </a:ext>
            </a:extLst>
          </p:cNvPr>
          <p:cNvCxnSpPr>
            <a:cxnSpLocks/>
          </p:cNvCxnSpPr>
          <p:nvPr/>
        </p:nvCxnSpPr>
        <p:spPr>
          <a:xfrm>
            <a:off x="7912873" y="3028890"/>
            <a:ext cx="0" cy="4500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D75D6C1-6909-E38C-FFF8-1337B8AAD2D1}"/>
              </a:ext>
            </a:extLst>
          </p:cNvPr>
          <p:cNvCxnSpPr>
            <a:cxnSpLocks/>
          </p:cNvCxnSpPr>
          <p:nvPr/>
        </p:nvCxnSpPr>
        <p:spPr>
          <a:xfrm>
            <a:off x="8708003" y="3028890"/>
            <a:ext cx="0" cy="4516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078B6698-D1BD-B0C5-4D65-C46EC83183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4951" y="4138652"/>
            <a:ext cx="701101" cy="510584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FB4267B-0EE1-EED2-20B0-6617EB688ABD}"/>
              </a:ext>
            </a:extLst>
          </p:cNvPr>
          <p:cNvCxnSpPr>
            <a:stCxn id="21" idx="3"/>
          </p:cNvCxnSpPr>
          <p:nvPr/>
        </p:nvCxnSpPr>
        <p:spPr>
          <a:xfrm flipV="1">
            <a:off x="5312227" y="2317119"/>
            <a:ext cx="107704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CB717BC-44AB-26C0-3B26-FBBCF5C45741}"/>
              </a:ext>
            </a:extLst>
          </p:cNvPr>
          <p:cNvSpPr txBox="1"/>
          <p:nvPr/>
        </p:nvSpPr>
        <p:spPr>
          <a:xfrm>
            <a:off x="6504167" y="1693832"/>
            <a:ext cx="7474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EA3BF3-95D5-10C0-6A97-2CC0811E9D68}"/>
              </a:ext>
            </a:extLst>
          </p:cNvPr>
          <p:cNvSpPr txBox="1"/>
          <p:nvPr/>
        </p:nvSpPr>
        <p:spPr>
          <a:xfrm>
            <a:off x="6504167" y="4263299"/>
            <a:ext cx="7474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Store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778A299-27DA-1740-BE34-6D2453711C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2494" y="1834389"/>
            <a:ext cx="502964" cy="49534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00532B0-CF75-2400-C14C-F5DCC0BFB9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70435" y="3535289"/>
            <a:ext cx="495343" cy="472481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28345FF0-9470-BDCC-78D9-DF76EFA67E10}"/>
              </a:ext>
            </a:extLst>
          </p:cNvPr>
          <p:cNvSpPr txBox="1"/>
          <p:nvPr/>
        </p:nvSpPr>
        <p:spPr>
          <a:xfrm>
            <a:off x="9665395" y="1453235"/>
            <a:ext cx="11767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Visualization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4E069E-A966-9DC8-E6EA-B8F8C5B42B2C}"/>
              </a:ext>
            </a:extLst>
          </p:cNvPr>
          <p:cNvSpPr txBox="1"/>
          <p:nvPr/>
        </p:nvSpPr>
        <p:spPr>
          <a:xfrm>
            <a:off x="9665395" y="2424112"/>
            <a:ext cx="12949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PowerBI </a:t>
            </a:r>
            <a:r>
              <a:rPr kumimoji="0" lang="en-I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DashBoard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FD4CD2-BE42-3A78-5BE4-0C015BCFC020}"/>
              </a:ext>
            </a:extLst>
          </p:cNvPr>
          <p:cNvSpPr txBox="1"/>
          <p:nvPr/>
        </p:nvSpPr>
        <p:spPr>
          <a:xfrm>
            <a:off x="9813117" y="4187668"/>
            <a:ext cx="10846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API Management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ED7C4A26-963D-950E-EB3F-4BEF09F3EF2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04618" y="2712009"/>
            <a:ext cx="583498" cy="536187"/>
          </a:xfrm>
          <a:prstGeom prst="rect">
            <a:avLst/>
          </a:prstGeom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8524E95-EFF9-B087-AFE3-5E20E65A75D8}"/>
              </a:ext>
            </a:extLst>
          </p:cNvPr>
          <p:cNvCxnSpPr>
            <a:cxnSpLocks/>
            <a:stCxn id="4" idx="3"/>
            <a:endCxn id="45" idx="1"/>
          </p:cNvCxnSpPr>
          <p:nvPr/>
        </p:nvCxnSpPr>
        <p:spPr>
          <a:xfrm flipV="1">
            <a:off x="10897793" y="2980103"/>
            <a:ext cx="506825" cy="1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44468A7-DCD1-4CFD-15FC-9161C375E6FD}"/>
              </a:ext>
            </a:extLst>
          </p:cNvPr>
          <p:cNvSpPr txBox="1"/>
          <p:nvPr/>
        </p:nvSpPr>
        <p:spPr>
          <a:xfrm>
            <a:off x="11032305" y="3478987"/>
            <a:ext cx="10072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Business User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6E354317-C1FA-94A1-F9CF-27B35CB349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4953" y="3028890"/>
            <a:ext cx="701101" cy="510584"/>
          </a:xfrm>
          <a:prstGeom prst="rect">
            <a:avLst/>
          </a:prstGeom>
        </p:spPr>
      </p:pic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934121C-C320-83F7-8A2C-DA1074CDFB22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3873214" y="3284182"/>
            <a:ext cx="8217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0E861E3-3C74-FCF2-E0F8-65745E583A0D}"/>
              </a:ext>
            </a:extLst>
          </p:cNvPr>
          <p:cNvCxnSpPr>
            <a:cxnSpLocks/>
          </p:cNvCxnSpPr>
          <p:nvPr/>
        </p:nvCxnSpPr>
        <p:spPr>
          <a:xfrm>
            <a:off x="5396054" y="3306371"/>
            <a:ext cx="10045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332278D-C850-0F8B-C052-10ADF6D991EC}"/>
              </a:ext>
            </a:extLst>
          </p:cNvPr>
          <p:cNvSpPr txBox="1"/>
          <p:nvPr/>
        </p:nvSpPr>
        <p:spPr>
          <a:xfrm>
            <a:off x="4305081" y="3665629"/>
            <a:ext cx="16329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Azure DataBricks Delta Lake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0ED34089-B648-0863-7024-540E1ED13FA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85997" y="2323979"/>
            <a:ext cx="480102" cy="480102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AA381C17-D3E8-11FB-1DAF-D7716BAD558E}"/>
              </a:ext>
            </a:extLst>
          </p:cNvPr>
          <p:cNvSpPr txBox="1"/>
          <p:nvPr/>
        </p:nvSpPr>
        <p:spPr>
          <a:xfrm>
            <a:off x="7467808" y="2810055"/>
            <a:ext cx="540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ML Flow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DDA829B3-8782-1B9A-5729-19B0B4AB95BA}"/>
              </a:ext>
            </a:extLst>
          </p:cNvPr>
          <p:cNvCxnSpPr>
            <a:cxnSpLocks/>
            <a:stCxn id="29" idx="3"/>
            <a:endCxn id="4" idx="1"/>
          </p:cNvCxnSpPr>
          <p:nvPr/>
        </p:nvCxnSpPr>
        <p:spPr>
          <a:xfrm flipV="1">
            <a:off x="9074296" y="2981378"/>
            <a:ext cx="546782" cy="7300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itle 1">
            <a:extLst>
              <a:ext uri="{FF2B5EF4-FFF2-40B4-BE49-F238E27FC236}">
                <a16:creationId xmlns:a16="http://schemas.microsoft.com/office/drawing/2014/main" id="{31D162F6-DC7E-6B75-70E5-B8FC868BF65A}"/>
              </a:ext>
            </a:extLst>
          </p:cNvPr>
          <p:cNvSpPr txBox="1">
            <a:spLocks/>
          </p:cNvSpPr>
          <p:nvPr/>
        </p:nvSpPr>
        <p:spPr>
          <a:xfrm>
            <a:off x="262394" y="104949"/>
            <a:ext cx="11667211" cy="52515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all" spc="0" normalizeH="0" baseline="0" noProof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uLnTx/>
                <a:uFillTx/>
                <a:latin typeface="Ubuntu Medium"/>
                <a:ea typeface="+mj-ea"/>
                <a:cs typeface="+mj-cs"/>
              </a:rPr>
              <a:t>Data Validation and Reconciliation Testing Approach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60000"/>
                  <a:lumOff val="40000"/>
                </a:schemeClr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A2EE88EB-9869-A31E-8A95-8E506F65871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32361" y="1704373"/>
            <a:ext cx="502964" cy="495343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46ACDD92-EDAD-38A1-4A20-27762C877384}"/>
              </a:ext>
            </a:extLst>
          </p:cNvPr>
          <p:cNvSpPr txBox="1"/>
          <p:nvPr/>
        </p:nvSpPr>
        <p:spPr>
          <a:xfrm>
            <a:off x="10897793" y="1362772"/>
            <a:ext cx="11974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 for Analytics and Chat Engine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9" name="Graphic 58" descr="Artificial Intelligence outline">
            <a:extLst>
              <a:ext uri="{FF2B5EF4-FFF2-40B4-BE49-F238E27FC236}">
                <a16:creationId xmlns:a16="http://schemas.microsoft.com/office/drawing/2014/main" id="{228CE59A-E1F6-01C7-DE43-8958FB3A0A9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109564" y="1741567"/>
            <a:ext cx="462508" cy="357923"/>
          </a:xfrm>
          <a:prstGeom prst="rect">
            <a:avLst/>
          </a:prstGeom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86AC2EC-46F5-2134-06F0-E9632F521BDA}"/>
              </a:ext>
            </a:extLst>
          </p:cNvPr>
          <p:cNvCxnSpPr/>
          <p:nvPr/>
        </p:nvCxnSpPr>
        <p:spPr>
          <a:xfrm>
            <a:off x="11543817" y="2270182"/>
            <a:ext cx="0" cy="4001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852F430A-7984-96EF-2392-CC862AC39F6B}"/>
              </a:ext>
            </a:extLst>
          </p:cNvPr>
          <p:cNvSpPr/>
          <p:nvPr/>
        </p:nvSpPr>
        <p:spPr>
          <a:xfrm>
            <a:off x="5685392" y="2799675"/>
            <a:ext cx="183502" cy="180427"/>
          </a:xfrm>
          <a:prstGeom prst="ellipse">
            <a:avLst/>
          </a:prstGeom>
          <a:solidFill>
            <a:srgbClr val="0070A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D6C1515B-DE3B-6CF6-5D8B-6D1446E9822C}"/>
              </a:ext>
            </a:extLst>
          </p:cNvPr>
          <p:cNvSpPr/>
          <p:nvPr/>
        </p:nvSpPr>
        <p:spPr>
          <a:xfrm>
            <a:off x="6770576" y="3748255"/>
            <a:ext cx="183502" cy="180427"/>
          </a:xfrm>
          <a:prstGeom prst="ellipse">
            <a:avLst/>
          </a:prstGeom>
          <a:solidFill>
            <a:srgbClr val="0070A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CFABC3AB-614C-08D1-8B95-A37244D8652F}"/>
              </a:ext>
            </a:extLst>
          </p:cNvPr>
          <p:cNvSpPr/>
          <p:nvPr/>
        </p:nvSpPr>
        <p:spPr>
          <a:xfrm>
            <a:off x="7594792" y="3758277"/>
            <a:ext cx="183502" cy="180427"/>
          </a:xfrm>
          <a:prstGeom prst="ellipse">
            <a:avLst/>
          </a:prstGeom>
          <a:solidFill>
            <a:srgbClr val="0070A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dirty="0">
                <a:solidFill>
                  <a:srgbClr val="FFFFFF"/>
                </a:solidFill>
                <a:latin typeface="Ubuntu" panose="020B0504030602030204" pitchFamily="34" charset="0"/>
              </a:rPr>
              <a:t>3</a:t>
            </a:r>
            <a:endParaRPr kumimoji="0" lang="en-US" sz="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432DE0E-C9AF-F427-3E2C-68A3108F7E7E}"/>
              </a:ext>
            </a:extLst>
          </p:cNvPr>
          <p:cNvSpPr/>
          <p:nvPr/>
        </p:nvSpPr>
        <p:spPr>
          <a:xfrm>
            <a:off x="8374968" y="3744414"/>
            <a:ext cx="183502" cy="18042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 panose="020B0504030602030204" pitchFamily="34" charset="0"/>
              </a:rPr>
              <a:t>4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90A8D955-415B-937D-531B-4DEE4DC084FC}"/>
              </a:ext>
            </a:extLst>
          </p:cNvPr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91205" y="5184670"/>
            <a:ext cx="941954" cy="666614"/>
          </a:xfrm>
          <a:prstGeom prst="rect">
            <a:avLst/>
          </a:prstGeom>
        </p:spPr>
      </p:pic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B94F9921-BD07-DC9D-6247-F97ECD62EB7E}"/>
              </a:ext>
            </a:extLst>
          </p:cNvPr>
          <p:cNvCxnSpPr/>
          <p:nvPr/>
        </p:nvCxnSpPr>
        <p:spPr>
          <a:xfrm>
            <a:off x="5777143" y="3025499"/>
            <a:ext cx="0" cy="2040277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D44E99C2-1A4A-8EC0-713B-A2CB135FA94F}"/>
              </a:ext>
            </a:extLst>
          </p:cNvPr>
          <p:cNvCxnSpPr>
            <a:endCxn id="65" idx="3"/>
          </p:cNvCxnSpPr>
          <p:nvPr/>
        </p:nvCxnSpPr>
        <p:spPr>
          <a:xfrm rot="5400000">
            <a:off x="5780967" y="4390896"/>
            <a:ext cx="1579273" cy="674888"/>
          </a:xfrm>
          <a:prstGeom prst="bentConnector2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E88D106C-0F83-8AF0-16B2-6BA4D63E02DD}"/>
              </a:ext>
            </a:extLst>
          </p:cNvPr>
          <p:cNvCxnSpPr>
            <a:cxnSpLocks/>
          </p:cNvCxnSpPr>
          <p:nvPr/>
        </p:nvCxnSpPr>
        <p:spPr>
          <a:xfrm rot="5400000">
            <a:off x="6490123" y="4317258"/>
            <a:ext cx="1572926" cy="828517"/>
          </a:xfrm>
          <a:prstGeom prst="bentConnector3">
            <a:avLst>
              <a:gd name="adj1" fmla="val 99995"/>
            </a:avLst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CC9EDAA9-9483-A20B-4F91-106AD1502470}"/>
              </a:ext>
            </a:extLst>
          </p:cNvPr>
          <p:cNvCxnSpPr>
            <a:cxnSpLocks/>
          </p:cNvCxnSpPr>
          <p:nvPr/>
        </p:nvCxnSpPr>
        <p:spPr>
          <a:xfrm rot="5400000">
            <a:off x="7256055" y="4315967"/>
            <a:ext cx="1572926" cy="828517"/>
          </a:xfrm>
          <a:prstGeom prst="bentConnector3">
            <a:avLst>
              <a:gd name="adj1" fmla="val 99995"/>
            </a:avLst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B3DC6B33-7416-B3E6-CE03-52C19EE4C66F}"/>
              </a:ext>
            </a:extLst>
          </p:cNvPr>
          <p:cNvSpPr/>
          <p:nvPr/>
        </p:nvSpPr>
        <p:spPr>
          <a:xfrm>
            <a:off x="10169627" y="2904517"/>
            <a:ext cx="183502" cy="180427"/>
          </a:xfrm>
          <a:prstGeom prst="ellipse">
            <a:avLst/>
          </a:prstGeom>
          <a:solidFill>
            <a:srgbClr val="0070A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dirty="0">
                <a:solidFill>
                  <a:srgbClr val="FFFFFF"/>
                </a:solidFill>
                <a:latin typeface="Ubuntu" panose="020B0504030602030204" pitchFamily="34" charset="0"/>
              </a:rPr>
              <a:t>5</a:t>
            </a:r>
            <a:endParaRPr kumimoji="0" lang="en-US" sz="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F3B49037-6A04-CA1C-1678-AD5361CF4E6B}"/>
              </a:ext>
            </a:extLst>
          </p:cNvPr>
          <p:cNvCxnSpPr>
            <a:cxnSpLocks/>
          </p:cNvCxnSpPr>
          <p:nvPr/>
        </p:nvCxnSpPr>
        <p:spPr>
          <a:xfrm rot="5400000">
            <a:off x="8199991" y="3403141"/>
            <a:ext cx="2341468" cy="1788474"/>
          </a:xfrm>
          <a:prstGeom prst="bentConnector3">
            <a:avLst>
              <a:gd name="adj1" fmla="val 102521"/>
            </a:avLst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A7BD5AF0-ACEB-AF86-245C-AC7E1915CFCD}"/>
              </a:ext>
            </a:extLst>
          </p:cNvPr>
          <p:cNvSpPr txBox="1"/>
          <p:nvPr/>
        </p:nvSpPr>
        <p:spPr>
          <a:xfrm>
            <a:off x="374343" y="4227907"/>
            <a:ext cx="189070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cs typeface="Arial" panose="020B0604020202020204" pitchFamily="34" charset="0"/>
              </a:rPr>
              <a:t>Landing Zone validation</a:t>
            </a:r>
          </a:p>
          <a:p>
            <a:pPr marL="114300" indent="-1143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/>
            </a:pPr>
            <a:r>
              <a:rPr lang="en-IN" sz="1000" dirty="0">
                <a:cs typeface="Arial" panose="020B0604020202020204" pitchFamily="34" charset="0"/>
              </a:rPr>
              <a:t>File format</a:t>
            </a:r>
          </a:p>
          <a:p>
            <a:pPr marL="114300" indent="-1143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/>
            </a:pPr>
            <a:r>
              <a:rPr lang="en-IN" sz="1000" dirty="0">
                <a:cs typeface="Arial" panose="020B0604020202020204" pitchFamily="34" charset="0"/>
              </a:rPr>
              <a:t>File Naming convention</a:t>
            </a:r>
          </a:p>
          <a:p>
            <a:pPr marL="114300" indent="-1143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/>
            </a:pPr>
            <a:r>
              <a:rPr lang="en-IN" sz="1000" dirty="0">
                <a:cs typeface="Arial" panose="020B0604020202020204" pitchFamily="34" charset="0"/>
              </a:rPr>
              <a:t>File Type &amp; Its generated date</a:t>
            </a:r>
          </a:p>
          <a:p>
            <a:pPr marL="114300" indent="-1143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/>
            </a:pPr>
            <a:r>
              <a:rPr lang="en-IN" sz="1000" dirty="0">
                <a:cs typeface="Arial" panose="020B0604020202020204" pitchFamily="34" charset="0"/>
              </a:rPr>
              <a:t>Valid Data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91DE979-A1B7-01E7-BDFD-E0EB5F111148}"/>
              </a:ext>
            </a:extLst>
          </p:cNvPr>
          <p:cNvSpPr txBox="1"/>
          <p:nvPr/>
        </p:nvSpPr>
        <p:spPr>
          <a:xfrm>
            <a:off x="2592726" y="4231806"/>
            <a:ext cx="21683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>
                <a:cs typeface="Arial" panose="020B0604020202020204" pitchFamily="34" charset="0"/>
              </a:rPr>
              <a:t>Bronze and Silver Zone Validation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Arial" panose="020B0604020202020204" pitchFamily="34" charset="0"/>
            </a:endParaRPr>
          </a:p>
          <a:p>
            <a:pPr marL="114300" indent="-1143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/>
            </a:pPr>
            <a:r>
              <a:rPr lang="en-US" sz="1000" dirty="0">
                <a:cs typeface="Arial" panose="020B0604020202020204" pitchFamily="34" charset="0"/>
              </a:rPr>
              <a:t>Target to source reconciliation</a:t>
            </a:r>
          </a:p>
          <a:p>
            <a:pPr marL="114300" indent="-1143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/>
            </a:pPr>
            <a:r>
              <a:rPr lang="en-US" sz="1000" dirty="0">
                <a:cs typeface="Arial" panose="020B0604020202020204" pitchFamily="34" charset="0"/>
              </a:rPr>
              <a:t>Aggregation target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5384D81-E9CB-6FC1-7C6C-71AD901233F3}"/>
              </a:ext>
            </a:extLst>
          </p:cNvPr>
          <p:cNvSpPr txBox="1"/>
          <p:nvPr/>
        </p:nvSpPr>
        <p:spPr>
          <a:xfrm>
            <a:off x="406299" y="5175660"/>
            <a:ext cx="20903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>
                <a:cs typeface="Arial" panose="020B0604020202020204" pitchFamily="34" charset="0"/>
              </a:rPr>
              <a:t>Gold zone Validation</a:t>
            </a:r>
          </a:p>
          <a:p>
            <a:pPr marL="114300" indent="-1143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/>
            </a:pPr>
            <a:r>
              <a:rPr lang="en-US" sz="1000" dirty="0">
                <a:cs typeface="Arial" panose="020B0604020202020204" pitchFamily="34" charset="0"/>
              </a:rPr>
              <a:t>Business rule validation checks, </a:t>
            </a:r>
          </a:p>
          <a:p>
            <a:pPr marL="114300" indent="-1143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/>
            </a:pPr>
            <a:r>
              <a:rPr lang="en-US" sz="1000" dirty="0">
                <a:cs typeface="Arial" panose="020B0604020202020204" pitchFamily="34" charset="0"/>
              </a:rPr>
              <a:t>Target to source reconciliation</a:t>
            </a:r>
          </a:p>
          <a:p>
            <a:pPr marL="114300" indent="-1143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/>
            </a:pPr>
            <a:r>
              <a:rPr lang="en-US" sz="1000" dirty="0">
                <a:cs typeface="Arial" panose="020B0604020202020204" pitchFamily="34" charset="0"/>
              </a:rPr>
              <a:t>Aggregation of Target</a:t>
            </a:r>
            <a:endParaRPr lang="en-IN" sz="1000" dirty="0">
              <a:cs typeface="Arial" panose="020B0604020202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B7FAFD4-FDC8-3A49-C561-58BF097D46BC}"/>
              </a:ext>
            </a:extLst>
          </p:cNvPr>
          <p:cNvSpPr txBox="1"/>
          <p:nvPr/>
        </p:nvSpPr>
        <p:spPr>
          <a:xfrm>
            <a:off x="2612062" y="5159608"/>
            <a:ext cx="245447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>
                <a:cs typeface="Arial" panose="020B0604020202020204" pitchFamily="34" charset="0"/>
              </a:rPr>
              <a:t>BI Report/Dashboard:</a:t>
            </a:r>
          </a:p>
          <a:p>
            <a:pPr marL="114300" indent="-114300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pPr>
            <a:r>
              <a:rPr lang="en-US" sz="1000" dirty="0">
                <a:cs typeface="Arial" panose="020B0604020202020204" pitchFamily="34" charset="0"/>
              </a:rPr>
              <a:t>Connection Validation</a:t>
            </a:r>
          </a:p>
          <a:p>
            <a:pPr marL="114300" indent="-1143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/>
            </a:pPr>
            <a:r>
              <a:rPr lang="en-US" sz="1000" dirty="0">
                <a:cs typeface="Arial" panose="020B0604020202020204" pitchFamily="34" charset="0"/>
              </a:rPr>
              <a:t>Validation of report if it is accessing data as expected format </a:t>
            </a:r>
          </a:p>
          <a:p>
            <a:pPr marL="114300" indent="-11430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/>
            </a:pPr>
            <a:endParaRPr lang="en-IN" sz="1000" dirty="0">
              <a:cs typeface="Arial" panose="020B0604020202020204" pitchFamily="34" charset="0"/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ED96E1D2-6D5E-8429-0227-611CC69E756E}"/>
              </a:ext>
            </a:extLst>
          </p:cNvPr>
          <p:cNvSpPr/>
          <p:nvPr/>
        </p:nvSpPr>
        <p:spPr>
          <a:xfrm>
            <a:off x="202534" y="4276664"/>
            <a:ext cx="183502" cy="180427"/>
          </a:xfrm>
          <a:prstGeom prst="ellipse">
            <a:avLst/>
          </a:prstGeom>
          <a:solidFill>
            <a:srgbClr val="0070A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1BA6F3D-8BB4-96EE-2E6E-33A8675A4D4A}"/>
              </a:ext>
            </a:extLst>
          </p:cNvPr>
          <p:cNvSpPr/>
          <p:nvPr/>
        </p:nvSpPr>
        <p:spPr>
          <a:xfrm>
            <a:off x="2395087" y="4286581"/>
            <a:ext cx="183502" cy="180427"/>
          </a:xfrm>
          <a:prstGeom prst="ellipse">
            <a:avLst/>
          </a:prstGeom>
          <a:solidFill>
            <a:srgbClr val="0070A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251D2F1B-07F9-2AC6-3F22-B14F8422B704}"/>
              </a:ext>
            </a:extLst>
          </p:cNvPr>
          <p:cNvSpPr/>
          <p:nvPr/>
        </p:nvSpPr>
        <p:spPr>
          <a:xfrm>
            <a:off x="2409423" y="4504028"/>
            <a:ext cx="183502" cy="180427"/>
          </a:xfrm>
          <a:prstGeom prst="ellipse">
            <a:avLst/>
          </a:prstGeom>
          <a:solidFill>
            <a:srgbClr val="0070A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dirty="0">
                <a:solidFill>
                  <a:srgbClr val="FFFFFF"/>
                </a:solidFill>
                <a:latin typeface="Ubuntu" panose="020B0504030602030204" pitchFamily="34" charset="0"/>
              </a:rPr>
              <a:t>3</a:t>
            </a:r>
            <a:endParaRPr kumimoji="0" lang="en-US" sz="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CD44FA52-7DB3-8F17-AF30-4E88FCE07297}"/>
              </a:ext>
            </a:extLst>
          </p:cNvPr>
          <p:cNvSpPr/>
          <p:nvPr/>
        </p:nvSpPr>
        <p:spPr>
          <a:xfrm>
            <a:off x="224301" y="5225548"/>
            <a:ext cx="183502" cy="18042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 panose="020B0504030602030204" pitchFamily="34" charset="0"/>
              </a:rPr>
              <a:t>4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306DFB7A-6B0C-7834-4DD1-145AEB51A0C8}"/>
              </a:ext>
            </a:extLst>
          </p:cNvPr>
          <p:cNvSpPr/>
          <p:nvPr/>
        </p:nvSpPr>
        <p:spPr>
          <a:xfrm>
            <a:off x="2395589" y="5200690"/>
            <a:ext cx="183502" cy="180427"/>
          </a:xfrm>
          <a:prstGeom prst="ellipse">
            <a:avLst/>
          </a:prstGeom>
          <a:solidFill>
            <a:srgbClr val="0070A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dirty="0">
                <a:solidFill>
                  <a:srgbClr val="FFFFFF"/>
                </a:solidFill>
                <a:latin typeface="Ubuntu" panose="020B0504030602030204" pitchFamily="34" charset="0"/>
              </a:rPr>
              <a:t>5</a:t>
            </a:r>
            <a:endParaRPr kumimoji="0" lang="en-US" sz="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4566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20AAA68-0F26-0AE8-D3C8-5BB4461DE9B8}"/>
              </a:ext>
            </a:extLst>
          </p:cNvPr>
          <p:cNvSpPr/>
          <p:nvPr/>
        </p:nvSpPr>
        <p:spPr>
          <a:xfrm>
            <a:off x="1650124" y="756745"/>
            <a:ext cx="8933793" cy="49398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oup of colorful square speech bubbles with white letters">
            <a:extLst>
              <a:ext uri="{FF2B5EF4-FFF2-40B4-BE49-F238E27FC236}">
                <a16:creationId xmlns:a16="http://schemas.microsoft.com/office/drawing/2014/main" id="{1CC316FF-703D-96A7-BE9C-014BCA047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007" y="1540751"/>
            <a:ext cx="7914289" cy="377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456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sign with blue text">
            <a:extLst>
              <a:ext uri="{FF2B5EF4-FFF2-40B4-BE49-F238E27FC236}">
                <a16:creationId xmlns:a16="http://schemas.microsoft.com/office/drawing/2014/main" id="{DEA548A7-AF26-3E82-F04D-ABA268D3E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269" y="241739"/>
            <a:ext cx="11498317" cy="637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0044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1488</TotalTime>
  <Words>1281</Words>
  <Application>Microsoft Office PowerPoint</Application>
  <PresentationFormat>Widescreen</PresentationFormat>
  <Paragraphs>245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Arial</vt:lpstr>
      <vt:lpstr>Calibri</vt:lpstr>
      <vt:lpstr>Calibri Light</vt:lpstr>
      <vt:lpstr>Century Gothic</vt:lpstr>
      <vt:lpstr>Söhne</vt:lpstr>
      <vt:lpstr>Ubuntu</vt:lpstr>
      <vt:lpstr>Ubuntu Medium</vt:lpstr>
      <vt:lpstr>Verdana</vt:lpstr>
      <vt:lpstr>Wingdings</vt:lpstr>
      <vt:lpstr>Wingdings 3</vt:lpstr>
      <vt:lpstr>Ion</vt:lpstr>
      <vt:lpstr>Gilbert Motors</vt:lpstr>
      <vt:lpstr>PowerPoint Presentation</vt:lpstr>
      <vt:lpstr>PowerPoint Presentation</vt:lpstr>
      <vt:lpstr>About 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Amol Otari</cp:lastModifiedBy>
  <cp:revision>1</cp:revision>
  <dcterms:created xsi:type="dcterms:W3CDTF">2024-03-20T03:18:33Z</dcterms:created>
  <dcterms:modified xsi:type="dcterms:W3CDTF">2026-02-15T12:47:07Z</dcterms:modified>
</cp:coreProperties>
</file>